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72" r:id="rId23"/>
    <p:sldId id="269" r:id="rId20"/>
    <p:sldId id="273" r:id="rId24"/>
    <p:sldId id="270" r:id="rId21"/>
    <p:sldId id="274" r:id="rId25"/>
    <p:sldId id="271" r:id="rId22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29.xml"/><Relationship Id="rId19" Type="http://schemas.openxmlformats.org/officeDocument/2006/relationships/slide" Target="slides/slide30.xml"/><Relationship Id="rId20" Type="http://schemas.openxmlformats.org/officeDocument/2006/relationships/slide" Target="slides/slide13.xml"/><Relationship Id="rId21" Type="http://schemas.openxmlformats.org/officeDocument/2006/relationships/slide" Target="slides/slide15.xml"/><Relationship Id="rId22" Type="http://schemas.openxmlformats.org/officeDocument/2006/relationships/slide" Target="slides/slide17.xml"/><Relationship Id="rId23" Type="http://schemas.openxmlformats.org/officeDocument/2006/relationships/slide" Target="slides/slide12.xml"/><Relationship Id="rId24" Type="http://schemas.openxmlformats.org/officeDocument/2006/relationships/slide" Target="slides/slide14.xml"/><Relationship Id="rId25" Type="http://schemas.openxmlformats.org/officeDocument/2006/relationships/slide" Target="slides/slide16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526280"/>
            <a:ext cx="3840480" cy="54864"/>
          </a:xfrm>
          <a:prstGeom prst="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</a:rPr>
              <a:t>EFFICIENCY-OPTIMIZED GENERATIVE PARADIGMS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</a:rPr>
              <a:t>FOR LARGE-SCALE BIOMOLECULAR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FE0F0"/>
                </a:solidFill>
              </a:rPr>
              <a:t>BITS ZG628T Dissertation — Final Report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</a:rPr>
              <a:t>Akik Jana  (2024AB05287)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CFE0F0"/>
                </a:solidFill>
              </a:rPr>
              <a:t>Supervisor: Dr. Arnab Bandyopadhyay · Dr. Reddy's Laboratories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CFE0F0"/>
                </a:solidFill>
              </a:rPr>
              <a:t>M.Tech. (AI &amp; ML) · BITS Pilani ·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Problem &amp;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486400" cy="2468880"/>
          </a:xfrm>
          <a:prstGeom prst="roundRect">
            <a:avLst/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B03A2E"/>
                </a:solidFill>
              </a:rPr>
              <a:t>The Problem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Boltz-2 (AlphaFold-3 class) is SOTA for structure + binding affinity…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…but costs high GPU latency, memory, and money per prediction.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Full-model inference on a laptop is minutes-scale — unusable for interactive work.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Bench scientists are compute-poor and privacy-sensitive.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18872" cy="2468880"/>
          </a:xfrm>
          <a:prstGeom prst="round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86400" cy="2468880"/>
          </a:xfrm>
          <a:prstGeom prst="round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E7D32"/>
                </a:solidFill>
              </a:rPr>
              <a:t>The Objective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Practical structure/affinity prediction on local hardware (Apple Silicon).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Track A — distilled, quantized surrogate for fast on-device screening.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Track B — acceleration techniques integrated into Boltz-2 itself.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Privacy by design: data never leaves the device.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118872" cy="246888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4069080"/>
            <a:ext cx="11155680" cy="82296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Honest scope: the headline speedups in this report are for the distilled surrogate. Track A was then tested end-to-end: the ipTM reference does not rank binders, so the screening objective is not reachable through it (slides 14–18).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Boltz-Fast — Module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3611880" cy="32004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E6FB8"/>
                </a:solidFill>
              </a:rPr>
              <a:t>1 · Memory &amp; Parallelism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MLA receptor KV-cache (~87.5% smaller)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Low-rank Outer Product Mean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Fold-CP sequence parallelism (ring attn / 2D TMU)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118872" cy="320040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280160"/>
            <a:ext cx="3611880" cy="32004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E8F9A"/>
                </a:solidFill>
              </a:rPr>
              <a:t>2 · Accelerated Denoising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CFG distillation (single-pass student)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Speculative flow matching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Neural coordinate refiner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80160"/>
            <a:ext cx="118872" cy="320040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92440" y="1280160"/>
            <a:ext cx="3611880" cy="32004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77700"/>
                </a:solidFill>
              </a:rPr>
              <a:t>3 · Alignment &amp; Design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SimPO / g-DPO preference tuning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GRPO closed-loop co-design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Real Boltz reward formula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80160"/>
            <a:ext cx="118872" cy="3200400"/>
          </a:xfrm>
          <a:prstGeom prst="roundRect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4709160"/>
            <a:ext cx="11201400" cy="960120"/>
          </a:xfrm>
          <a:prstGeom prst="round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</a:rPr>
              <a:t>Deployment:  distilled surrogate exported to Apple CoreAI / Neural Engine — on-device, offline, private.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Methodology &amp;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03120"/>
            <a:ext cx="1984248" cy="155448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Cache target
(MLA KV)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79" y="2606040"/>
            <a:ext cx="3566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555555"/>
                </a:solidFill>
              </a:rPr>
              <a:t>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208" y="2103120"/>
            <a:ext cx="1984248" cy="155448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Low-rank pair
representation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73168" y="2606040"/>
            <a:ext cx="3566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555555"/>
                </a:solidFill>
              </a:rPr>
              <a:t>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1496" y="2103120"/>
            <a:ext cx="1984248" cy="155448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Accelerated
sampling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77456" y="2606040"/>
            <a:ext cx="3566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555555"/>
                </a:solidFill>
              </a:rPr>
              <a:t>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15784" y="2103120"/>
            <a:ext cx="1984248" cy="155448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Coordinate
refinement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81744" y="2606040"/>
            <a:ext cx="3566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555555"/>
                </a:solidFill>
              </a:rPr>
              <a:t>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20072" y="2103120"/>
            <a:ext cx="1984248" cy="1554480"/>
          </a:xfrm>
          <a:prstGeom prst="roundRect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GRPO
co-design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1480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Static receptor is cached once; many binder variants are screened cheaply.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Memory-efficient pair updates keep peak memory independent of MSA depth.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Draft/target speculative sampling + single-pass guidance cut denoising cost.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Closed loop: sequence policy → fold/score → GRPO update on the real Boltz reward.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C3E6"/>
                </a:solidFill>
              </a:rPr>
              <a:t>TRACK 1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</a:rPr>
              <a:t>Memory &amp; Parallelism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1556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MLA KV-cache: compress static receptor key/values to a latent space (~87.5% cache reduction).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Low-rank OPM:  U = Σᵣ X·Y·W,  r ≪ D_pair;  memory-efficient backward; peak memory independent of MSA depth.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Fold-CP: ring attention + 2D ring TMU, numerically exact vs dense (verified to ~1e-7 / 0.0).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11155680" cy="77724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Low-rank OPM is NOT weight-compatible with stock Boltz-2 → requires retraining.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11155680" cy="77724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Fold-CP is currently a single-device simulation — the speedup only materializes on real multi-GPU.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C3E6"/>
                </a:solidFill>
              </a:rPr>
              <a:t>TRACK 2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</a:rPr>
              <a:t>Accelerated Denoising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CFG distillation: single-pass student replaces double-pass guidance; wired into the live diffusion sampler (student_model hook).</a:t>
            </a:r>
          </a:p>
          <a:p>
            <a:pPr lvl="1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555555"/>
                </a:solidFill>
              </a:rPr>
              <a:t>–  Supervised distillation trainer + checkpoint loading; validated on a synthetic teacher.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Speculative flow matching: cheap draft proposes K steps; heavy target verifies in parallel; accept if ‖v_target−v_draft‖ &lt; ε.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Neural coordinate refiner: atom-level residual correction, zero-initialised to a safe identity; integrated with an SE(3)-invariant trainer.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434840"/>
            <a:ext cx="11155680" cy="86868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Status: integrated and trainable; trained on synthetic/component data. Distillation against the full Boltz-2 teacher is future work.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Edge Deployment — CoreAI / Neural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6766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Surrogate exported via Apple CoreAI: FP8 weight-only quant → CoreAI IR → .aimodel.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Verified: quantization, export, IR conversion, and runtime inference all succeed.</a:t>
            </a:r>
          </a:p>
          <a:p>
            <a:pPr lvl="1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555555"/>
                </a:solidFill>
              </a:rPr>
              <a:t>–  AOT .aimodelc compile needs the Metal coreai-build binary; the .aimodel runs directly via the runtime.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Receptor KV-caching → screen many variants at ~O(L_binder·L_target) each.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417320"/>
            <a:ext cx="4069080" cy="182880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PRIVACY BY DESIGN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</a:rPr>
              <a:t>On-device · offline · sequences never leave the machine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3474720"/>
            <a:ext cx="1920240" cy="155448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4–37 ms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surrogate latency
(Apple Silicon)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474720"/>
            <a:ext cx="1920240" cy="155448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0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cloud / API
calls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86400"/>
            <a:ext cx="11155680" cy="73152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Latencies above are the distilled surrogate on the ANE — not the full Boltz-2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Benchmarks (Honest Framing)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2697480" cy="173736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100–1500×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activation-memory
saving (low-rank OPM)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371600"/>
            <a:ext cx="2697480" cy="173736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~7×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fewer target evals
(speculative, ε=0.03)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71600"/>
            <a:ext cx="2697480" cy="173736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4–37 ms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surrogate latency
on Apple Silicon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371600"/>
            <a:ext cx="2560320" cy="173736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99 / 100%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component tests
passing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328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Low-rank memory savings are large and real, and scale with sequence length — but only for a model trained around the layer (see slide 12).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Speculative sampler reduces heavy target evaluations at low tolerance in component tests.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074920"/>
            <a:ext cx="11155680" cy="109728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A5200"/>
                </a:solidFill>
              </a:rPr>
              <a:t>⚠  Caveats:  (1) low-rank Relative MSE is 84–93% at these ranks — the layer must be TRAINED to recover full-rank behaviour, and cannot be projected onto pretrained weights.  (2) Latencies are the surrogate, not full Boltz-2.  (3) Settings are far below Boltz defaults: 10 sampling steps vs 200, MSA depth 32 vs 8192.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Verification &amp;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7315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99-test suite under pytest in CI, with a ruff lint gate.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100% local pass rate; deterministic regression test per component.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Equivalence tests where applicable (Fold-CP, OPM S-contraction match dense to ~1e-7 / 0.0).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–  Scope: component- and synthetic-level; full-model biological validation is covered by the PDB benchmark (slides 14–18).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417320"/>
            <a:ext cx="3611880" cy="33832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Two defects found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•  CI ran `unittest discover`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against a pytest suite 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it collected ZERO tests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and always reported green.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•  Audit found unfailable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assertions and RMSD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thresholds satisfied by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random noise.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417320"/>
            <a:ext cx="118872" cy="338328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Honest Status — Wired vs Trained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3657600" cy="3931920"/>
          </a:xfrm>
          <a:prstGeom prst="round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E7D32"/>
                </a:solidFill>
              </a:rPr>
              <a:t>✔  Live &amp; lossless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MPS compatibility (every run)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Fold-CP (numerically exact)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OPM memory-efficient backward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118872" cy="393192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657600" cy="3931920"/>
          </a:xfrm>
          <a:prstGeom prst="round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77700"/>
                </a:solidFill>
              </a:rPr>
              <a:t>◐  Integrated, not yet trained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CFG distillation student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Neural coordinate refiner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Affinity surrogate head (since distilled — negative, slide 14)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(trainers + checkpoints built)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118872" cy="3931920"/>
          </a:xfrm>
          <a:prstGeom prst="roundRect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92440" y="1371600"/>
            <a:ext cx="3611880" cy="39319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555555"/>
                </a:solidFill>
              </a:rPr>
              <a:t>○  Separate model, by design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Distilled surrogate + CoreAI path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Is NOT full Boltz-2 accelerated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It is a smaller, faster model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Surrogate screens → full model confirms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371600"/>
            <a:ext cx="118872" cy="3931920"/>
          </a:xfrm>
          <a:prstGeom prst="round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5486400"/>
            <a:ext cx="11201400" cy="77724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Key correction:  “fast surrogate” ≠ “fast Boltz-2.”  The speedups are a different, smaller model — not the full model made fast.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Key Insight — Where the Cost Really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1554480"/>
            <a:ext cx="9601200" cy="1371600"/>
          </a:xfrm>
          <a:prstGeom prst="round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Boltz-2 latency is compute-bound (200-step diffusion + triangle attention) — not weight-bound.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200400"/>
            <a:ext cx="9601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Quantization shrinks weights → helps “fit”, barely helps speed on Apple hardware.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Only collapsing the iteration count (few-step sampling) closes the minutes→seconds gap while keeping the real model.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Sampler distillation remains the route to minutes → seconds. Measurement has since put replicate-averaged folding on GPU ahead of it in priority (slide 18).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Results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2651760" cy="14173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99 / 100%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tests passing
under pytest in 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234440"/>
            <a:ext cx="2651760" cy="1417320"/>
          </a:xfrm>
          <a:prstGeom prst="round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87.5%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MLA KV-cache
reduction (measured)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34440"/>
            <a:ext cx="2651760" cy="1417320"/>
          </a:xfrm>
          <a:prstGeom prst="round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1502×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activation saving
(trained low-rank only)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1234440"/>
            <a:ext cx="2651760" cy="14173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8.6×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interface pLDDT vs ipTM
effect-to-noise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2651760" cy="14173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0.378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OPM held-out error
at rank 32 (at capacity)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834640"/>
            <a:ext cx="2651760" cy="1417320"/>
          </a:xfrm>
          <a:prstGeom prst="roundRect">
            <a:avLst/>
          </a:prstGeom>
          <a:solidFill>
            <a:srgbClr val="0E8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22 / 132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receptors / complexes
PTM-clean panel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834640"/>
            <a:ext cx="2651760" cy="14173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0.0628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ipTM run-to-run SD
(24 × 4 replicates)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2834640"/>
            <a:ext cx="2651760" cy="14173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1.73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cognate rank on DeCAF
(chance 2.50, p = 0.004)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80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Top row — engineering delivered.  Bottom row — measurement outcomes, which are what redirected the project: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the low-rank OPM is unreachable on pretrained weights, and ipTM does not rank binders reproducibly on the stock models — but interface pLDDT does (slides 19–20), and a few-step-distilled model does far better (slides 22–23).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Settings throughout are far below Boltz defaults — 10 sampling steps vs 200, 1 recycling vs 3, MSA depth 32 vs 8192. Slide 22 probes this directly: it attenuates the signal but does not wholly explain the negatives.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Measured — Low-Rank OPM on Pretrained Weights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98448"/>
            <a:ext cx="11155680" cy="960120"/>
          </a:xfrm>
          <a:prstGeom prst="round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The ~97% activation saving is not reachable on released checkpoints. The reason is capacity, not optimisation or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11155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Three experiments, each stricter — held-out error at rank 32: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CP projection of weights (random inputs) ....................  0.77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Fit on one target's activations (one protein) ...............  0.43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Corpus distillation, 33 folds (at capacity) .................  0.378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Train and held-out coincide (0.375 / 0.378) — the signature of a model at capacity, so more folding data cannot lower the floor.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257800"/>
            <a:ext cx="11155680" cy="86868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Scaling law 1.32·rank^−0.356 puts 10% error at rank ≈1414, against c_hidden² = 1024 — the low-rank form costs MORE activation memory than stock before it is accurate enough to substitute.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Low-Rank OPM — Rank vs Fidelity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14</a:t>
            </a:r>
          </a:p>
        </p:txBody>
      </p:sp>
      <p:pic>
        <p:nvPicPr>
          <p:cNvPr id="7" name="Picture 6" descr="fig_opm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207008"/>
            <a:ext cx="8778240" cy="47449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Fitted on held-out points from the 33-fold corpus. Reaching 10% error needs rank ≈1,414 (layer_0) and ≈9,750 (layer_1) — both beyond the width stock actually materialises.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Measured — Does ipTM Rank Binders?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98448"/>
            <a:ext cx="2697480" cy="1463040"/>
          </a:xfrm>
          <a:prstGeom prst="round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00" b="1">
                <a:solidFill>
                  <a:srgbClr val="FFFFFF"/>
                </a:solidFill>
              </a:rPr>
              <a:t>22 / 132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receptors / complexes
PTM-clean panel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298448"/>
            <a:ext cx="2697480" cy="1463040"/>
          </a:xfrm>
          <a:prstGeom prst="roundRect">
            <a:avLst/>
          </a:prstGeom>
          <a:solidFill>
            <a:srgbClr val="0E8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00" b="1">
                <a:solidFill>
                  <a:srgbClr val="FFFFFF"/>
                </a:solidFill>
              </a:rPr>
              <a:t>0.5015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cognate
mean ipTM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98448"/>
            <a:ext cx="2697480" cy="146304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00" b="1">
                <a:solidFill>
                  <a:srgbClr val="FFFFFF"/>
                </a:solidFill>
              </a:rPr>
              <a:t>0.4888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SCRAMBLED
mean ipTM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9720" y="1298448"/>
            <a:ext cx="2514600" cy="1463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00" b="1">
                <a:solidFill>
                  <a:srgbClr val="FFFFFF"/>
                </a:solidFill>
              </a:rPr>
              <a:t>0.4317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decoy
mean ipTM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71800"/>
            <a:ext cx="11155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A scramble keeps composition and length exactly and destroys only order — and order is what makes a binder a binder.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Scrambles outscore genuine binders of other receptors:  AUC 0.632, p = 0.0096  (110 complexes)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Cognate − own scramble:  +0.0128, 95% CI [−0.019, +0.044] — a bound, not a zero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Not a length artefact: the advantage survives length adjustment (intercept +0.075, p = 0.0001)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94960"/>
            <a:ext cx="11155680" cy="86868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ipTM responds largely to peptide COMPOSITION. Any sequence-order effect is at most 63% of the composition effect. A ridge regression on composition independently beat the distilled surrogate (+0.103 vs −0.034).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ipTM by Class — the Scramble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16</a:t>
            </a:r>
          </a:p>
        </p:txBody>
      </p:sp>
      <p:pic>
        <p:nvPicPr>
          <p:cNvPr id="7" name="Picture 6" descr="fig_iptm_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207008"/>
            <a:ext cx="8778240" cy="47449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Scrambles sit level with cognates and above decoys. Composition is shared with the scramble; order is not — so the separation from decoys is compositional.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Measured — A Single Fold Does Not Reproduce Itself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98448"/>
            <a:ext cx="11155680" cy="960120"/>
          </a:xfrm>
          <a:prstGeom prst="round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Boltz's --seed defaults to None. Every benchmark fold was a single unseeded draw from a distribution whose width had never been measured.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11155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24 complexes × 4 identical re-runs (96 folds), same settings: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Pooled within-complex ipTM SD  0.0628   (median range 0.127)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Cognate − decoy  +0.0698 = 1.11 × SD    comparable to noise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Per-receptor rank flips for 4 of 4 receptors — 6YOO spans #1 to #4 on identical input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Aggregate survives: mean rank 2.03, 95% range [1.77, 2.27], always below chance …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… but p &lt; 0.05 in only 49% of simulated re-runs (median p = 0.054)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440680"/>
            <a:ext cx="11155680" cy="86868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Stabilising per-receptor ranks needs ~9–16 replicate folds per complex (1,200–2,100 folds) — GPU-scale. Ranking binders on a single AlphaFold/Boltz run is common practice, and does not reproduce.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Rank Stability Across Identical Re-Runs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18</a:t>
            </a:r>
          </a:p>
        </p:txBody>
      </p:sp>
      <p:pic>
        <p:nvPicPr>
          <p:cNvPr id="7" name="Picture 6" descr="fig_rank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207008"/>
            <a:ext cx="8778240" cy="47449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Four receptors, four identical re-runs each. Every one changes rank; 6YOO moves from best to worst. Per-receptor rankings are not a property of the receptor.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Would the Headline Survive a Re-Run?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19</a:t>
            </a:r>
          </a:p>
        </p:txBody>
      </p:sp>
      <p:pic>
        <p:nvPicPr>
          <p:cNvPr id="7" name="Picture 6" descr="fig_pvalue_rep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207008"/>
            <a:ext cx="8778240" cy="47449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Parametric bootstrap over the measured noise, 4,000 replications. The effect direction is robust; the significance verdict is a coin flip.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Measured — What ipTM Discards Is Recoverable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11155680" cy="868680"/>
          </a:xfrm>
          <a:prstGeom prst="round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The negative was about ipTM, not about the structures. 132 folds were still on disk — re-scoring them cost no compute at 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11155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0B2B52"/>
                </a:solidFill>
              </a:rPr>
              <a:t>Six interface measures, same complexes, same tests. Only one beats a cognate's OWN scramble — the test that fixes composition and destroys only order:</a:t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0B2B52"/>
                </a:solidFill>
              </a:rPr>
              <a:t>•  ipTM  p = 0.42        •  pDockQ  p = 0.80        •  contacts / density / buried SASA  p = 0.05–0.45</a:t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0B2B52"/>
                </a:solidFill>
              </a:rPr>
              <a:t>•  INTERFACE pLDDT  p &lt; 0.0001    rank 1.91 of 4 (chance 2.50)</a:t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0B2B52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0B2B52"/>
                </a:solidFill>
              </a:rPr>
              <a:t>It also survives the reproducibility test that demoted ipTM: effect +3.30 against run-to-run SD 1.92 = 1.72× noise, where ipTM managed 0.20× — an 8.6× better ratio. Reproduces at p &lt; 0.05 in 100% of re-runs.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440680"/>
            <a:ext cx="11155680" cy="86868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pDockQ multiplies interface pLDDT by a contact term — contacts run the WRONG way here (scrambles make more: 38.5 vs 32.9), cancelling the signal. Slide 28 shows why: at 10 sampling steps the backbone is not connected, and on converged structures the contact ordering reverses. pDockQ2, which swaps the contact term for a PAE term, repairs it (p = 0.797 → 0.00026).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ipTM vs Interface pLDDT — the Scramble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21</a:t>
            </a:r>
          </a:p>
        </p:txBody>
      </p:sp>
      <p:pic>
        <p:nvPicPr>
          <p:cNvPr id="7" name="Picture 6" descr="fig_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207008"/>
            <a:ext cx="8778240" cy="462637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Same structures, two readouts. ipTM cannot separate a cognate from its own scramble; interface pLDDT can. The information is in the prediction — ipTM discards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Measured — Where That Signal Actually Comes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11155680" cy="777240"/>
          </a:xfrm>
          <a:prstGeom prst="round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Interface pLDDT responds to sequence order. Does it respond to BINDING, or just to the peptide being better folded?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11155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Splitting the metric by chain — no new folding: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peptide side  +5.25   but whole-chain peptide pLDDT  +4.87   →  mostly FOLDABILITY, not interface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RECEPTOR side  +2.38  (p = 6e-5)  →  the receptor's own residues are placed better when given the right peptide.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   A disordered peptide cannot do that. This term survives the objection.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Is the response tied to the binding site?  88 folds, alanine scan: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interface→Ala 36.77  vs  surface→Ala 38.62   diff −1.84, p = 0.244 — right direction, not significant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80% power would need 123 receptors; every arm drops 7–12 pLDDT, so both may sit near a floor.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440680"/>
            <a:ext cx="11155680" cy="86868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This QUALIFIES slide 19. Half the pooled signal is peptide foldability, which slide 19 did not separate. What stands: the receptor responds to which peptide it is given. Not established: that the response is localised to the binding site.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Measured — Few-Step Distillation Changes the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70432"/>
            <a:ext cx="11155680" cy="777240"/>
          </a:xfrm>
          <a:prstGeom prst="round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Everything so far was folded at 10 steps on models built for 200. What happens on a model TRAINED for 10?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11155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0B2B52"/>
                </a:solidFill>
              </a:rPr>
              <a:t>Same 132 pairs. Boltz-1 added as a de-confounding arm — DeCAF changes the base model AND the sampling regime, and only Boltz-1 shares its base.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0B2B52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0B2B52"/>
                </a:solidFill>
              </a:rPr>
              <a:t>cognate − own scramble        Boltz-2            Boltz-1            DeCAF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0B2B52"/>
                </a:solidFill>
              </a:rPr>
              <a:t>  ipTM                        +0.013 (p=0.42)    +0.039 (p=.0043)   +0.201 (p=2e-5)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0B2B52"/>
                </a:solidFill>
              </a:rPr>
              <a:t>  interface pLDDT             +3.30  (p&lt;1e-5)    +1.54  (p=0.067)   +9.54  (p&lt;1e-5)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0B2B52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0B2B52"/>
                </a:solidFill>
              </a:rPr>
              <a:t>rank vs decoys (chance 2.50)  2.00 / 1.91        1.86 / 1.91        1.77 / 1.73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0B2B52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0B2B52"/>
                </a:solidFill>
              </a:rPr>
              <a:t>DeCAF vs Boltz-1 — same base, device, step count — gives 5–6× larger effects. On DeCAF, interface pLDDT and receptor side CLEAR Bonferroni: receptor specificity is established for the first time in this 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486400"/>
            <a:ext cx="11155680" cy="86868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Two claims weaken. Stock models are NOT signal-free — Boltz-1 separates on ipTM (p=0.0043). An earlier reading that the interface-pLDDT result is MODEL-DEPENDENT is WITHDRAWN: Boltz-1's p=0.067 was two non-binders diluting a 22-receptor panel, and goes to p=0.013 once they are removed. 'Settings explain the negatives' is too simple.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Three Arms — What Few-Step Training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24</a:t>
            </a:r>
          </a:p>
        </p:txBody>
      </p:sp>
      <p:pic>
        <p:nvPicPr>
          <p:cNvPr id="7" name="Picture 6" descr="fig_few_step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207008"/>
            <a:ext cx="8778240" cy="462637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Effects normalised by the run-to-run noise of Section 7.5 so metrics on different scales compare. DeCAF vs Boltz-1 isolates few-step training; the Boltz-2 arm ran on CPU, the others on MPS.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Measured — Held-Out Complexes Cost Half the Effect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22 receptors released after Boltz-1's 2021-09-30 training cutoff, screened identically,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decoys drawn from within the held-out set. Folded three times on DeCAF.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3520440" cy="1463040"/>
          </a:xfrm>
          <a:prstGeom prst="round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00" b="1">
                <a:solidFill>
                  <a:srgbClr val="FFFFFF"/>
                </a:solidFill>
              </a:rPr>
              <a:t>+12.03 → +4.99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interface pLDDT, in-training → held 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011680"/>
            <a:ext cx="3520440" cy="1463040"/>
          </a:xfrm>
          <a:prstGeom prst="roundRect">
            <a:avLst/>
          </a:prstGeom>
          <a:solidFill>
            <a:srgbClr val="0E8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00" b="1">
                <a:solidFill>
                  <a:srgbClr val="FFFFFF"/>
                </a:solidFill>
              </a:rPr>
              <a:t>+0.265 → +0.137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ipTM, in-training → held 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2011680"/>
            <a:ext cx="3566160" cy="146304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00" b="1">
                <a:solidFill>
                  <a:srgbClr val="FFFFFF"/>
                </a:solidFill>
              </a:rPr>
              <a:t>≈ 2×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how optimistic an unsplit benchmark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49039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Both readouts retain roughly half — interface pLDDT 41%, ipTM 52%.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Neither can be shown to degrade more than the other on this panel.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617720"/>
            <a:ext cx="11155680" cy="960120"/>
          </a:xfrm>
          <a:prstGeom prst="round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A screening figure quoted without saying whether the complexes were in training is about twice as good as it should be.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669280"/>
            <a:ext cx="11155680" cy="86868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Not homology-decontaminated, and cannot be: 0 of 22 held-out receptors clear 30% identity to the pre-cutoff PDB (median 1.000), and neither does a random sample of the whole candidate pool. What the split isolates is complex-level novelty with receptor familiarity held constant.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Three Draws — and Two Retracted Claims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Folds are unseeded, so re-running the identical panel gives an independent draw.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83080"/>
          <a:ext cx="11155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554480"/>
                <a:gridCol w="1554480"/>
                <a:gridCol w="1554480"/>
                <a:gridCol w="246888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2B52"/>
                          </a:solidFill>
                        </a:rPr>
                        <a:t>Cognate rank among its own decoys (chance 2.50)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2B52"/>
                          </a:solidFill>
                        </a:rPr>
                        <a:t>draw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2B52"/>
                          </a:solidFill>
                        </a:rPr>
                        <a:t>draw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2B52"/>
                          </a:solidFill>
                        </a:rPr>
                        <a:t>draw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2B52"/>
                          </a:solidFill>
                        </a:rPr>
                        <a:t>mean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2B52"/>
                          </a:solidFill>
                        </a:rPr>
                        <a:t>ipTM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2B52"/>
                          </a:solidFill>
                        </a:rPr>
                        <a:t>1.64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2B52"/>
                          </a:solidFill>
                        </a:rPr>
                        <a:t>1.50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2B52"/>
                          </a:solidFill>
                        </a:rPr>
                        <a:t>1.86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2B52"/>
                          </a:solidFill>
                        </a:rPr>
                        <a:t>1.73  (p = 0.007)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2B52"/>
                          </a:solidFill>
                        </a:rPr>
                        <a:t>interface pLDDT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2B52"/>
                          </a:solidFill>
                        </a:rPr>
                        <a:t>2.09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2B52"/>
                          </a:solidFill>
                        </a:rPr>
                        <a:t>2.05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2B52"/>
                          </a:solidFill>
                        </a:rPr>
                        <a:t>1.73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2B52"/>
                          </a:solidFill>
                        </a:rPr>
                        <a:t>1.91  (p = 0.020)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42900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Draw 1 alone said interface pLDDT collapses held out.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Draws 1 and 2 said ipTM specifically survives and interface pLDDT specifically fails.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Draw 3 reverses the ordering. Averaged, the two differ by less than one draw's spread.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846320"/>
            <a:ext cx="11155680" cy="9601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Both claims withdrawn. Section 7.5's own finding, turned on this project's headline — twice.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897880"/>
            <a:ext cx="11155680" cy="86868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The methodological lesson is sharper than the scientific one: a single unseeded fold is not a measurement, and on this evidence neither are two.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Measured — At Ten Steps the Coordinates Are Not a Protein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A peptide bond fixes consecutive alpha-carbons at 3.80 Å. Measuring every consecutive CA–CA distance: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5440680" cy="146304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00" b="1">
                <a:solidFill>
                  <a:srgbClr val="FFFFFF"/>
                </a:solidFill>
              </a:rPr>
              <a:t>14.0%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Boltz-2 at 10 steps — physically plausible backbone bonds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74519"/>
            <a:ext cx="5440680" cy="1463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00" b="1">
                <a:solidFill>
                  <a:srgbClr val="FFFFFF"/>
                </a:solidFill>
              </a:rPr>
              <a:t>96.2%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DeCAF, distilled FOR 10 steps — same measurement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1188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Boltz-2: median CA–CA 5.48 Å, 56% of bonds beyond 5 Å, 99% of chains majority-broken.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DeCAF:   median 3.74 Å, zero broken bonds.  Residue numbering is sequential —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         this is not a file-ordering artefact. The backbone is genuinely not connected.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983480"/>
            <a:ext cx="11155680" cy="9601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Section 7.8 measured that distillation buys a 5–6× larger effect. This is what it bought: geometry.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One Cause Behind Four Separate Failures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Geometry-dependent readouts need a converged sampler. Four results now share one cause: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B2B52"/>
                </a:solidFill>
              </a:rPr>
              <a:t>pDockQ's contact term ran backwards</a:t>
            </a:r>
          </a:p>
          <a:p>
            <a:r>
              <a:rPr sz="1250">
                <a:solidFill>
                  <a:srgbClr val="1E6FB8"/>
                </a:solidFill>
              </a:rPr>
              <a:t>scrambles made more contacts than cognates — reverses on converged structures (cognate 61.4, scramble 51.8)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072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B2B52"/>
                </a:solidFill>
              </a:rPr>
              <a:t>pDockQ2 repairs it</a:t>
            </a:r>
          </a:p>
          <a:p>
            <a:r>
              <a:rPr sz="1250">
                <a:solidFill>
                  <a:srgbClr val="1E6FB8"/>
                </a:solidFill>
              </a:rPr>
              <a:t>swapping the contact term for a PAE term: scramble control p = 0.797 → 0.00026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31336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B2B52"/>
                </a:solidFill>
              </a:rPr>
              <a:t>Minimum PAE failed here but is published as best-in-class</a:t>
            </a:r>
          </a:p>
          <a:p>
            <a:r>
              <a:rPr sz="1250">
                <a:solidFill>
                  <a:srgbClr val="1E6FB8"/>
                </a:solidFill>
              </a:rPr>
              <a:t>fails on Boltz-2 (p = 0.611), among the best on DeCAF (rank 1.55) — PAE predicts geometry, and was published at full sampling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55464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B2B52"/>
                </a:solidFill>
              </a:rPr>
              <a:t>Physics rescoring returned femtomolar affinities</a:t>
            </a:r>
          </a:p>
          <a:p>
            <a:r>
              <a:rPr sz="1250">
                <a:solidFill>
                  <a:srgbClr val="1E6FB8"/>
                </a:solidFill>
              </a:rPr>
              <a:t>PRODIGY on Boltz-2 structures: garbage in, not method failure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989320"/>
            <a:ext cx="11155680" cy="86868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Physics rescoring on converged structures still does not help: PRODIGY ΔG reaches AUC 0.563 against 0.856 for interface pLDDT, and combining them costs 0.033. A sequence model trained on 96M interactions (MINT) reaches 0.614 zero-shot — structure wins here, contrary to recent affinity-regression results.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Future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29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325880"/>
            <a:ext cx="566928" cy="566928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307592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B2B52"/>
                </a:solidFill>
              </a:rPr>
              <a:t>DONE — profiled; and measured what the optimisations actually deliver on pretrained weights (slides 11–18).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04288"/>
            <a:ext cx="566928" cy="566928"/>
          </a:xfrm>
          <a:prstGeom prst="ellipse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28600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B2B52"/>
                </a:solidFill>
              </a:rPr>
              <a:t>Few-step diffusion-sampler distillation (consistency/progressive) — keep the full trunk; target minutes → seconds locally.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282696"/>
            <a:ext cx="566928" cy="56692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264408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B2B52"/>
                </a:solidFill>
              </a:rPr>
              <a:t>DONE, NEGATIVE — the surrogate was distilled and evaluated: ipTM does not rank binders, so no surrogate distilled from it can either.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261104"/>
            <a:ext cx="566928" cy="566928"/>
          </a:xfrm>
          <a:prstGeom prst="ellipse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242816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B2B52"/>
                </a:solidFill>
              </a:rPr>
              <a:t>Use open Boltz-2 weights only — Boltz-2.1 is closed / API-only.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239512"/>
            <a:ext cx="566928" cy="566928"/>
          </a:xfrm>
          <a:prstGeom prst="ellipse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5221224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B2B52"/>
                </a:solidFill>
              </a:rPr>
              <a:t>Production GPU scaling — now a PREREQUISITE, not a throughput nicety: replicate-averaged folds (9–16 per complex) are needed before any per-receptor claim holds.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B2B52"/>
                </a:solidFill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1556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Implemented and integrated memory, sampling and parallelism optimisations into the Boltz pipeline; device-agnostic on Apple Silicon.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Moved from component microbenchmarks to end-to-end measurement against pretrained checkpoints and experimentally determined structures.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Two questions closed with negative answers, both with mechanisms: the low-rank OPM is unreachable on released weights, and ipTM tracks peptide composition rather than binding.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A third finding generalises beyond this project: a single unseeded fold does not reproduce its own ranking.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Next: GPU-scale replicate folding, then few-step sampler distillation.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92040"/>
            <a:ext cx="11155680" cy="1051560"/>
          </a:xfrm>
          <a:prstGeom prst="round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</a:rPr>
              <a:t>Thank you  ·  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