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3.xml"/><Relationship Id="rId19" Type="http://schemas.openxmlformats.org/officeDocument/2006/relationships/slide" Target="slides/slide34.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scope: the headline speedups in this report are for the distilled surrogate. Track A was then tested end-to-end: the ipTM reference does not rank binders, so the screening objective is not reachable through it (slides 14–18).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Settings throughout are far below Boltz defaults — 10 sampling steps vs 200, 1 recycling vs 3, MSA 32 vs full. Slides 31–32 resolve this and the confound was real: at the intended settings the effect is 3–7× larger and the true binder ranks first 17 times in 22. Everything on slides 15–30 is a lower bound.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law 1.32·rank^−0.356 puts 10% error at rank ≈1414, against c_hidden² = 1024 — the low-rank form costs MORE activation memory than stock before it is accurate enough to substitute.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ipTM responds largely to peptide COMPOSITION. Any sequence-order effect is at most 63% of the composition effect. A ridge regression on composition independently beat the distilled surrogate (+0.103 vs −0.034).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Stabilising per-receptor ranks needs ~9–16 replicate folds per complex (1,200–2,100 folds) — GPU-scale. Ranking binders on a single AlphaFold/Boltz run is common practice, and does not reproduce.</a:t>
            </a:r>
          </a:p>
          <a:p/>
          <a:p>
            <a:r>
              <a:t>The 95% range on the aggregate mean rank is [1.77, 2.27], always below chance; the median p across simulated re-runs is 0.054.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a:p/>
          <a:p>
            <a:r>
              <a:t>It also survives the reproducibility test that demoted ipTM, reproducing at p &lt; 0.05 in 100% of simulated re-runs.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QUALIFIES slide 19. Half the pooled signal is peptide foldability, which slide 19 did not separate. What stands: the receptor responds to which peptide it is given. Not established: that the response is localised to the binding site.</a:t>
            </a:r>
          </a:p>
          <a:p/>
          <a:p>
            <a:r>
              <a:t>The receptor's own residues are placed better when given the right peptide, and a disordered peptide cannot do that, which is why this term survives the foldability objection. Every alanine arm drops 7-12 pLDDT, so both may sit near a 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Effects normalised by the run-to-run noise of Section 7.5 so metrics on different scales compare. DeCAF vs Boltz-1 isolates few-step training; the Boltz-2 arm ran on CPU, the others on MPS.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homology-decontaminated, and cannot be: 0 of 22 held-out receptors clear 30% identity to the pre-cutoff PDB (median 1.000), and neither does a random sample of the whole candidate pool. What the split isolates is complex-level novelty with receptor familiarity held constant.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methodological lesson is sharper than the scientific one: a single unseeded fold is not a measurement, and on this evidence neither are two.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CPU-era note in the runner said a full alignment was intractable — a 40-complex run did not finish one batch in an hour. On MPS, full depth is no slower than depth 32. The reduced regime outlived the constraint that justified it, and every effect size in slides 15–30 is a lower bound.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AUC at full settings</a:t>
            </a:r>
          </a:p>
          <a:p>
            <a:pPr algn="ctr"/>
            <a:r>
              <a:rPr sz="1050">
                <a:solidFill>
                  <a:srgbClr val="FFFFFF"/>
                </a:solidFill>
              </a:rPr>
              <a:t>(0.640 at 10 steps)</a:t>
            </a:r>
          </a:p>
        </p:txBody>
      </p:sp>
      <p:sp>
        <p:nvSpPr>
          <p:cNvPr id="11" name="Rounded Rectangle 10"/>
          <p:cNvSpPr/>
          <p:nvPr/>
        </p:nvSpPr>
        <p:spPr>
          <a:xfrm>
            <a:off x="54864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reciprocal</a:t>
            </a:r>
          </a:p>
          <a:p>
            <a:pPr algn="ctr"/>
            <a:r>
              <a:rPr sz="1050">
                <a:solidFill>
                  <a:srgbClr val="FFFFFF"/>
                </a:solidFill>
              </a:rPr>
              <a:t>best match (12 of 12)</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44 / 2</a:t>
            </a:r>
          </a:p>
          <a:p>
            <a:pPr algn="ctr"/>
            <a:r>
              <a:rPr sz="1050">
                <a:solidFill>
                  <a:srgbClr val="FFFFFF"/>
                </a:solidFill>
              </a:rPr>
              <a:t>receptors / panels</a:t>
            </a:r>
          </a:p>
          <a:p>
            <a:pPr algn="ctr"/>
            <a:r>
              <a:rPr sz="1050">
                <a:solidFill>
                  <a:srgbClr val="FFFFFF"/>
                </a:solidFill>
              </a:rPr>
              <a:t>in-training + held-out</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a:t>
            </a:r>
          </a:p>
          <a:p>
            <a:pPr algn="ctr"/>
            <a:r>
              <a:rPr sz="1050">
                <a:solidFill>
                  <a:srgbClr val="FFFFFF"/>
                </a:solidFill>
              </a:rPr>
              <a:t>at the model's own settings</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150" b="0">
                <a:solidFill>
                  <a:srgbClr val="0B2B52"/>
                </a:solidFill>
              </a:rPr>
              <a:t>Top row — engineering delivered.  Bottom row — measurement. The negatives in slides 15–30 were all taken at a tenth of the model's sampling budget: run at its intended settings the same readout ranks the true binder first 17 times in 22, at AUC 0.943 (slides 31–32). The negatives are properties of the regime, not the method.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400" b="0">
                <a:solidFill>
                  <a:srgbClr val="0B2B52"/>
                </a:solidFill>
              </a:rPr>
              <a:t>24 complexes × 4 identical re-runs (96 folds), same settings:</a:t>
            </a:r>
          </a:p>
          <a:p>
            <a:pPr>
              <a:spcAft>
                <a:spcPts val="600"/>
              </a:spcAft>
            </a:pPr>
            <a:r>
              <a:rPr sz="1400" b="0">
                <a:solidFill>
                  <a:srgbClr val="0B2B52"/>
                </a:solidFill>
              </a:rPr>
              <a:t>•  within-complex ipTM SD  0.0628   (median range 0.127)</a:t>
            </a:r>
          </a:p>
          <a:p>
            <a:pPr>
              <a:spcAft>
                <a:spcPts val="600"/>
              </a:spcAft>
            </a:pPr>
            <a:r>
              <a:rPr sz="1400" b="0">
                <a:solidFill>
                  <a:srgbClr val="0B2B52"/>
                </a:solidFill>
              </a:rPr>
              <a:t>•  cognate − decoy  +0.0698  =  1.11 × SD   —  comparable to noise</a:t>
            </a:r>
          </a:p>
          <a:p>
            <a:pPr>
              <a:spcAft>
                <a:spcPts val="600"/>
              </a:spcAft>
            </a:pPr>
            <a:r>
              <a:rPr sz="1400" b="0">
                <a:solidFill>
                  <a:srgbClr val="0B2B52"/>
                </a:solidFill>
              </a:rPr>
              <a:t>•  per-receptor rank flips for 4 of 4;  6YOO spans #1 to #4 on identical input</a:t>
            </a:r>
          </a:p>
          <a:p>
            <a:pPr>
              <a:spcAft>
                <a:spcPts val="600"/>
              </a:spcAft>
            </a:pPr>
            <a:r>
              <a:rPr sz="1400" b="0">
                <a:solidFill>
                  <a:srgbClr val="0B2B52"/>
                </a:solidFill>
              </a:rPr>
              <a:t>•  aggregate survives (mean rank 2.03) but p &lt; 0.05 in only 49% of re-runs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00" b="0">
                <a:solidFill>
                  <a:srgbClr val="0B2B52"/>
                </a:solidFill>
              </a:rPr>
              <a:t>Six interface measures, same complexes, same tests.</a:t>
            </a:r>
          </a:p>
          <a:p>
            <a:pPr>
              <a:spcAft>
                <a:spcPts val="600"/>
              </a:spcAft>
            </a:pPr>
            <a:r>
              <a:rPr sz="1400" b="0">
                <a:solidFill>
                  <a:srgbClr val="0B2B52"/>
                </a:solidFill>
              </a:rPr>
              <a:t>Only one beats a cognate's OWN scramble — composition fixed, order destroyed:</a:t>
            </a:r>
          </a:p>
          <a:p>
            <a:pPr>
              <a:spcAft>
                <a:spcPts val="600"/>
              </a:spcAft>
            </a:pPr>
            <a:r>
              <a:rPr sz="1400" b="0">
                <a:solidFill>
                  <a:srgbClr val="0B2B52"/>
                </a:solidFill>
              </a:rPr>
              <a:t>•  ipTM p = 0.42   •  pDockQ p = 0.80   •  contacts / density / SASA p = 0.05–0.45</a:t>
            </a:r>
          </a:p>
          <a:p>
            <a:pPr>
              <a:spcAft>
                <a:spcPts val="600"/>
              </a:spcAft>
            </a:pPr>
            <a:r>
              <a:rPr sz="1400" b="0">
                <a:solidFill>
                  <a:srgbClr val="0B2B52"/>
                </a:solidFill>
              </a:rPr>
              <a:t>•  INTERFACE pLDDT  p &lt; 0.0001,  rank 1.91 of 4  (chance 2.50)</a:t>
            </a:r>
          </a:p>
          <a:p>
            <a:pPr>
              <a:spcAft>
                <a:spcPts val="600"/>
              </a:spcAft>
            </a:pPr>
            <a:r>
              <a:rPr sz="1400" b="0">
                <a:solidFill>
                  <a:srgbClr val="0B2B52"/>
                </a:solidFill>
              </a:rPr>
              <a:t/>
            </a:r>
          </a:p>
          <a:p>
            <a:pPr>
              <a:spcAft>
                <a:spcPts val="600"/>
              </a:spcAft>
            </a:pPr>
            <a:r>
              <a:rPr sz="1400" b="0">
                <a:solidFill>
                  <a:srgbClr val="0B2B52"/>
                </a:solidFill>
              </a:rPr>
              <a:t>Effect-to-noise: +3.30 / SD 1.92 = 1.72×, against ipTM's 0.20× — 8.6× better.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 by chain — no new folding:</a:t>
            </a:r>
          </a:p>
          <a:p>
            <a:pPr>
              <a:spcAft>
                <a:spcPts val="600"/>
              </a:spcAft>
            </a:pPr>
            <a:r>
              <a:rPr sz="1400" b="0">
                <a:solidFill>
                  <a:srgbClr val="0B2B52"/>
                </a:solidFill>
              </a:rPr>
              <a:t>•  peptide side +5.25  vs  whole-chain peptide +4.87  →  mostly FOLDABILITY</a:t>
            </a:r>
          </a:p>
          <a:p>
            <a:pPr>
              <a:spcAft>
                <a:spcPts val="600"/>
              </a:spcAft>
            </a:pPr>
            <a:r>
              <a:rPr sz="1400" b="0">
                <a:solidFill>
                  <a:srgbClr val="0B2B52"/>
                </a:solidFill>
              </a:rPr>
              <a:t>•  RECEPTOR side +2.38 (p = 6e-5)  →  survives the objection</a:t>
            </a:r>
          </a:p>
          <a:p>
            <a:pPr>
              <a:spcAft>
                <a:spcPts val="600"/>
              </a:spcAft>
            </a:pPr>
            <a:r>
              <a:rPr sz="1400" b="0">
                <a:solidFill>
                  <a:srgbClr val="0B2B52"/>
                </a:solidFill>
              </a:rPr>
              <a:t/>
            </a:r>
          </a:p>
          <a:p>
            <a:pPr>
              <a:spcAft>
                <a:spcPts val="600"/>
              </a:spcAft>
            </a:pPr>
            <a:r>
              <a:rPr sz="1400" b="0">
                <a:solidFill>
                  <a:srgbClr val="0B2B52"/>
                </a:solidFill>
              </a:rPr>
              <a:t>Tied to the binding site?  Alanine scan, 88 folds:</a:t>
            </a:r>
          </a:p>
          <a:p>
            <a:pPr>
              <a:spcAft>
                <a:spcPts val="600"/>
              </a:spcAft>
            </a:pPr>
            <a:r>
              <a:rPr sz="1400" b="0">
                <a:solidFill>
                  <a:srgbClr val="0B2B52"/>
                </a:solidFill>
              </a:rPr>
              <a:t>•  interface→Ala 36.77  vs  surface→Ala 38.62   diff −1.84, p = 0.244</a:t>
            </a:r>
          </a:p>
          <a:p>
            <a:pPr>
              <a:spcAft>
                <a:spcPts val="600"/>
              </a:spcAft>
            </a:pPr>
            <a:r>
              <a:rPr sz="1400" b="0">
                <a:solidFill>
                  <a:srgbClr val="0B2B52"/>
                </a:solidFill>
              </a:rPr>
              <a:t>•  right direction, not significant — 80% power needs 123 receptors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88720"/>
            <a:ext cx="11155680" cy="1005840"/>
          </a:xfrm>
          <a:prstGeom prst="rect">
            <a:avLst/>
          </a:prstGeom>
          <a:noFill/>
        </p:spPr>
        <p:txBody>
          <a:bodyPr wrap="square">
            <a:spAutoFit/>
          </a:bodyPr>
          <a:lstStyle/>
          <a:p>
            <a:pPr>
              <a:spcAft>
                <a:spcPts val="600"/>
              </a:spcAft>
            </a:pPr>
            <a:r>
              <a:rPr sz="1500" b="0">
                <a:solidFill>
                  <a:srgbClr val="0B2B52"/>
                </a:solidFill>
              </a:rPr>
              <a:t>22 receptors released after Boltz-1's 2021-09-30 training cutoff, screened identically,</a:t>
            </a:r>
          </a:p>
          <a:p>
            <a:pPr>
              <a:spcAft>
                <a:spcPts val="600"/>
              </a:spcAft>
            </a:pPr>
            <a:r>
              <a:rPr sz="1500" b="0">
                <a:solidFill>
                  <a:srgbClr val="0B2B52"/>
                </a:solidFill>
              </a:rPr>
              <a:t>decoys drawn from within the held-out set. Folded three times on DeCAF.</a:t>
            </a:r>
          </a:p>
        </p:txBody>
      </p:sp>
      <p:sp>
        <p:nvSpPr>
          <p:cNvPr id="8" name="Rounded Rectangle 7"/>
          <p:cNvSpPr/>
          <p:nvPr/>
        </p:nvSpPr>
        <p:spPr>
          <a:xfrm>
            <a:off x="548640" y="201168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201168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201168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749039"/>
            <a:ext cx="11155680" cy="1005840"/>
          </a:xfrm>
          <a:prstGeom prst="rect">
            <a:avLst/>
          </a:prstGeom>
          <a:noFill/>
        </p:spPr>
        <p:txBody>
          <a:bodyPr wrap="square">
            <a:spAutoFit/>
          </a:bodyPr>
          <a:lstStyle/>
          <a:p>
            <a:pPr>
              <a:spcAft>
                <a:spcPts val="600"/>
              </a:spcAft>
            </a:pPr>
            <a:r>
              <a:rPr sz="1500" b="0">
                <a:solidFill>
                  <a:srgbClr val="0B2B52"/>
                </a:solidFill>
              </a:rPr>
              <a:t>Both readouts retain roughly half — interface pLDDT 41%, ipTM 52%.</a:t>
            </a:r>
          </a:p>
          <a:p>
            <a:pPr>
              <a:spcAft>
                <a:spcPts val="600"/>
              </a:spcAft>
            </a:pPr>
            <a:r>
              <a:rPr sz="1500" b="0">
                <a:solidFill>
                  <a:srgbClr val="0B2B52"/>
                </a:solidFill>
              </a:rPr>
              <a:t>Neither can be shown to degrade more than the other on this panel.</a:t>
            </a:r>
          </a:p>
        </p:txBody>
      </p:sp>
      <p:sp>
        <p:nvSpPr>
          <p:cNvPr id="12" name="Rounded Rectangle 11"/>
          <p:cNvSpPr/>
          <p:nvPr/>
        </p:nvSpPr>
        <p:spPr>
          <a:xfrm>
            <a:off x="548640" y="461772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A screening figure quoted without saying whether the complexes were in training is about twice as good as it should be.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Draws — and Two Retracted Claims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Folds are unseeded, so re-running the identical panel gives an independent draw.</a:t>
            </a:r>
          </a:p>
        </p:txBody>
      </p:sp>
      <p:graphicFrame>
        <p:nvGraphicFramePr>
          <p:cNvPr id="8" name="Table 7"/>
          <p:cNvGraphicFramePr>
            <a:graphicFrameLocks noGrp="1"/>
          </p:cNvGraphicFramePr>
          <p:nvPr/>
        </p:nvGraphicFramePr>
        <p:xfrm>
          <a:off x="548640" y="1783080"/>
          <a:ext cx="11155680" cy="1371600"/>
        </p:xfrm>
        <a:graphic>
          <a:graphicData uri="http://schemas.openxmlformats.org/drawingml/2006/table">
            <a:tbl>
              <a:tblPr firstRow="1" bandRow="1">
                <a:tableStyleId>{5C22544A-7EE6-4342-B048-85BDC9FD1C3A}</a:tableStyleId>
              </a:tblPr>
              <a:tblGrid>
                <a:gridCol w="4023360"/>
                <a:gridCol w="1554480"/>
                <a:gridCol w="1554480"/>
                <a:gridCol w="1554480"/>
                <a:gridCol w="2468880"/>
              </a:tblGrid>
              <a:tr h="457200">
                <a:tc>
                  <a:txBody>
                    <a:bodyPr/>
                    <a:lstStyle/>
                    <a:p>
                      <a:r>
                        <a:rPr sz="1300" b="1">
                          <a:solidFill>
                            <a:srgbClr val="0B2B52"/>
                          </a:solidFill>
                        </a:rPr>
                        <a:t>Cognate rank among its own decoys (chance 2.50)</a:t>
                      </a:r>
                    </a:p>
                  </a:txBody>
                  <a:tcPr/>
                </a:tc>
                <a:tc>
                  <a:txBody>
                    <a:bodyPr/>
                    <a:lstStyle/>
                    <a:p>
                      <a:r>
                        <a:rPr sz="1300" b="1">
                          <a:solidFill>
                            <a:srgbClr val="0B2B52"/>
                          </a:solidFill>
                        </a:rPr>
                        <a:t>draw 1</a:t>
                      </a:r>
                    </a:p>
                  </a:txBody>
                  <a:tcPr/>
                </a:tc>
                <a:tc>
                  <a:txBody>
                    <a:bodyPr/>
                    <a:lstStyle/>
                    <a:p>
                      <a:r>
                        <a:rPr sz="1300" b="1">
                          <a:solidFill>
                            <a:srgbClr val="0B2B52"/>
                          </a:solidFill>
                        </a:rPr>
                        <a:t>draw 2</a:t>
                      </a:r>
                    </a:p>
                  </a:txBody>
                  <a:tcPr/>
                </a:tc>
                <a:tc>
                  <a:txBody>
                    <a:bodyPr/>
                    <a:lstStyle/>
                    <a:p>
                      <a:r>
                        <a:rPr sz="1300" b="1">
                          <a:solidFill>
                            <a:srgbClr val="0B2B52"/>
                          </a:solidFill>
                        </a:rPr>
                        <a:t>draw 3</a:t>
                      </a:r>
                    </a:p>
                  </a:txBody>
                  <a:tcPr/>
                </a:tc>
                <a:tc>
                  <a:txBody>
                    <a:bodyPr/>
                    <a:lstStyle/>
                    <a:p>
                      <a:r>
                        <a:rPr sz="1300" b="1">
                          <a:solidFill>
                            <a:srgbClr val="0B2B52"/>
                          </a:solidFill>
                        </a:rPr>
                        <a:t>mean</a:t>
                      </a:r>
                    </a:p>
                  </a:txBody>
                  <a:tcPr/>
                </a:tc>
              </a:tr>
              <a:tr h="457200">
                <a:tc>
                  <a:txBody>
                    <a:bodyPr/>
                    <a:lstStyle/>
                    <a:p>
                      <a:r>
                        <a:rPr sz="1300" b="0">
                          <a:solidFill>
                            <a:srgbClr val="0B2B52"/>
                          </a:solidFill>
                        </a:rPr>
                        <a:t>ipTM</a:t>
                      </a:r>
                    </a:p>
                  </a:txBody>
                  <a:tcPr/>
                </a:tc>
                <a:tc>
                  <a:txBody>
                    <a:bodyPr/>
                    <a:lstStyle/>
                    <a:p>
                      <a:r>
                        <a:rPr sz="1300" b="0">
                          <a:solidFill>
                            <a:srgbClr val="0B2B52"/>
                          </a:solidFill>
                        </a:rPr>
                        <a:t>1.64</a:t>
                      </a:r>
                    </a:p>
                  </a:txBody>
                  <a:tcPr/>
                </a:tc>
                <a:tc>
                  <a:txBody>
                    <a:bodyPr/>
                    <a:lstStyle/>
                    <a:p>
                      <a:r>
                        <a:rPr sz="1300" b="0">
                          <a:solidFill>
                            <a:srgbClr val="0B2B52"/>
                          </a:solidFill>
                        </a:rPr>
                        <a:t>1.50</a:t>
                      </a:r>
                    </a:p>
                  </a:txBody>
                  <a:tcPr/>
                </a:tc>
                <a:tc>
                  <a:txBody>
                    <a:bodyPr/>
                    <a:lstStyle/>
                    <a:p>
                      <a:r>
                        <a:rPr sz="1300" b="0">
                          <a:solidFill>
                            <a:srgbClr val="0B2B52"/>
                          </a:solidFill>
                        </a:rPr>
                        <a:t>1.86</a:t>
                      </a:r>
                    </a:p>
                  </a:txBody>
                  <a:tcPr/>
                </a:tc>
                <a:tc>
                  <a:txBody>
                    <a:bodyPr/>
                    <a:lstStyle/>
                    <a:p>
                      <a:r>
                        <a:rPr sz="1300" b="0">
                          <a:solidFill>
                            <a:srgbClr val="0B2B52"/>
                          </a:solidFill>
                        </a:rPr>
                        <a:t>1.73  (p = 0.007)</a:t>
                      </a:r>
                    </a:p>
                  </a:txBody>
                  <a:tcPr/>
                </a:tc>
              </a:tr>
              <a:tr h="457200">
                <a:tc>
                  <a:txBody>
                    <a:bodyPr/>
                    <a:lstStyle/>
                    <a:p>
                      <a:r>
                        <a:rPr sz="1300" b="0">
                          <a:solidFill>
                            <a:srgbClr val="0B2B52"/>
                          </a:solidFill>
                        </a:rPr>
                        <a:t>interface pLDDT</a:t>
                      </a:r>
                    </a:p>
                  </a:txBody>
                  <a:tcPr/>
                </a:tc>
                <a:tc>
                  <a:txBody>
                    <a:bodyPr/>
                    <a:lstStyle/>
                    <a:p>
                      <a:r>
                        <a:rPr sz="1300" b="0">
                          <a:solidFill>
                            <a:srgbClr val="0B2B52"/>
                          </a:solidFill>
                        </a:rPr>
                        <a:t>2.09</a:t>
                      </a:r>
                    </a:p>
                  </a:txBody>
                  <a:tcPr/>
                </a:tc>
                <a:tc>
                  <a:txBody>
                    <a:bodyPr/>
                    <a:lstStyle/>
                    <a:p>
                      <a:r>
                        <a:rPr sz="1300" b="0">
                          <a:solidFill>
                            <a:srgbClr val="0B2B52"/>
                          </a:solidFill>
                        </a:rPr>
                        <a:t>2.05</a:t>
                      </a:r>
                    </a:p>
                  </a:txBody>
                  <a:tcPr/>
                </a:tc>
                <a:tc>
                  <a:txBody>
                    <a:bodyPr/>
                    <a:lstStyle/>
                    <a:p>
                      <a:r>
                        <a:rPr sz="1300" b="0">
                          <a:solidFill>
                            <a:srgbClr val="0B2B52"/>
                          </a:solidFill>
                        </a:rPr>
                        <a:t>1.73</a:t>
                      </a:r>
                    </a:p>
                  </a:txBody>
                  <a:tcPr/>
                </a:tc>
                <a:tc>
                  <a:txBody>
                    <a:bodyPr/>
                    <a:lstStyle/>
                    <a:p>
                      <a:r>
                        <a:rPr sz="1300" b="0">
                          <a:solidFill>
                            <a:srgbClr val="0B2B52"/>
                          </a:solidFill>
                        </a:rPr>
                        <a:t>1.91  (p = 0.020)</a:t>
                      </a:r>
                    </a:p>
                  </a:txBody>
                  <a:tcPr/>
                </a:tc>
              </a:tr>
            </a:tbl>
          </a:graphicData>
        </a:graphic>
      </p:graphicFrame>
      <p:sp>
        <p:nvSpPr>
          <p:cNvPr id="9" name="TextBox 8"/>
          <p:cNvSpPr txBox="1"/>
          <p:nvPr/>
        </p:nvSpPr>
        <p:spPr>
          <a:xfrm>
            <a:off x="548640" y="3429000"/>
            <a:ext cx="11155680" cy="1371600"/>
          </a:xfrm>
          <a:prstGeom prst="rect">
            <a:avLst/>
          </a:prstGeom>
          <a:noFill/>
        </p:spPr>
        <p:txBody>
          <a:bodyPr wrap="square">
            <a:spAutoFit/>
          </a:bodyPr>
          <a:lstStyle/>
          <a:p>
            <a:pPr>
              <a:spcAft>
                <a:spcPts val="600"/>
              </a:spcAft>
            </a:pPr>
            <a:r>
              <a:rPr sz="1500" b="0">
                <a:solidFill>
                  <a:srgbClr val="0B2B52"/>
                </a:solidFill>
              </a:rPr>
              <a:t>Draw 1 alone said interface pLDDT collapses held out.</a:t>
            </a:r>
          </a:p>
          <a:p>
            <a:pPr>
              <a:spcAft>
                <a:spcPts val="600"/>
              </a:spcAft>
            </a:pPr>
            <a:r>
              <a:rPr sz="1500" b="0">
                <a:solidFill>
                  <a:srgbClr val="0B2B52"/>
                </a:solidFill>
              </a:rPr>
              <a:t>Draws 1 and 2 said ipTM specifically survives and interface pLDDT specifically fails.</a:t>
            </a:r>
          </a:p>
          <a:p>
            <a:pPr>
              <a:spcAft>
                <a:spcPts val="600"/>
              </a:spcAft>
            </a:pPr>
            <a:r>
              <a:rPr sz="1500" b="0">
                <a:solidFill>
                  <a:srgbClr val="0B2B52"/>
                </a:solidFill>
              </a:rPr>
              <a:t>Draw 3 reverses the ordering. Averaged, the two differ by less than one draw's spread.</a:t>
            </a:r>
          </a:p>
        </p:txBody>
      </p:sp>
      <p:sp>
        <p:nvSpPr>
          <p:cNvPr id="10" name="Rounded Rectangle 9"/>
          <p:cNvSpPr/>
          <p:nvPr/>
        </p:nvSpPr>
        <p:spPr>
          <a:xfrm>
            <a:off x="548640" y="48463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Both claims withdrawn. Section 7.5's own finding, turned on this project's headline — twice.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The Settings Confound Was Real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31</a:t>
            </a:r>
          </a:p>
        </p:txBody>
      </p:sp>
      <p:sp>
        <p:nvSpPr>
          <p:cNvPr id="7" name="TextBox 6"/>
          <p:cNvSpPr txBox="1"/>
          <p:nvPr/>
        </p:nvSpPr>
        <p:spPr>
          <a:xfrm>
            <a:off x="548640" y="1143000"/>
            <a:ext cx="11155680" cy="1005840"/>
          </a:xfrm>
          <a:prstGeom prst="rect">
            <a:avLst/>
          </a:prstGeom>
          <a:noFill/>
        </p:spPr>
        <p:txBody>
          <a:bodyPr wrap="square">
            <a:spAutoFit/>
          </a:bodyPr>
          <a:lstStyle/>
          <a:p>
            <a:pPr>
              <a:spcAft>
                <a:spcPts val="600"/>
              </a:spcAft>
            </a:pPr>
            <a:r>
              <a:rPr sz="1500" b="0">
                <a:solidFill>
                  <a:srgbClr val="0B2B52"/>
                </a:solidFill>
              </a:rPr>
              <a:t>Every result so far: 10 sampling steps of an intended 200, 1 recycling of 3, MSA 32 of full.</a:t>
            </a:r>
          </a:p>
          <a:p>
            <a:pPr>
              <a:spcAft>
                <a:spcPts val="600"/>
              </a:spcAft>
            </a:pPr>
            <a:r>
              <a:rPr sz="1500" b="0">
                <a:solidFill>
                  <a:srgbClr val="0B2B52"/>
                </a:solidFill>
              </a:rPr>
              <a:t>Section 1.5 called this “stated, not resolved”. Same model, same device, settings raised:</a:t>
            </a:r>
          </a:p>
        </p:txBody>
      </p:sp>
      <p:graphicFrame>
        <p:nvGraphicFramePr>
          <p:cNvPr id="8" name="Table 7"/>
          <p:cNvGraphicFramePr>
            <a:graphicFrameLocks noGrp="1"/>
          </p:cNvGraphicFramePr>
          <p:nvPr/>
        </p:nvGraphicFramePr>
        <p:xfrm>
          <a:off x="548640" y="1965960"/>
          <a:ext cx="11155680" cy="1536192"/>
        </p:xfrm>
        <a:graphic>
          <a:graphicData uri="http://schemas.openxmlformats.org/drawingml/2006/table">
            <a:tbl>
              <a:tblPr firstRow="1" bandRow="1">
                <a:tableStyleId>{5C22544A-7EE6-4342-B048-85BDC9FD1C3A}</a:tableStyleId>
              </a:tblPr>
              <a:tblGrid>
                <a:gridCol w="3017520"/>
                <a:gridCol w="2834640"/>
                <a:gridCol w="2834640"/>
                <a:gridCol w="2468880"/>
              </a:tblGrid>
              <a:tr h="384048">
                <a:tc>
                  <a:txBody>
                    <a:bodyPr/>
                    <a:lstStyle/>
                    <a:p>
                      <a:r>
                        <a:rPr sz="1300" b="1">
                          <a:solidFill>
                            <a:srgbClr val="0B2B52"/>
                          </a:solidFill>
                        </a:rPr>
                        <a:t>cognate − scramble</a:t>
                      </a:r>
                    </a:p>
                  </a:txBody>
                  <a:tcPr/>
                </a:tc>
                <a:tc>
                  <a:txBody>
                    <a:bodyPr/>
                    <a:lstStyle/>
                    <a:p>
                      <a:r>
                        <a:rPr sz="1300" b="1">
                          <a:solidFill>
                            <a:srgbClr val="0B2B52"/>
                          </a:solidFill>
                        </a:rPr>
                        <a:t>reduced (10 steps)</a:t>
                      </a:r>
                    </a:p>
                  </a:txBody>
                  <a:tcPr/>
                </a:tc>
                <a:tc>
                  <a:txBody>
                    <a:bodyPr/>
                    <a:lstStyle/>
                    <a:p>
                      <a:r>
                        <a:rPr sz="1300" b="1">
                          <a:solidFill>
                            <a:srgbClr val="0B2B52"/>
                          </a:solidFill>
                        </a:rPr>
                        <a:t>full (200 steps)</a:t>
                      </a:r>
                    </a:p>
                  </a:txBody>
                  <a:tcPr/>
                </a:tc>
                <a:tc>
                  <a:txBody>
                    <a:bodyPr/>
                    <a:lstStyle/>
                    <a:p>
                      <a:r>
                        <a:rPr sz="1300" b="1">
                          <a:solidFill>
                            <a:srgbClr val="0B2B52"/>
                          </a:solidFill>
                        </a:rPr>
                        <a:t>Cohen's d</a:t>
                      </a:r>
                    </a:p>
                  </a:txBody>
                  <a:tcPr/>
                </a:tc>
              </a:tr>
              <a:tr h="384048">
                <a:tc>
                  <a:txBody>
                    <a:bodyPr/>
                    <a:lstStyle/>
                    <a:p>
                      <a:r>
                        <a:rPr sz="1300" b="1">
                          <a:solidFill>
                            <a:srgbClr val="0B2B52"/>
                          </a:solidFill>
                        </a:rPr>
                        <a:t>ipTM</a:t>
                      </a:r>
                    </a:p>
                  </a:txBody>
                  <a:tcPr/>
                </a:tc>
                <a:tc>
                  <a:txBody>
                    <a:bodyPr/>
                    <a:lstStyle/>
                    <a:p>
                      <a:r>
                        <a:rPr sz="1300" b="0">
                          <a:solidFill>
                            <a:srgbClr val="0B2B52"/>
                          </a:solidFill>
                        </a:rPr>
                        <a:t>+0.039  (p 0.004)</a:t>
                      </a:r>
                    </a:p>
                  </a:txBody>
                  <a:tcPr/>
                </a:tc>
                <a:tc>
                  <a:txBody>
                    <a:bodyPr/>
                    <a:lstStyle/>
                    <a:p>
                      <a:r>
                        <a:rPr sz="1300" b="0">
                          <a:solidFill>
                            <a:srgbClr val="0B2B52"/>
                          </a:solidFill>
                        </a:rPr>
                        <a:t>+0.287  (p &lt; 1e-5)</a:t>
                      </a:r>
                    </a:p>
                  </a:txBody>
                  <a:tcPr/>
                </a:tc>
                <a:tc>
                  <a:txBody>
                    <a:bodyPr/>
                    <a:lstStyle/>
                    <a:p>
                      <a:r>
                        <a:rPr sz="1300" b="0">
                          <a:solidFill>
                            <a:srgbClr val="0B2B52"/>
                          </a:solidFill>
                        </a:rPr>
                        <a:t>0.45 → 1.25</a:t>
                      </a:r>
                    </a:p>
                  </a:txBody>
                  <a:tcPr/>
                </a:tc>
              </a:tr>
              <a:tr h="384048">
                <a:tc>
                  <a:txBody>
                    <a:bodyPr/>
                    <a:lstStyle/>
                    <a:p>
                      <a:r>
                        <a:rPr sz="1300" b="1">
                          <a:solidFill>
                            <a:srgbClr val="0B2B52"/>
                          </a:solidFill>
                        </a:rPr>
                        <a:t>interface pLDDT</a:t>
                      </a:r>
                    </a:p>
                  </a:txBody>
                  <a:tcPr/>
                </a:tc>
                <a:tc>
                  <a:txBody>
                    <a:bodyPr/>
                    <a:lstStyle/>
                    <a:p>
                      <a:r>
                        <a:rPr sz="1300" b="0">
                          <a:solidFill>
                            <a:srgbClr val="0B2B52"/>
                          </a:solidFill>
                        </a:rPr>
                        <a:t>+1.54  (p 0.067)</a:t>
                      </a:r>
                    </a:p>
                  </a:txBody>
                  <a:tcPr/>
                </a:tc>
                <a:tc>
                  <a:txBody>
                    <a:bodyPr/>
                    <a:lstStyle/>
                    <a:p>
                      <a:r>
                        <a:rPr sz="1300" b="0">
                          <a:solidFill>
                            <a:srgbClr val="0B2B52"/>
                          </a:solidFill>
                        </a:rPr>
                        <a:t>+11.85  (p &lt; 1e-5)</a:t>
                      </a:r>
                    </a:p>
                  </a:txBody>
                  <a:tcPr/>
                </a:tc>
                <a:tc>
                  <a:txBody>
                    <a:bodyPr/>
                    <a:lstStyle/>
                    <a:p>
                      <a:r>
                        <a:rPr sz="1300" b="0">
                          <a:solidFill>
                            <a:srgbClr val="0B2B52"/>
                          </a:solidFill>
                        </a:rPr>
                        <a:t>0.28 → 1.52</a:t>
                      </a:r>
                    </a:p>
                  </a:txBody>
                  <a:tcPr/>
                </a:tc>
              </a:tr>
              <a:tr h="384048">
                <a:tc>
                  <a:txBody>
                    <a:bodyPr/>
                    <a:lstStyle/>
                    <a:p>
                      <a:r>
                        <a:rPr sz="1300" b="1">
                          <a:solidFill>
                            <a:srgbClr val="0B2B52"/>
                          </a:solidFill>
                        </a:rPr>
                        <a:t>receptor side</a:t>
                      </a:r>
                    </a:p>
                  </a:txBody>
                  <a:tcPr/>
                </a:tc>
                <a:tc>
                  <a:txBody>
                    <a:bodyPr/>
                    <a:lstStyle/>
                    <a:p>
                      <a:r>
                        <a:rPr sz="1300" b="0">
                          <a:solidFill>
                            <a:srgbClr val="0B2B52"/>
                          </a:solidFill>
                        </a:rPr>
                        <a:t>+0.71  (p 0.428)</a:t>
                      </a:r>
                    </a:p>
                  </a:txBody>
                  <a:tcPr/>
                </a:tc>
                <a:tc>
                  <a:txBody>
                    <a:bodyPr/>
                    <a:lstStyle/>
                    <a:p>
                      <a:r>
                        <a:rPr sz="1300" b="0">
                          <a:solidFill>
                            <a:srgbClr val="0B2B52"/>
                          </a:solidFill>
                        </a:rPr>
                        <a:t>+5.13  (p &lt; 1e-5)</a:t>
                      </a:r>
                    </a:p>
                  </a:txBody>
                  <a:tcPr/>
                </a:tc>
                <a:tc>
                  <a:txBody>
                    <a:bodyPr/>
                    <a:lstStyle/>
                    <a:p>
                      <a:r>
                        <a:rPr sz="1300" b="0">
                          <a:solidFill>
                            <a:srgbClr val="0B2B52"/>
                          </a:solidFill>
                        </a:rPr>
                        <a:t>0.12 → 1.45</a:t>
                      </a:r>
                    </a:p>
                  </a:txBody>
                  <a:tcPr/>
                </a:tc>
              </a:tr>
            </a:tbl>
          </a:graphicData>
        </a:graphic>
      </p:graphicFrame>
      <p:sp>
        <p:nvSpPr>
          <p:cNvPr id="9" name="TextBox 8"/>
          <p:cNvSpPr txBox="1"/>
          <p:nvPr/>
        </p:nvSpPr>
        <p:spPr>
          <a:xfrm>
            <a:off x="548640" y="3749039"/>
            <a:ext cx="11155680" cy="1005840"/>
          </a:xfrm>
          <a:prstGeom prst="rect">
            <a:avLst/>
          </a:prstGeom>
          <a:noFill/>
        </p:spPr>
        <p:txBody>
          <a:bodyPr wrap="square">
            <a:spAutoFit/>
          </a:bodyPr>
          <a:lstStyle/>
          <a:p>
            <a:pPr>
              <a:spcAft>
                <a:spcPts val="600"/>
              </a:spcAft>
            </a:pPr>
            <a:r>
              <a:rPr sz="1500" b="0">
                <a:solidFill>
                  <a:srgbClr val="0B2B52"/>
                </a:solidFill>
              </a:rPr>
              <a:t>Raw effects 7× larger; scale-free 2.7–12×. Larger for 21 of 22 receptors, paired p ≤ 0.001.</a:t>
            </a:r>
          </a:p>
          <a:p>
            <a:pPr>
              <a:spcAft>
                <a:spcPts val="600"/>
              </a:spcAft>
            </a:pPr>
            <a:r>
              <a:rPr sz="1500" b="0">
                <a:solidFill>
                  <a:srgbClr val="0B2B52"/>
                </a:solidFill>
              </a:rPr>
              <a:t>Two readouts change verdict: interface pLDDT 0.067 → &lt;1e-5, receptor side 0.428 → &lt;1e-5.</a:t>
            </a:r>
          </a:p>
        </p:txBody>
      </p:sp>
      <p:sp>
        <p:nvSpPr>
          <p:cNvPr id="10" name="Rounded Rectangle 9"/>
          <p:cNvSpPr/>
          <p:nvPr/>
        </p:nvSpPr>
        <p:spPr>
          <a:xfrm>
            <a:off x="548640" y="46177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A full-settings fold takes 106 s on this laptop. The obstacle was the device, not the settings.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And the Practical Conclusion Inverts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32</a:t>
            </a:r>
          </a:p>
        </p:txBody>
      </p:sp>
      <p:sp>
        <p:nvSpPr>
          <p:cNvPr id="7" name="TextBox 6"/>
          <p:cNvSpPr txBox="1"/>
          <p:nvPr/>
        </p:nvSpPr>
        <p:spPr>
          <a:xfrm>
            <a:off x="548640" y="1115568"/>
            <a:ext cx="11155680" cy="640080"/>
          </a:xfrm>
          <a:prstGeom prst="rect">
            <a:avLst/>
          </a:prstGeom>
          <a:noFill/>
        </p:spPr>
        <p:txBody>
          <a:bodyPr wrap="square">
            <a:spAutoFit/>
          </a:bodyPr>
          <a:lstStyle/>
          <a:p>
            <a:pPr>
              <a:spcAft>
                <a:spcPts val="600"/>
              </a:spcAft>
            </a:pPr>
            <a:r>
              <a:rPr sz="1500" b="0">
                <a:solidFill>
                  <a:srgbClr val="0B2B52"/>
                </a:solidFill>
              </a:rPr>
              <a:t>Ranking a cognate against its own decoys — the question a screen actually asks:</a:t>
            </a:r>
          </a:p>
        </p:txBody>
      </p:sp>
      <p:graphicFrame>
        <p:nvGraphicFramePr>
          <p:cNvPr id="8" name="Table 7"/>
          <p:cNvGraphicFramePr>
            <a:graphicFrameLocks noGrp="1"/>
          </p:cNvGraphicFramePr>
          <p:nvPr/>
        </p:nvGraphicFramePr>
        <p:xfrm>
          <a:off x="548640" y="1783080"/>
          <a:ext cx="11155680" cy="1536192"/>
        </p:xfrm>
        <a:graphic>
          <a:graphicData uri="http://schemas.openxmlformats.org/drawingml/2006/table">
            <a:tbl>
              <a:tblPr firstRow="1" bandRow="1">
                <a:tableStyleId>{5C22544A-7EE6-4342-B048-85BDC9FD1C3A}</a:tableStyleId>
              </a:tblPr>
              <a:tblGrid>
                <a:gridCol w="2834640"/>
                <a:gridCol w="2011680"/>
                <a:gridCol w="2011680"/>
                <a:gridCol w="2194560"/>
                <a:gridCol w="2103120"/>
              </a:tblGrid>
              <a:tr h="384048">
                <a:tc>
                  <a:txBody>
                    <a:bodyPr/>
                    <a:lstStyle/>
                    <a:p>
                      <a:r>
                        <a:rPr sz="1300" b="1">
                          <a:solidFill>
                            <a:srgbClr val="0B2B52"/>
                          </a:solidFill>
                        </a:rPr>
                        <a:t> </a:t>
                      </a:r>
                    </a:p>
                  </a:txBody>
                  <a:tcPr/>
                </a:tc>
                <a:tc>
                  <a:txBody>
                    <a:bodyPr/>
                    <a:lstStyle/>
                    <a:p>
                      <a:r>
                        <a:rPr sz="1300" b="1">
                          <a:solidFill>
                            <a:srgbClr val="0B2B52"/>
                          </a:solidFill>
                        </a:rPr>
                        <a:t>reduced rank</a:t>
                      </a:r>
                    </a:p>
                  </a:txBody>
                  <a:tcPr/>
                </a:tc>
                <a:tc>
                  <a:txBody>
                    <a:bodyPr/>
                    <a:lstStyle/>
                    <a:p>
                      <a:r>
                        <a:rPr sz="1300" b="1">
                          <a:solidFill>
                            <a:srgbClr val="0B2B52"/>
                          </a:solidFill>
                        </a:rPr>
                        <a:t>full rank</a:t>
                      </a:r>
                    </a:p>
                  </a:txBody>
                  <a:tcPr/>
                </a:tc>
                <a:tc>
                  <a:txBody>
                    <a:bodyPr/>
                    <a:lstStyle/>
                    <a:p>
                      <a:r>
                        <a:rPr sz="1300" b="1">
                          <a:solidFill>
                            <a:srgbClr val="0B2B52"/>
                          </a:solidFill>
                        </a:rPr>
                        <a:t>first (of 22)</a:t>
                      </a:r>
                    </a:p>
                  </a:txBody>
                  <a:tcPr/>
                </a:tc>
                <a:tc>
                  <a:txBody>
                    <a:bodyPr/>
                    <a:lstStyle/>
                    <a:p>
                      <a:r>
                        <a:rPr sz="1300" b="1">
                          <a:solidFill>
                            <a:srgbClr val="0B2B52"/>
                          </a:solidFill>
                        </a:rPr>
                        <a:t>AUC within</a:t>
                      </a:r>
                    </a:p>
                  </a:txBody>
                  <a:tcPr/>
                </a:tc>
              </a:tr>
              <a:tr h="384048">
                <a:tc>
                  <a:txBody>
                    <a:bodyPr/>
                    <a:lstStyle/>
                    <a:p>
                      <a:r>
                        <a:rPr sz="1300" b="1">
                          <a:solidFill>
                            <a:srgbClr val="0B2B52"/>
                          </a:solidFill>
                        </a:rPr>
                        <a:t>ipTM</a:t>
                      </a:r>
                    </a:p>
                  </a:txBody>
                  <a:tcPr/>
                </a:tc>
                <a:tc>
                  <a:txBody>
                    <a:bodyPr/>
                    <a:lstStyle/>
                    <a:p>
                      <a:r>
                        <a:rPr sz="1300" b="0">
                          <a:solidFill>
                            <a:srgbClr val="0B2B52"/>
                          </a:solidFill>
                        </a:rPr>
                        <a:t>1.86</a:t>
                      </a:r>
                    </a:p>
                  </a:txBody>
                  <a:tcPr/>
                </a:tc>
                <a:tc>
                  <a:txBody>
                    <a:bodyPr/>
                    <a:lstStyle/>
                    <a:p>
                      <a:r>
                        <a:rPr sz="1300" b="0">
                          <a:solidFill>
                            <a:srgbClr val="0B2B52"/>
                          </a:solidFill>
                        </a:rPr>
                        <a:t>1.41</a:t>
                      </a:r>
                    </a:p>
                  </a:txBody>
                  <a:tcPr/>
                </a:tc>
                <a:tc>
                  <a:txBody>
                    <a:bodyPr/>
                    <a:lstStyle/>
                    <a:p>
                      <a:r>
                        <a:rPr sz="1300" b="0">
                          <a:solidFill>
                            <a:srgbClr val="0B2B52"/>
                          </a:solidFill>
                        </a:rPr>
                        <a:t>11 → 15</a:t>
                      </a:r>
                    </a:p>
                  </a:txBody>
                  <a:tcPr/>
                </a:tc>
                <a:tc>
                  <a:txBody>
                    <a:bodyPr/>
                    <a:lstStyle/>
                    <a:p>
                      <a:r>
                        <a:rPr sz="1300" b="0">
                          <a:solidFill>
                            <a:srgbClr val="0B2B52"/>
                          </a:solidFill>
                        </a:rPr>
                        <a:t>0.684 → 0.908</a:t>
                      </a:r>
                    </a:p>
                  </a:txBody>
                  <a:tcPr/>
                </a:tc>
              </a:tr>
              <a:tr h="384048">
                <a:tc>
                  <a:txBody>
                    <a:bodyPr/>
                    <a:lstStyle/>
                    <a:p>
                      <a:r>
                        <a:rPr sz="1300" b="1">
                          <a:solidFill>
                            <a:srgbClr val="0B2B52"/>
                          </a:solidFill>
                        </a:rPr>
                        <a:t>interface pLDDT</a:t>
                      </a:r>
                    </a:p>
                  </a:txBody>
                  <a:tcPr/>
                </a:tc>
                <a:tc>
                  <a:txBody>
                    <a:bodyPr/>
                    <a:lstStyle/>
                    <a:p>
                      <a:r>
                        <a:rPr sz="1300" b="0">
                          <a:solidFill>
                            <a:srgbClr val="0B2B52"/>
                          </a:solidFill>
                        </a:rPr>
                        <a:t>1.91</a:t>
                      </a:r>
                    </a:p>
                  </a:txBody>
                  <a:tcPr/>
                </a:tc>
                <a:tc>
                  <a:txBody>
                    <a:bodyPr/>
                    <a:lstStyle/>
                    <a:p>
                      <a:r>
                        <a:rPr sz="1300" b="0">
                          <a:solidFill>
                            <a:srgbClr val="0B2B52"/>
                          </a:solidFill>
                        </a:rPr>
                        <a:t>1.27</a:t>
                      </a:r>
                    </a:p>
                  </a:txBody>
                  <a:tcPr/>
                </a:tc>
                <a:tc>
                  <a:txBody>
                    <a:bodyPr/>
                    <a:lstStyle/>
                    <a:p>
                      <a:r>
                        <a:rPr sz="1300" b="0">
                          <a:solidFill>
                            <a:srgbClr val="0B2B52"/>
                          </a:solidFill>
                        </a:rPr>
                        <a:t>9 → 17</a:t>
                      </a:r>
                    </a:p>
                  </a:txBody>
                  <a:tcPr/>
                </a:tc>
                <a:tc>
                  <a:txBody>
                    <a:bodyPr/>
                    <a:lstStyle/>
                    <a:p>
                      <a:r>
                        <a:rPr sz="1300" b="0">
                          <a:solidFill>
                            <a:srgbClr val="0B2B52"/>
                          </a:solidFill>
                        </a:rPr>
                        <a:t>0.640 → 0.943</a:t>
                      </a:r>
                    </a:p>
                  </a:txBody>
                  <a:tcPr/>
                </a:tc>
              </a:tr>
              <a:tr h="384048">
                <a:tc>
                  <a:txBody>
                    <a:bodyPr/>
                    <a:lstStyle/>
                    <a:p>
                      <a:r>
                        <a:rPr sz="1300" b="1">
                          <a:solidFill>
                            <a:srgbClr val="0B2B52"/>
                          </a:solidFill>
                        </a:rPr>
                        <a:t>receptor side</a:t>
                      </a:r>
                    </a:p>
                  </a:txBody>
                  <a:tcPr/>
                </a:tc>
                <a:tc>
                  <a:txBody>
                    <a:bodyPr/>
                    <a:lstStyle/>
                    <a:p>
                      <a:r>
                        <a:rPr sz="1300" b="0">
                          <a:solidFill>
                            <a:srgbClr val="0B2B52"/>
                          </a:solidFill>
                        </a:rPr>
                        <a:t>2.05</a:t>
                      </a:r>
                    </a:p>
                  </a:txBody>
                  <a:tcPr/>
                </a:tc>
                <a:tc>
                  <a:txBody>
                    <a:bodyPr/>
                    <a:lstStyle/>
                    <a:p>
                      <a:r>
                        <a:rPr sz="1300" b="0">
                          <a:solidFill>
                            <a:srgbClr val="0B2B52"/>
                          </a:solidFill>
                        </a:rPr>
                        <a:t>1.27</a:t>
                      </a:r>
                    </a:p>
                  </a:txBody>
                  <a:tcPr/>
                </a:tc>
                <a:tc>
                  <a:txBody>
                    <a:bodyPr/>
                    <a:lstStyle/>
                    <a:p>
                      <a:r>
                        <a:rPr sz="1300" b="0">
                          <a:solidFill>
                            <a:srgbClr val="0B2B52"/>
                          </a:solidFill>
                        </a:rPr>
                        <a:t>8 → 17</a:t>
                      </a:r>
                    </a:p>
                  </a:txBody>
                  <a:tcPr/>
                </a:tc>
                <a:tc>
                  <a:txBody>
                    <a:bodyPr/>
                    <a:lstStyle/>
                    <a:p>
                      <a:r>
                        <a:rPr sz="1300" b="0">
                          <a:solidFill>
                            <a:srgbClr val="0B2B52"/>
                          </a:solidFill>
                        </a:rPr>
                        <a:t>0.600 → 0.943</a:t>
                      </a:r>
                    </a:p>
                  </a:txBody>
                  <a:tcPr/>
                </a:tc>
              </a:tr>
            </a:tbl>
          </a:graphicData>
        </a:graphic>
      </p:graphicFrame>
      <p:sp>
        <p:nvSpPr>
          <p:cNvPr id="9" name="Rounded Rectangle 8"/>
          <p:cNvSpPr/>
          <p:nvPr/>
        </p:nvSpPr>
        <p:spPr>
          <a:xfrm>
            <a:off x="548640" y="361188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 (chance 2.50)</a:t>
            </a:r>
          </a:p>
        </p:txBody>
      </p:sp>
      <p:sp>
        <p:nvSpPr>
          <p:cNvPr id="10" name="Rounded Rectangle 9"/>
          <p:cNvSpPr/>
          <p:nvPr/>
        </p:nvSpPr>
        <p:spPr>
          <a:xfrm>
            <a:off x="4343400" y="361188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within-receptor AUC (was 0.640)</a:t>
            </a:r>
          </a:p>
        </p:txBody>
      </p:sp>
      <p:sp>
        <p:nvSpPr>
          <p:cNvPr id="11" name="Rounded Rectangle 10"/>
          <p:cNvSpPr/>
          <p:nvPr/>
        </p:nvSpPr>
        <p:spPr>
          <a:xfrm>
            <a:off x="8138160" y="361188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77%</a:t>
            </a:r>
          </a:p>
          <a:p>
            <a:pPr algn="ctr"/>
            <a:r>
              <a:rPr sz="1050">
                <a:solidFill>
                  <a:srgbClr val="FFFFFF"/>
                </a:solidFill>
              </a:rPr>
              <a:t>top-1 accuracy at full settings</a:t>
            </a:r>
          </a:p>
        </p:txBody>
      </p:sp>
      <p:sp>
        <p:nvSpPr>
          <p:cNvPr id="12" name="Rounded Rectangle 11"/>
          <p:cNvSpPr/>
          <p:nvPr/>
        </p:nvSpPr>
        <p:spPr>
          <a:xfrm>
            <a:off x="548640" y="5074920"/>
            <a:ext cx="11155680" cy="11887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400" b="1">
                <a:solidFill>
                  <a:srgbClr val="FFFFFF"/>
                </a:solidFill>
              </a:rPr>
              <a:t>The negative results are properties of the regime, not of the method.</a:t>
            </a:r>
          </a:p>
          <a:p>
            <a:pPr>
              <a:spcAft>
                <a:spcPts val="600"/>
              </a:spcAft>
            </a:pPr>
            <a:r>
              <a:rPr sz="1400" b="1">
                <a:solidFill>
                  <a:srgbClr val="FFFFFF"/>
                </a:solidFill>
              </a:rPr>
              <a:t>Best elsewhere in this work: DeCAF at 10 steps, AUC 0.807. This also exceeds the 0.90 a nanobody benchmark reaches with ensembling plus physics rescoring.</a:t>
            </a:r>
          </a:p>
        </p:txBody>
      </p:sp>
      <p:sp>
        <p:nvSpPr>
          <p:cNvPr id="13" name="TextBox 12"/>
          <p:cNvSpPr txBox="1"/>
          <p:nvPr/>
        </p:nvSpPr>
        <p:spPr>
          <a:xfrm>
            <a:off x="548640" y="6291072"/>
            <a:ext cx="11155680" cy="274320"/>
          </a:xfrm>
          <a:prstGeom prst="rect">
            <a:avLst/>
          </a:prstGeom>
          <a:noFill/>
        </p:spPr>
        <p:txBody>
          <a:bodyPr wrap="square">
            <a:spAutoFit/>
          </a:bodyPr>
          <a:lstStyle/>
          <a:p>
            <a:pPr>
              <a:spcAft>
                <a:spcPts val="600"/>
              </a:spcAft>
            </a:pPr>
            <a:r>
              <a:rPr sz="1100" b="0">
                <a:solidFill>
                  <a:srgbClr val="8A5200"/>
                </a:solidFill>
              </a:rPr>
              <a:t>Caveat: one model, 22 receptors, a single draw.</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33</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34</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Next: GPU-scale replicate folding, then few-step sampler distillation.</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