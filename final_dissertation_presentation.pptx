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3.xml"/><Relationship Id="rId19" Type="http://schemas.openxmlformats.org/officeDocument/2006/relationships/slide" Target="slides/slide34.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4069080"/>
            <a:ext cx="11155680" cy="82296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Honest scope: the headline speedups in this report are for the distilled surrogate. Track A was then tested end-to-end: the ipTM reference does not rank binders, so the screening objective is not reachable through it (slides 14–18).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
        <p:nvSpPr>
          <p:cNvPr id="12" name="Rounded Rectangle 11"/>
          <p:cNvSpPr/>
          <p:nvPr/>
        </p:nvSpPr>
        <p:spPr>
          <a:xfrm>
            <a:off x="548640" y="5074920"/>
            <a:ext cx="11155680" cy="10972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600"/>
              </a:spcAft>
            </a:pPr>
            <a:r>
              <a:rPr sz="1200" b="0">
                <a:solidFill>
                  <a:srgbClr val="8A5200"/>
                </a:solidFill>
              </a:rPr>
              <a:t>⚠  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
        <p:nvSpPr>
          <p:cNvPr id="16" name="Rounded Rectangle 15"/>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
        <p:nvSpPr>
          <p:cNvPr id="9" name="Rounded Rectangle 8"/>
          <p:cNvSpPr/>
          <p:nvPr/>
        </p:nvSpPr>
        <p:spPr>
          <a:xfrm>
            <a:off x="548640" y="52578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Scaling law 1.32·rank^−0.356 puts 10% error at rank ≈1414, against c_hidden² = 1024 — the low-rank form costs MORE activation memory than stock before it is accurate enough to substitute.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
        <p:nvSpPr>
          <p:cNvPr id="12" name="Rounded Rectangle 11"/>
          <p:cNvSpPr/>
          <p:nvPr/>
        </p:nvSpPr>
        <p:spPr>
          <a:xfrm>
            <a:off x="548640" y="53949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ipTM responds largely to peptide COMPOSITION. Any sequence-order effect is at most 63% of the composition effect. A ridge regression on composition independently beat the distilled surrogate (+0.103 vs −0.034).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24 complexes × 4 identical re-runs (96 folds), same settings:</a:t>
            </a:r>
          </a:p>
          <a:p>
            <a:pPr>
              <a:spcAft>
                <a:spcPts val="600"/>
              </a:spcAft>
            </a:pPr>
            <a:r>
              <a:rPr sz="1500" b="0">
                <a:solidFill>
                  <a:srgbClr val="0B2B52"/>
                </a:solidFill>
              </a:rPr>
              <a:t>•  Pooled within-complex ipTM SD  0.0628   (median range 0.127)</a:t>
            </a:r>
          </a:p>
          <a:p>
            <a:pPr>
              <a:spcAft>
                <a:spcPts val="600"/>
              </a:spcAft>
            </a:pPr>
            <a:r>
              <a:rPr sz="1500" b="0">
                <a:solidFill>
                  <a:srgbClr val="0B2B52"/>
                </a:solidFill>
              </a:rPr>
              <a:t>•  Cognate − decoy  +0.0698 = 1.11 × SD    comparable to noise</a:t>
            </a:r>
          </a:p>
          <a:p>
            <a:pPr>
              <a:spcAft>
                <a:spcPts val="600"/>
              </a:spcAft>
            </a:pPr>
            <a:r>
              <a:rPr sz="1500" b="0">
                <a:solidFill>
                  <a:srgbClr val="0B2B52"/>
                </a:solidFill>
              </a:rPr>
              <a:t>•  Per-receptor rank flips for 4 of 4 receptors — 6YOO spans #1 to #4 on identical input</a:t>
            </a:r>
          </a:p>
          <a:p>
            <a:pPr>
              <a:spcAft>
                <a:spcPts val="600"/>
              </a:spcAft>
            </a:pPr>
            <a:r>
              <a:rPr sz="1500" b="0">
                <a:solidFill>
                  <a:srgbClr val="0B2B52"/>
                </a:solidFill>
              </a:rPr>
              <a:t>•  Aggregate survives: mean rank 2.03, 95% range [1.77, 2.27], always below chance …</a:t>
            </a:r>
          </a:p>
          <a:p>
            <a:pPr>
              <a:spcAft>
                <a:spcPts val="600"/>
              </a:spcAft>
            </a:pPr>
            <a:r>
              <a:rPr sz="1500" b="0">
                <a:solidFill>
                  <a:srgbClr val="0B2B52"/>
                </a:solidFill>
              </a:rPr>
              <a:t>•  … but p &lt; 0.05 in only 49% of simulated re-runs (median p = 0.054)</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Stabilising per-receptor ranks needs ~9–16 replicate folds per complex (1,200–2,100 folds) — GPU-scale. Ranking binders on a single AlphaFold/Boltz run is common practice, and does not reproduce.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50" b="0">
                <a:solidFill>
                  <a:srgbClr val="0B2B52"/>
                </a:solidFill>
              </a:rPr>
              <a:t>Six interface measures, same complexes, same tests. Only one beats a cognate's OWN scramble — the test that fixes composition and destroys only order:</a:t>
            </a:r>
          </a:p>
          <a:p>
            <a:pPr>
              <a:spcAft>
                <a:spcPts val="600"/>
              </a:spcAft>
            </a:pPr>
            <a:r>
              <a:rPr sz="1450" b="0">
                <a:solidFill>
                  <a:srgbClr val="0B2B52"/>
                </a:solidFill>
              </a:rPr>
              <a:t>•  ipTM  p = 0.42        •  pDockQ  p = 0.80        •  contacts / density / buried SASA  p = 0.05–0.45</a:t>
            </a:r>
          </a:p>
          <a:p>
            <a:pPr>
              <a:spcAft>
                <a:spcPts val="600"/>
              </a:spcAft>
            </a:pPr>
            <a:r>
              <a:rPr sz="1450" b="0">
                <a:solidFill>
                  <a:srgbClr val="0B2B52"/>
                </a:solidFill>
              </a:rPr>
              <a:t>•  INTERFACE pLDDT  p &lt; 0.0001    rank 1.91 of 4 (chance 2.50)</a:t>
            </a:r>
          </a:p>
          <a:p>
            <a:pPr>
              <a:spcAft>
                <a:spcPts val="600"/>
              </a:spcAft>
            </a:pPr>
            <a:r>
              <a:rPr sz="1450" b="0">
                <a:solidFill>
                  <a:srgbClr val="0B2B52"/>
                </a:solidFill>
              </a:rPr>
              <a:t/>
            </a:r>
          </a:p>
          <a:p>
            <a:pPr>
              <a:spcAft>
                <a:spcPts val="600"/>
              </a:spcAft>
            </a:pPr>
            <a:r>
              <a:rPr sz="1450" b="0">
                <a:solidFill>
                  <a:srgbClr val="0B2B52"/>
                </a:solidFill>
              </a:rPr>
              <a:t>It also survives the reproducibility test that demoted ipTM: effect +3.30 against run-to-run SD 1.92 = 1.72× noise, where ipTM managed 0.20× — an 8.6× better ratio. Reproduces at p &lt; 0.05 in 100% of re-runs.</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Splitting the metric by chain — no new folding:</a:t>
            </a:r>
          </a:p>
          <a:p>
            <a:pPr>
              <a:spcAft>
                <a:spcPts val="600"/>
              </a:spcAft>
            </a:pPr>
            <a:r>
              <a:rPr sz="1400" b="0">
                <a:solidFill>
                  <a:srgbClr val="0B2B52"/>
                </a:solidFill>
              </a:rPr>
              <a:t>•  peptide side  +5.25   but whole-chain peptide pLDDT  +4.87   →  mostly FOLDABILITY, not interface</a:t>
            </a:r>
          </a:p>
          <a:p>
            <a:pPr>
              <a:spcAft>
                <a:spcPts val="600"/>
              </a:spcAft>
            </a:pPr>
            <a:r>
              <a:rPr sz="1400" b="0">
                <a:solidFill>
                  <a:srgbClr val="0B2B52"/>
                </a:solidFill>
              </a:rPr>
              <a:t>•  RECEPTOR side  +2.38  (p = 6e-5)  →  the receptor's own residues are placed better when given the right peptide.</a:t>
            </a:r>
          </a:p>
          <a:p>
            <a:pPr>
              <a:spcAft>
                <a:spcPts val="600"/>
              </a:spcAft>
            </a:pPr>
            <a:r>
              <a:rPr sz="1400" b="0">
                <a:solidFill>
                  <a:srgbClr val="0B2B52"/>
                </a:solidFill>
              </a:rPr>
              <a:t>   A disordered peptide cannot do that. This term survives the objection.</a:t>
            </a:r>
          </a:p>
          <a:p>
            <a:pPr>
              <a:spcAft>
                <a:spcPts val="600"/>
              </a:spcAft>
            </a:pPr>
            <a:r>
              <a:rPr sz="1400" b="0">
                <a:solidFill>
                  <a:srgbClr val="0B2B52"/>
                </a:solidFill>
              </a:rPr>
              <a:t/>
            </a:r>
          </a:p>
          <a:p>
            <a:pPr>
              <a:spcAft>
                <a:spcPts val="600"/>
              </a:spcAft>
            </a:pPr>
            <a:r>
              <a:rPr sz="1400" b="0">
                <a:solidFill>
                  <a:srgbClr val="0B2B52"/>
                </a:solidFill>
              </a:rPr>
              <a:t>Is the response tied to the binding site?  88 folds, alanine scan:</a:t>
            </a:r>
          </a:p>
          <a:p>
            <a:pPr>
              <a:spcAft>
                <a:spcPts val="600"/>
              </a:spcAft>
            </a:pPr>
            <a:r>
              <a:rPr sz="1400" b="0">
                <a:solidFill>
                  <a:srgbClr val="0B2B52"/>
                </a:solidFill>
              </a:rPr>
              <a:t>•  interface→Ala 36.77  vs  surface→Ala 38.62   diff −1.84, p = 0.244 — right direction, not significant</a:t>
            </a:r>
          </a:p>
          <a:p>
            <a:pPr>
              <a:spcAft>
                <a:spcPts val="600"/>
              </a:spcAft>
            </a:pPr>
            <a:r>
              <a:rPr sz="1400" b="0">
                <a:solidFill>
                  <a:srgbClr val="0B2B52"/>
                </a:solidFill>
              </a:rPr>
              <a:t>•  80% power would need 123 receptors; every arm drops 7–12 pLDDT, so both may sit near a floor.</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This QUALIFIES slide 19. Half the pooled signal is peptide foldability, which slide 19 did not separate. What stands: the receptor responds to which peptide it is given. Not established: that the response is localised to the binding 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
        <p:nvSpPr>
          <p:cNvPr id="9" name="Rounded Rectangle 8"/>
          <p:cNvSpPr/>
          <p:nvPr/>
        </p:nvSpPr>
        <p:spPr>
          <a:xfrm>
            <a:off x="548640" y="54864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Effects normalised by the run-to-run noise of Section 7.5 so metrics on different scales compare. DeCAF vs Boltz-1 isolates few-step training; the Boltz-2 arm ran on CPU, the others on MPS.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88720"/>
            <a:ext cx="11155680" cy="1005840"/>
          </a:xfrm>
          <a:prstGeom prst="rect">
            <a:avLst/>
          </a:prstGeom>
          <a:noFill/>
        </p:spPr>
        <p:txBody>
          <a:bodyPr wrap="square">
            <a:spAutoFit/>
          </a:bodyPr>
          <a:lstStyle/>
          <a:p>
            <a:pPr>
              <a:spcAft>
                <a:spcPts val="600"/>
              </a:spcAft>
            </a:pPr>
            <a:r>
              <a:rPr sz="1500" b="0">
                <a:solidFill>
                  <a:srgbClr val="0B2B52"/>
                </a:solidFill>
              </a:rPr>
              <a:t>22 receptors released after Boltz-1's 2021-09-30 training cutoff, screened identically,</a:t>
            </a:r>
          </a:p>
          <a:p>
            <a:pPr>
              <a:spcAft>
                <a:spcPts val="600"/>
              </a:spcAft>
            </a:pPr>
            <a:r>
              <a:rPr sz="1500" b="0">
                <a:solidFill>
                  <a:srgbClr val="0B2B52"/>
                </a:solidFill>
              </a:rPr>
              <a:t>decoys drawn from within the held-out set. Folded three times on DeCAF.</a:t>
            </a:r>
          </a:p>
        </p:txBody>
      </p:sp>
      <p:sp>
        <p:nvSpPr>
          <p:cNvPr id="8" name="Rounded Rectangle 7"/>
          <p:cNvSpPr/>
          <p:nvPr/>
        </p:nvSpPr>
        <p:spPr>
          <a:xfrm>
            <a:off x="548640" y="201168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201168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201168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Both readouts retain roughly half — interface pLDDT 41%, ipTM 52%.</a:t>
            </a:r>
          </a:p>
          <a:p>
            <a:pPr>
              <a:spcAft>
                <a:spcPts val="600"/>
              </a:spcAft>
            </a:pPr>
            <a:r>
              <a:rPr sz="1500" b="0">
                <a:solidFill>
                  <a:srgbClr val="0B2B52"/>
                </a:solidFill>
              </a:rPr>
              <a:t>Neither can be shown to degrade more than the other on this panel.</a:t>
            </a:r>
          </a:p>
        </p:txBody>
      </p:sp>
      <p:sp>
        <p:nvSpPr>
          <p:cNvPr id="12" name="Rounded Rectangle 11"/>
          <p:cNvSpPr/>
          <p:nvPr/>
        </p:nvSpPr>
        <p:spPr>
          <a:xfrm>
            <a:off x="548640" y="461772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screening figure quoted without saying whether the complexes were in training is about twice as good as it should be.</a:t>
            </a:r>
          </a:p>
        </p:txBody>
      </p:sp>
      <p:sp>
        <p:nvSpPr>
          <p:cNvPr id="13" name="Rounded Rectangle 12"/>
          <p:cNvSpPr/>
          <p:nvPr/>
        </p:nvSpPr>
        <p:spPr>
          <a:xfrm>
            <a:off x="548640" y="56692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homology-decontaminated, and cannot be: 0 of 22 held-out receptors clear 30% identity to the pre-cutoff PDB (median 1.000), and neither does a random sample of the whole candidate pool. What the split isolates is complex-level novelty with receptor familiarity held constant.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Draws — and Two Retracted Claims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Folds are unseeded, so re-running the identical panel gives an independent draw.</a:t>
            </a:r>
          </a:p>
        </p:txBody>
      </p:sp>
      <p:graphicFrame>
        <p:nvGraphicFramePr>
          <p:cNvPr id="8" name="Table 7"/>
          <p:cNvGraphicFramePr>
            <a:graphicFrameLocks noGrp="1"/>
          </p:cNvGraphicFramePr>
          <p:nvPr/>
        </p:nvGraphicFramePr>
        <p:xfrm>
          <a:off x="548640" y="1783080"/>
          <a:ext cx="11155680" cy="1371600"/>
        </p:xfrm>
        <a:graphic>
          <a:graphicData uri="http://schemas.openxmlformats.org/drawingml/2006/table">
            <a:tbl>
              <a:tblPr firstRow="1" bandRow="1">
                <a:tableStyleId>{5C22544A-7EE6-4342-B048-85BDC9FD1C3A}</a:tableStyleId>
              </a:tblPr>
              <a:tblGrid>
                <a:gridCol w="4023360"/>
                <a:gridCol w="1554480"/>
                <a:gridCol w="1554480"/>
                <a:gridCol w="1554480"/>
                <a:gridCol w="2468880"/>
              </a:tblGrid>
              <a:tr h="457200">
                <a:tc>
                  <a:txBody>
                    <a:bodyPr/>
                    <a:lstStyle/>
                    <a:p>
                      <a:r>
                        <a:rPr sz="1300" b="1">
                          <a:solidFill>
                            <a:srgbClr val="0B2B52"/>
                          </a:solidFill>
                        </a:rPr>
                        <a:t>Cognate rank among its own decoys (chance 2.50)</a:t>
                      </a:r>
                    </a:p>
                  </a:txBody>
                  <a:tcPr/>
                </a:tc>
                <a:tc>
                  <a:txBody>
                    <a:bodyPr/>
                    <a:lstStyle/>
                    <a:p>
                      <a:r>
                        <a:rPr sz="1300" b="1">
                          <a:solidFill>
                            <a:srgbClr val="0B2B52"/>
                          </a:solidFill>
                        </a:rPr>
                        <a:t>draw 1</a:t>
                      </a:r>
                    </a:p>
                  </a:txBody>
                  <a:tcPr/>
                </a:tc>
                <a:tc>
                  <a:txBody>
                    <a:bodyPr/>
                    <a:lstStyle/>
                    <a:p>
                      <a:r>
                        <a:rPr sz="1300" b="1">
                          <a:solidFill>
                            <a:srgbClr val="0B2B52"/>
                          </a:solidFill>
                        </a:rPr>
                        <a:t>draw 2</a:t>
                      </a:r>
                    </a:p>
                  </a:txBody>
                  <a:tcPr/>
                </a:tc>
                <a:tc>
                  <a:txBody>
                    <a:bodyPr/>
                    <a:lstStyle/>
                    <a:p>
                      <a:r>
                        <a:rPr sz="1300" b="1">
                          <a:solidFill>
                            <a:srgbClr val="0B2B52"/>
                          </a:solidFill>
                        </a:rPr>
                        <a:t>draw 3</a:t>
                      </a:r>
                    </a:p>
                  </a:txBody>
                  <a:tcPr/>
                </a:tc>
                <a:tc>
                  <a:txBody>
                    <a:bodyPr/>
                    <a:lstStyle/>
                    <a:p>
                      <a:r>
                        <a:rPr sz="1300" b="1">
                          <a:solidFill>
                            <a:srgbClr val="0B2B52"/>
                          </a:solidFill>
                        </a:rPr>
                        <a:t>mean</a:t>
                      </a:r>
                    </a:p>
                  </a:txBody>
                  <a:tcPr/>
                </a:tc>
              </a:tr>
              <a:tr h="457200">
                <a:tc>
                  <a:txBody>
                    <a:bodyPr/>
                    <a:lstStyle/>
                    <a:p>
                      <a:r>
                        <a:rPr sz="1300" b="0">
                          <a:solidFill>
                            <a:srgbClr val="0B2B52"/>
                          </a:solidFill>
                        </a:rPr>
                        <a:t>ipTM</a:t>
                      </a:r>
                    </a:p>
                  </a:txBody>
                  <a:tcPr/>
                </a:tc>
                <a:tc>
                  <a:txBody>
                    <a:bodyPr/>
                    <a:lstStyle/>
                    <a:p>
                      <a:r>
                        <a:rPr sz="1300" b="0">
                          <a:solidFill>
                            <a:srgbClr val="0B2B52"/>
                          </a:solidFill>
                        </a:rPr>
                        <a:t>1.64</a:t>
                      </a:r>
                    </a:p>
                  </a:txBody>
                  <a:tcPr/>
                </a:tc>
                <a:tc>
                  <a:txBody>
                    <a:bodyPr/>
                    <a:lstStyle/>
                    <a:p>
                      <a:r>
                        <a:rPr sz="1300" b="0">
                          <a:solidFill>
                            <a:srgbClr val="0B2B52"/>
                          </a:solidFill>
                        </a:rPr>
                        <a:t>1.50</a:t>
                      </a:r>
                    </a:p>
                  </a:txBody>
                  <a:tcPr/>
                </a:tc>
                <a:tc>
                  <a:txBody>
                    <a:bodyPr/>
                    <a:lstStyle/>
                    <a:p>
                      <a:r>
                        <a:rPr sz="1300" b="0">
                          <a:solidFill>
                            <a:srgbClr val="0B2B52"/>
                          </a:solidFill>
                        </a:rPr>
                        <a:t>1.86</a:t>
                      </a:r>
                    </a:p>
                  </a:txBody>
                  <a:tcPr/>
                </a:tc>
                <a:tc>
                  <a:txBody>
                    <a:bodyPr/>
                    <a:lstStyle/>
                    <a:p>
                      <a:r>
                        <a:rPr sz="1300" b="0">
                          <a:solidFill>
                            <a:srgbClr val="0B2B52"/>
                          </a:solidFill>
                        </a:rPr>
                        <a:t>1.73  (p = 0.007)</a:t>
                      </a:r>
                    </a:p>
                  </a:txBody>
                  <a:tcPr/>
                </a:tc>
              </a:tr>
              <a:tr h="457200">
                <a:tc>
                  <a:txBody>
                    <a:bodyPr/>
                    <a:lstStyle/>
                    <a:p>
                      <a:r>
                        <a:rPr sz="1300" b="0">
                          <a:solidFill>
                            <a:srgbClr val="0B2B52"/>
                          </a:solidFill>
                        </a:rPr>
                        <a:t>interface pLDDT</a:t>
                      </a:r>
                    </a:p>
                  </a:txBody>
                  <a:tcPr/>
                </a:tc>
                <a:tc>
                  <a:txBody>
                    <a:bodyPr/>
                    <a:lstStyle/>
                    <a:p>
                      <a:r>
                        <a:rPr sz="1300" b="0">
                          <a:solidFill>
                            <a:srgbClr val="0B2B52"/>
                          </a:solidFill>
                        </a:rPr>
                        <a:t>2.09</a:t>
                      </a:r>
                    </a:p>
                  </a:txBody>
                  <a:tcPr/>
                </a:tc>
                <a:tc>
                  <a:txBody>
                    <a:bodyPr/>
                    <a:lstStyle/>
                    <a:p>
                      <a:r>
                        <a:rPr sz="1300" b="0">
                          <a:solidFill>
                            <a:srgbClr val="0B2B52"/>
                          </a:solidFill>
                        </a:rPr>
                        <a:t>2.05</a:t>
                      </a:r>
                    </a:p>
                  </a:txBody>
                  <a:tcPr/>
                </a:tc>
                <a:tc>
                  <a:txBody>
                    <a:bodyPr/>
                    <a:lstStyle/>
                    <a:p>
                      <a:r>
                        <a:rPr sz="1300" b="0">
                          <a:solidFill>
                            <a:srgbClr val="0B2B52"/>
                          </a:solidFill>
                        </a:rPr>
                        <a:t>1.73</a:t>
                      </a:r>
                    </a:p>
                  </a:txBody>
                  <a:tcPr/>
                </a:tc>
                <a:tc>
                  <a:txBody>
                    <a:bodyPr/>
                    <a:lstStyle/>
                    <a:p>
                      <a:r>
                        <a:rPr sz="1300" b="0">
                          <a:solidFill>
                            <a:srgbClr val="0B2B52"/>
                          </a:solidFill>
                        </a:rPr>
                        <a:t>1.91  (p = 0.020)</a:t>
                      </a:r>
                    </a:p>
                  </a:txBody>
                  <a:tcPr/>
                </a:tc>
              </a:tr>
            </a:tbl>
          </a:graphicData>
        </a:graphic>
      </p:graphicFrame>
      <p:sp>
        <p:nvSpPr>
          <p:cNvPr id="9" name="TextBox 8"/>
          <p:cNvSpPr txBox="1"/>
          <p:nvPr/>
        </p:nvSpPr>
        <p:spPr>
          <a:xfrm>
            <a:off x="548640" y="3429000"/>
            <a:ext cx="11155680" cy="1371600"/>
          </a:xfrm>
          <a:prstGeom prst="rect">
            <a:avLst/>
          </a:prstGeom>
          <a:noFill/>
        </p:spPr>
        <p:txBody>
          <a:bodyPr wrap="square">
            <a:spAutoFit/>
          </a:bodyPr>
          <a:lstStyle/>
          <a:p>
            <a:pPr>
              <a:spcAft>
                <a:spcPts val="600"/>
              </a:spcAft>
            </a:pPr>
            <a:r>
              <a:rPr sz="1500" b="0">
                <a:solidFill>
                  <a:srgbClr val="0B2B52"/>
                </a:solidFill>
              </a:rPr>
              <a:t>Draw 1 alone said interface pLDDT collapses held out.</a:t>
            </a:r>
          </a:p>
          <a:p>
            <a:pPr>
              <a:spcAft>
                <a:spcPts val="600"/>
              </a:spcAft>
            </a:pPr>
            <a:r>
              <a:rPr sz="1500" b="0">
                <a:solidFill>
                  <a:srgbClr val="0B2B52"/>
                </a:solidFill>
              </a:rPr>
              <a:t>Draws 1 and 2 said ipTM specifically survives and interface pLDDT specifically fails.</a:t>
            </a:r>
          </a:p>
          <a:p>
            <a:pPr>
              <a:spcAft>
                <a:spcPts val="600"/>
              </a:spcAft>
            </a:pPr>
            <a:r>
              <a:rPr sz="1500" b="0">
                <a:solidFill>
                  <a:srgbClr val="0B2B52"/>
                </a:solidFill>
              </a:rPr>
              <a:t>Draw 3 reverses the ordering. Averaged, the two differ by less than one draw's spread.</a:t>
            </a:r>
          </a:p>
        </p:txBody>
      </p:sp>
      <p:sp>
        <p:nvSpPr>
          <p:cNvPr id="10" name="Rounded Rectangle 9"/>
          <p:cNvSpPr/>
          <p:nvPr/>
        </p:nvSpPr>
        <p:spPr>
          <a:xfrm>
            <a:off x="548640" y="48463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Both claims withdrawn. Section 7.5's own finding, turned on this project's headline — twice.</a:t>
            </a:r>
          </a:p>
        </p:txBody>
      </p:sp>
      <p:sp>
        <p:nvSpPr>
          <p:cNvPr id="11" name="Rounded Rectangle 10"/>
          <p:cNvSpPr/>
          <p:nvPr/>
        </p:nvSpPr>
        <p:spPr>
          <a:xfrm>
            <a:off x="548640" y="58978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methodological lesson is sharper than the scientific one: a single unseeded fold is not a measurement, and on this evidence neither are two.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
        <p:nvSpPr>
          <p:cNvPr id="12" name="Rounded Rectangle 11"/>
          <p:cNvSpPr/>
          <p:nvPr/>
        </p:nvSpPr>
        <p:spPr>
          <a:xfrm>
            <a:off x="548640" y="59893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
        <p:nvSpPr>
          <p:cNvPr id="13" name="Rounded Rectangle 12"/>
          <p:cNvSpPr/>
          <p:nvPr/>
        </p:nvSpPr>
        <p:spPr>
          <a:xfrm>
            <a:off x="548640" y="56235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
        <p:nvSpPr>
          <p:cNvPr id="11" name="Rounded Rectangle 10"/>
          <p:cNvSpPr/>
          <p:nvPr/>
        </p:nvSpPr>
        <p:spPr>
          <a:xfrm>
            <a:off x="548640" y="59436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143000"/>
            <a:ext cx="11155680" cy="1005840"/>
          </a:xfrm>
          <a:prstGeom prst="rect">
            <a:avLst/>
          </a:prstGeom>
          <a:noFill/>
        </p:spPr>
        <p:txBody>
          <a:bodyPr wrap="square">
            <a:spAutoFit/>
          </a:bodyPr>
          <a:lstStyle/>
          <a:p>
            <a:pPr>
              <a:spcAft>
                <a:spcPts val="600"/>
              </a:spcAft>
            </a:pPr>
            <a:r>
              <a:rPr sz="1500" b="0">
                <a:solidFill>
                  <a:srgbClr val="0B2B52"/>
                </a:solidFill>
              </a:rPr>
              <a:t>Every result so far: 10 sampling steps of an intended 200, 1 recycling of 3, MSA 32 of full.</a:t>
            </a:r>
          </a:p>
          <a:p>
            <a:pPr>
              <a:spcAft>
                <a:spcPts val="600"/>
              </a:spcAft>
            </a:pPr>
            <a:r>
              <a:rPr sz="1500" b="0">
                <a:solidFill>
                  <a:srgbClr val="0B2B52"/>
                </a:solidFill>
              </a:rPr>
              <a:t>Section 1.5 called this “stated, not resolved”. Same model, same device, settings raised:</a:t>
            </a:r>
          </a:p>
        </p:txBody>
      </p:sp>
      <p:graphicFrame>
        <p:nvGraphicFramePr>
          <p:cNvPr id="8" name="Table 7"/>
          <p:cNvGraphicFramePr>
            <a:graphicFrameLocks noGrp="1"/>
          </p:cNvGraphicFramePr>
          <p:nvPr/>
        </p:nvGraphicFramePr>
        <p:xfrm>
          <a:off x="548640" y="1965960"/>
          <a:ext cx="11155680" cy="1536192"/>
        </p:xfrm>
        <a:graphic>
          <a:graphicData uri="http://schemas.openxmlformats.org/drawingml/2006/table">
            <a:tbl>
              <a:tblPr firstRow="1" bandRow="1">
                <a:tableStyleId>{5C22544A-7EE6-4342-B048-85BDC9FD1C3A}</a:tableStyleId>
              </a:tblPr>
              <a:tblGrid>
                <a:gridCol w="3017520"/>
                <a:gridCol w="2834640"/>
                <a:gridCol w="2834640"/>
                <a:gridCol w="2468880"/>
              </a:tblGrid>
              <a:tr h="384048">
                <a:tc>
                  <a:txBody>
                    <a:bodyPr/>
                    <a:lstStyle/>
                    <a:p>
                      <a:r>
                        <a:rPr sz="1300" b="1">
                          <a:solidFill>
                            <a:srgbClr val="0B2B52"/>
                          </a:solidFill>
                        </a:rPr>
                        <a:t>cognate − scramble</a:t>
                      </a:r>
                    </a:p>
                  </a:txBody>
                  <a:tcPr/>
                </a:tc>
                <a:tc>
                  <a:txBody>
                    <a:bodyPr/>
                    <a:lstStyle/>
                    <a:p>
                      <a:r>
                        <a:rPr sz="1300" b="1">
                          <a:solidFill>
                            <a:srgbClr val="0B2B52"/>
                          </a:solidFill>
                        </a:rPr>
                        <a:t>reduced (10 steps)</a:t>
                      </a:r>
                    </a:p>
                  </a:txBody>
                  <a:tcPr/>
                </a:tc>
                <a:tc>
                  <a:txBody>
                    <a:bodyPr/>
                    <a:lstStyle/>
                    <a:p>
                      <a:r>
                        <a:rPr sz="1300" b="1">
                          <a:solidFill>
                            <a:srgbClr val="0B2B52"/>
                          </a:solidFill>
                        </a:rPr>
                        <a:t>full (200 steps)</a:t>
                      </a:r>
                    </a:p>
                  </a:txBody>
                  <a:tcPr/>
                </a:tc>
                <a:tc>
                  <a:txBody>
                    <a:bodyPr/>
                    <a:lstStyle/>
                    <a:p>
                      <a:r>
                        <a:rPr sz="1300" b="1">
                          <a:solidFill>
                            <a:srgbClr val="0B2B52"/>
                          </a:solidFill>
                        </a:rPr>
                        <a:t>Cohen's d</a:t>
                      </a:r>
                    </a:p>
                  </a:txBody>
                  <a:tcPr/>
                </a:tc>
              </a:tr>
              <a:tr h="384048">
                <a:tc>
                  <a:txBody>
                    <a:bodyPr/>
                    <a:lstStyle/>
                    <a:p>
                      <a:r>
                        <a:rPr sz="1300" b="1">
                          <a:solidFill>
                            <a:srgbClr val="0B2B52"/>
                          </a:solidFill>
                        </a:rPr>
                        <a:t>ipTM</a:t>
                      </a:r>
                    </a:p>
                  </a:txBody>
                  <a:tcPr/>
                </a:tc>
                <a:tc>
                  <a:txBody>
                    <a:bodyPr/>
                    <a:lstStyle/>
                    <a:p>
                      <a:r>
                        <a:rPr sz="1300" b="0">
                          <a:solidFill>
                            <a:srgbClr val="0B2B52"/>
                          </a:solidFill>
                        </a:rPr>
                        <a:t>+0.039  (p 0.004)</a:t>
                      </a:r>
                    </a:p>
                  </a:txBody>
                  <a:tcPr/>
                </a:tc>
                <a:tc>
                  <a:txBody>
                    <a:bodyPr/>
                    <a:lstStyle/>
                    <a:p>
                      <a:r>
                        <a:rPr sz="1300" b="0">
                          <a:solidFill>
                            <a:srgbClr val="0B2B52"/>
                          </a:solidFill>
                        </a:rPr>
                        <a:t>+0.287  (p &lt; 1e-5)</a:t>
                      </a:r>
                    </a:p>
                  </a:txBody>
                  <a:tcPr/>
                </a:tc>
                <a:tc>
                  <a:txBody>
                    <a:bodyPr/>
                    <a:lstStyle/>
                    <a:p>
                      <a:r>
                        <a:rPr sz="1300" b="0">
                          <a:solidFill>
                            <a:srgbClr val="0B2B52"/>
                          </a:solidFill>
                        </a:rPr>
                        <a:t>0.45 → 1.25</a:t>
                      </a:r>
                    </a:p>
                  </a:txBody>
                  <a:tcPr/>
                </a:tc>
              </a:tr>
              <a:tr h="384048">
                <a:tc>
                  <a:txBody>
                    <a:bodyPr/>
                    <a:lstStyle/>
                    <a:p>
                      <a:r>
                        <a:rPr sz="1300" b="1">
                          <a:solidFill>
                            <a:srgbClr val="0B2B52"/>
                          </a:solidFill>
                        </a:rPr>
                        <a:t>interface pLDDT</a:t>
                      </a:r>
                    </a:p>
                  </a:txBody>
                  <a:tcPr/>
                </a:tc>
                <a:tc>
                  <a:txBody>
                    <a:bodyPr/>
                    <a:lstStyle/>
                    <a:p>
                      <a:r>
                        <a:rPr sz="1300" b="0">
                          <a:solidFill>
                            <a:srgbClr val="0B2B52"/>
                          </a:solidFill>
                        </a:rPr>
                        <a:t>+1.54  (p 0.067)</a:t>
                      </a:r>
                    </a:p>
                  </a:txBody>
                  <a:tcPr/>
                </a:tc>
                <a:tc>
                  <a:txBody>
                    <a:bodyPr/>
                    <a:lstStyle/>
                    <a:p>
                      <a:r>
                        <a:rPr sz="1300" b="0">
                          <a:solidFill>
                            <a:srgbClr val="0B2B52"/>
                          </a:solidFill>
                        </a:rPr>
                        <a:t>+11.85  (p &lt; 1e-5)</a:t>
                      </a:r>
                    </a:p>
                  </a:txBody>
                  <a:tcPr/>
                </a:tc>
                <a:tc>
                  <a:txBody>
                    <a:bodyPr/>
                    <a:lstStyle/>
                    <a:p>
                      <a:r>
                        <a:rPr sz="1300" b="0">
                          <a:solidFill>
                            <a:srgbClr val="0B2B52"/>
                          </a:solidFill>
                        </a:rPr>
                        <a:t>0.28 → 1.52</a:t>
                      </a:r>
                    </a:p>
                  </a:txBody>
                  <a:tcPr/>
                </a:tc>
              </a:tr>
              <a:tr h="384048">
                <a:tc>
                  <a:txBody>
                    <a:bodyPr/>
                    <a:lstStyle/>
                    <a:p>
                      <a:r>
                        <a:rPr sz="1300" b="1">
                          <a:solidFill>
                            <a:srgbClr val="0B2B52"/>
                          </a:solidFill>
                        </a:rPr>
                        <a:t>receptor side</a:t>
                      </a:r>
                    </a:p>
                  </a:txBody>
                  <a:tcPr/>
                </a:tc>
                <a:tc>
                  <a:txBody>
                    <a:bodyPr/>
                    <a:lstStyle/>
                    <a:p>
                      <a:r>
                        <a:rPr sz="1300" b="0">
                          <a:solidFill>
                            <a:srgbClr val="0B2B52"/>
                          </a:solidFill>
                        </a:rPr>
                        <a:t>+0.71  (p 0.428)</a:t>
                      </a:r>
                    </a:p>
                  </a:txBody>
                  <a:tcPr/>
                </a:tc>
                <a:tc>
                  <a:txBody>
                    <a:bodyPr/>
                    <a:lstStyle/>
                    <a:p>
                      <a:r>
                        <a:rPr sz="1300" b="0">
                          <a:solidFill>
                            <a:srgbClr val="0B2B52"/>
                          </a:solidFill>
                        </a:rPr>
                        <a:t>+5.13  (p &lt; 1e-5)</a:t>
                      </a:r>
                    </a:p>
                  </a:txBody>
                  <a:tcPr/>
                </a:tc>
                <a:tc>
                  <a:txBody>
                    <a:bodyPr/>
                    <a:lstStyle/>
                    <a:p>
                      <a:r>
                        <a:rPr sz="1300" b="0">
                          <a:solidFill>
                            <a:srgbClr val="0B2B52"/>
                          </a:solidFill>
                        </a:rPr>
                        <a:t>0.12 → 1.45</a:t>
                      </a:r>
                    </a:p>
                  </a:txBody>
                  <a:tcPr/>
                </a:tc>
              </a:tr>
            </a:tbl>
          </a:graphicData>
        </a:graphic>
      </p:graphicFrame>
      <p:sp>
        <p:nvSpPr>
          <p:cNvPr id="9" name="TextBox 8"/>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Raw effects 7× larger; scale-free 2.7–12×. Larger for 21 of 22 receptors, paired p ≤ 0.001.</a:t>
            </a:r>
          </a:p>
          <a:p>
            <a:pPr>
              <a:spcAft>
                <a:spcPts val="600"/>
              </a:spcAft>
            </a:pPr>
            <a:r>
              <a:rPr sz="1500" b="0">
                <a:solidFill>
                  <a:srgbClr val="0B2B52"/>
                </a:solidFill>
              </a:rPr>
              <a:t>Two readouts change verdict: interface pLDDT 0.067 → &lt;1e-5, receptor side 0.428 → &lt;1e-5.</a:t>
            </a:r>
          </a:p>
        </p:txBody>
      </p:sp>
      <p:sp>
        <p:nvSpPr>
          <p:cNvPr id="10" name="Rounded Rectangle 9"/>
          <p:cNvSpPr/>
          <p:nvPr/>
        </p:nvSpPr>
        <p:spPr>
          <a:xfrm>
            <a:off x="548640" y="46177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full-settings fold takes 106 s on this laptop. The obstacle was the device, not the settings.</a:t>
            </a:r>
          </a:p>
        </p:txBody>
      </p:sp>
      <p:sp>
        <p:nvSpPr>
          <p:cNvPr id="11" name="Rounded Rectangle 10"/>
          <p:cNvSpPr/>
          <p:nvPr/>
        </p:nvSpPr>
        <p:spPr>
          <a:xfrm>
            <a:off x="548640" y="56692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And the Practical Conclusion Inverts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115568"/>
            <a:ext cx="11155680" cy="640080"/>
          </a:xfrm>
          <a:prstGeom prst="rect">
            <a:avLst/>
          </a:prstGeom>
          <a:noFill/>
        </p:spPr>
        <p:txBody>
          <a:bodyPr wrap="square">
            <a:spAutoFit/>
          </a:bodyPr>
          <a:lstStyle/>
          <a:p>
            <a:pPr>
              <a:spcAft>
                <a:spcPts val="600"/>
              </a:spcAft>
            </a:pPr>
            <a:r>
              <a:rPr sz="1500" b="0">
                <a:solidFill>
                  <a:srgbClr val="0B2B52"/>
                </a:solidFill>
              </a:rPr>
              <a:t>Ranking a cognate against its own decoys — the question a screen actually asks:</a:t>
            </a:r>
          </a:p>
        </p:txBody>
      </p:sp>
      <p:graphicFrame>
        <p:nvGraphicFramePr>
          <p:cNvPr id="8" name="Table 7"/>
          <p:cNvGraphicFramePr>
            <a:graphicFrameLocks noGrp="1"/>
          </p:cNvGraphicFramePr>
          <p:nvPr/>
        </p:nvGraphicFramePr>
        <p:xfrm>
          <a:off x="548640" y="1783080"/>
          <a:ext cx="11155680" cy="1536192"/>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84048">
                <a:tc>
                  <a:txBody>
                    <a:bodyPr/>
                    <a:lstStyle/>
                    <a:p>
                      <a:r>
                        <a:rPr sz="1300" b="1">
                          <a:solidFill>
                            <a:srgbClr val="0B2B52"/>
                          </a:solidFill>
                        </a:rPr>
                        <a:t> </a:t>
                      </a:r>
                    </a:p>
                  </a:txBody>
                  <a:tcPr/>
                </a:tc>
                <a:tc>
                  <a:txBody>
                    <a:bodyPr/>
                    <a:lstStyle/>
                    <a:p>
                      <a:r>
                        <a:rPr sz="1300" b="1">
                          <a:solidFill>
                            <a:srgbClr val="0B2B52"/>
                          </a:solidFill>
                        </a:rPr>
                        <a:t>reduced rank</a:t>
                      </a:r>
                    </a:p>
                  </a:txBody>
                  <a:tcPr/>
                </a:tc>
                <a:tc>
                  <a:txBody>
                    <a:bodyPr/>
                    <a:lstStyle/>
                    <a:p>
                      <a:r>
                        <a:rPr sz="1300" b="1">
                          <a:solidFill>
                            <a:srgbClr val="0B2B52"/>
                          </a:solidFill>
                        </a:rPr>
                        <a:t>full rank</a:t>
                      </a:r>
                    </a:p>
                  </a:txBody>
                  <a:tcPr/>
                </a:tc>
                <a:tc>
                  <a:txBody>
                    <a:bodyPr/>
                    <a:lstStyle/>
                    <a:p>
                      <a:r>
                        <a:rPr sz="1300" b="1">
                          <a:solidFill>
                            <a:srgbClr val="0B2B52"/>
                          </a:solidFill>
                        </a:rPr>
                        <a:t>first (of 22)</a:t>
                      </a:r>
                    </a:p>
                  </a:txBody>
                  <a:tcPr/>
                </a:tc>
                <a:tc>
                  <a:txBody>
                    <a:bodyPr/>
                    <a:lstStyle/>
                    <a:p>
                      <a:r>
                        <a:rPr sz="1300" b="1">
                          <a:solidFill>
                            <a:srgbClr val="0B2B52"/>
                          </a:solidFill>
                        </a:rPr>
                        <a:t>AUC within</a:t>
                      </a:r>
                    </a:p>
                  </a:txBody>
                  <a:tcPr/>
                </a:tc>
              </a:tr>
              <a:tr h="384048">
                <a:tc>
                  <a:txBody>
                    <a:bodyPr/>
                    <a:lstStyle/>
                    <a:p>
                      <a:r>
                        <a:rPr sz="1300" b="1">
                          <a:solidFill>
                            <a:srgbClr val="0B2B52"/>
                          </a:solidFill>
                        </a:rPr>
                        <a:t>ipTM</a:t>
                      </a:r>
                    </a:p>
                  </a:txBody>
                  <a:tcPr/>
                </a:tc>
                <a:tc>
                  <a:txBody>
                    <a:bodyPr/>
                    <a:lstStyle/>
                    <a:p>
                      <a:r>
                        <a:rPr sz="1300" b="0">
                          <a:solidFill>
                            <a:srgbClr val="0B2B52"/>
                          </a:solidFill>
                        </a:rPr>
                        <a:t>1.86</a:t>
                      </a:r>
                    </a:p>
                  </a:txBody>
                  <a:tcPr/>
                </a:tc>
                <a:tc>
                  <a:txBody>
                    <a:bodyPr/>
                    <a:lstStyle/>
                    <a:p>
                      <a:r>
                        <a:rPr sz="1300" b="0">
                          <a:solidFill>
                            <a:srgbClr val="0B2B52"/>
                          </a:solidFill>
                        </a:rPr>
                        <a:t>1.41</a:t>
                      </a:r>
                    </a:p>
                  </a:txBody>
                  <a:tcPr/>
                </a:tc>
                <a:tc>
                  <a:txBody>
                    <a:bodyPr/>
                    <a:lstStyle/>
                    <a:p>
                      <a:r>
                        <a:rPr sz="1300" b="0">
                          <a:solidFill>
                            <a:srgbClr val="0B2B52"/>
                          </a:solidFill>
                        </a:rPr>
                        <a:t>11 → 15</a:t>
                      </a:r>
                    </a:p>
                  </a:txBody>
                  <a:tcPr/>
                </a:tc>
                <a:tc>
                  <a:txBody>
                    <a:bodyPr/>
                    <a:lstStyle/>
                    <a:p>
                      <a:r>
                        <a:rPr sz="1300" b="0">
                          <a:solidFill>
                            <a:srgbClr val="0B2B52"/>
                          </a:solidFill>
                        </a:rPr>
                        <a:t>0.684 → 0.908</a:t>
                      </a:r>
                    </a:p>
                  </a:txBody>
                  <a:tcPr/>
                </a:tc>
              </a:tr>
              <a:tr h="384048">
                <a:tc>
                  <a:txBody>
                    <a:bodyPr/>
                    <a:lstStyle/>
                    <a:p>
                      <a:r>
                        <a:rPr sz="1300" b="1">
                          <a:solidFill>
                            <a:srgbClr val="0B2B52"/>
                          </a:solidFill>
                        </a:rPr>
                        <a:t>interface pLDDT</a:t>
                      </a:r>
                    </a:p>
                  </a:txBody>
                  <a:tcPr/>
                </a:tc>
                <a:tc>
                  <a:txBody>
                    <a:bodyPr/>
                    <a:lstStyle/>
                    <a:p>
                      <a:r>
                        <a:rPr sz="1300" b="0">
                          <a:solidFill>
                            <a:srgbClr val="0B2B52"/>
                          </a:solidFill>
                        </a:rPr>
                        <a:t>1.91</a:t>
                      </a:r>
                    </a:p>
                  </a:txBody>
                  <a:tcPr/>
                </a:tc>
                <a:tc>
                  <a:txBody>
                    <a:bodyPr/>
                    <a:lstStyle/>
                    <a:p>
                      <a:r>
                        <a:rPr sz="1300" b="0">
                          <a:solidFill>
                            <a:srgbClr val="0B2B52"/>
                          </a:solidFill>
                        </a:rPr>
                        <a:t>1.27</a:t>
                      </a:r>
                    </a:p>
                  </a:txBody>
                  <a:tcPr/>
                </a:tc>
                <a:tc>
                  <a:txBody>
                    <a:bodyPr/>
                    <a:lstStyle/>
                    <a:p>
                      <a:r>
                        <a:rPr sz="1300" b="0">
                          <a:solidFill>
                            <a:srgbClr val="0B2B52"/>
                          </a:solidFill>
                        </a:rPr>
                        <a:t>9 → 17</a:t>
                      </a:r>
                    </a:p>
                  </a:txBody>
                  <a:tcPr/>
                </a:tc>
                <a:tc>
                  <a:txBody>
                    <a:bodyPr/>
                    <a:lstStyle/>
                    <a:p>
                      <a:r>
                        <a:rPr sz="1300" b="0">
                          <a:solidFill>
                            <a:srgbClr val="0B2B52"/>
                          </a:solidFill>
                        </a:rPr>
                        <a:t>0.640 → 0.943</a:t>
                      </a:r>
                    </a:p>
                  </a:txBody>
                  <a:tcPr/>
                </a:tc>
              </a:tr>
              <a:tr h="384048">
                <a:tc>
                  <a:txBody>
                    <a:bodyPr/>
                    <a:lstStyle/>
                    <a:p>
                      <a:r>
                        <a:rPr sz="1300" b="1">
                          <a:solidFill>
                            <a:srgbClr val="0B2B52"/>
                          </a:solidFill>
                        </a:rPr>
                        <a:t>receptor side</a:t>
                      </a:r>
                    </a:p>
                  </a:txBody>
                  <a:tcPr/>
                </a:tc>
                <a:tc>
                  <a:txBody>
                    <a:bodyPr/>
                    <a:lstStyle/>
                    <a:p>
                      <a:r>
                        <a:rPr sz="1300" b="0">
                          <a:solidFill>
                            <a:srgbClr val="0B2B52"/>
                          </a:solidFill>
                        </a:rPr>
                        <a:t>2.05</a:t>
                      </a:r>
                    </a:p>
                  </a:txBody>
                  <a:tcPr/>
                </a:tc>
                <a:tc>
                  <a:txBody>
                    <a:bodyPr/>
                    <a:lstStyle/>
                    <a:p>
                      <a:r>
                        <a:rPr sz="1300" b="0">
                          <a:solidFill>
                            <a:srgbClr val="0B2B52"/>
                          </a:solidFill>
                        </a:rPr>
                        <a:t>1.27</a:t>
                      </a:r>
                    </a:p>
                  </a:txBody>
                  <a:tcPr/>
                </a:tc>
                <a:tc>
                  <a:txBody>
                    <a:bodyPr/>
                    <a:lstStyle/>
                    <a:p>
                      <a:r>
                        <a:rPr sz="1300" b="0">
                          <a:solidFill>
                            <a:srgbClr val="0B2B52"/>
                          </a:solidFill>
                        </a:rPr>
                        <a:t>8 → 17</a:t>
                      </a:r>
                    </a:p>
                  </a:txBody>
                  <a:tcPr/>
                </a:tc>
                <a:tc>
                  <a:txBody>
                    <a:bodyPr/>
                    <a:lstStyle/>
                    <a:p>
                      <a:r>
                        <a:rPr sz="1300" b="0">
                          <a:solidFill>
                            <a:srgbClr val="0B2B52"/>
                          </a:solidFill>
                        </a:rPr>
                        <a:t>0.600 → 0.943</a:t>
                      </a:r>
                    </a:p>
                  </a:txBody>
                  <a:tcPr/>
                </a:tc>
              </a:tr>
            </a:tbl>
          </a:graphicData>
        </a:graphic>
      </p:graphicFrame>
      <p:sp>
        <p:nvSpPr>
          <p:cNvPr id="9" name="Rounded Rectangle 8"/>
          <p:cNvSpPr/>
          <p:nvPr/>
        </p:nvSpPr>
        <p:spPr>
          <a:xfrm>
            <a:off x="548640" y="361188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0" name="Rounded Rectangle 9"/>
          <p:cNvSpPr/>
          <p:nvPr/>
        </p:nvSpPr>
        <p:spPr>
          <a:xfrm>
            <a:off x="4343400" y="361188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1" name="Rounded Rectangle 10"/>
          <p:cNvSpPr/>
          <p:nvPr/>
        </p:nvSpPr>
        <p:spPr>
          <a:xfrm>
            <a:off x="8138160" y="361188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77%</a:t>
            </a:r>
          </a:p>
          <a:p>
            <a:pPr algn="ctr"/>
            <a:r>
              <a:rPr sz="1050">
                <a:solidFill>
                  <a:srgbClr val="FFFFFF"/>
                </a:solidFill>
              </a:rPr>
              <a:t>top-1 accuracy at full settings</a:t>
            </a:r>
          </a:p>
        </p:txBody>
      </p:sp>
      <p:sp>
        <p:nvSpPr>
          <p:cNvPr id="12" name="Rounded Rectangle 11"/>
          <p:cNvSpPr/>
          <p:nvPr/>
        </p:nvSpPr>
        <p:spPr>
          <a:xfrm>
            <a:off x="548640" y="5074920"/>
            <a:ext cx="11155680" cy="11887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400" b="1">
                <a:solidFill>
                  <a:srgbClr val="FFFFFF"/>
                </a:solidFill>
              </a:rPr>
              <a:t>The negative results are properties of the regime, not of the method.</a:t>
            </a:r>
          </a:p>
          <a:p>
            <a:pPr>
              <a:spcAft>
                <a:spcPts val="600"/>
              </a:spcAft>
            </a:pPr>
            <a:r>
              <a:rPr sz="1400" b="1">
                <a:solidFill>
                  <a:srgbClr val="FFFFFF"/>
                </a:solidFill>
              </a:rPr>
              <a:t>Best elsewhere in this work: DeCAF at 10 steps, AUC 0.807. This also exceeds the 0.90 a nanobody benchmark reaches with ensembling plus physics rescoring.</a:t>
            </a:r>
          </a:p>
        </p:txBody>
      </p:sp>
      <p:sp>
        <p:nvSpPr>
          <p:cNvPr id="13" name="TextBox 12"/>
          <p:cNvSpPr txBox="1"/>
          <p:nvPr/>
        </p:nvSpPr>
        <p:spPr>
          <a:xfrm>
            <a:off x="548640" y="6291072"/>
            <a:ext cx="11155680" cy="274320"/>
          </a:xfrm>
          <a:prstGeom prst="rect">
            <a:avLst/>
          </a:prstGeom>
          <a:noFill/>
        </p:spPr>
        <p:txBody>
          <a:bodyPr wrap="square">
            <a:spAutoFit/>
          </a:bodyPr>
          <a:lstStyle/>
          <a:p>
            <a:pPr>
              <a:spcAft>
                <a:spcPts val="600"/>
              </a:spcAft>
            </a:pPr>
            <a:r>
              <a:rPr sz="1100" b="0">
                <a:solidFill>
                  <a:srgbClr val="8A5200"/>
                </a:solidFill>
              </a:rPr>
              <a:t>Caveat: one model, 22 receptors, a single draw.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33</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34</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Next: GPU-scale replicate folding, then few-step sampler distillation.</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