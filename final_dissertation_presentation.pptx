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4" r:id="rId35"/>
    <p:sldId id="285" r:id="rId36"/>
    <p:sldId id="286" r:id="rId37"/>
    <p:sldId id="287" r:id="rId38"/>
    <p:sldId id="288" r:id="rId39"/>
    <p:sldId id="289" r:id="rId40"/>
    <p:sldId id="290" r:id="rId34"/>
    <p:sldId id="291" r:id="rId42"/>
    <p:sldId id="292" r:id="rId43"/>
    <p:sldId id="293" r:id="rId44"/>
    <p:sldId id="294" r:id="rId45"/>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6.xml"/><Relationship Id="rId19" Type="http://schemas.openxmlformats.org/officeDocument/2006/relationships/slide" Target="slides/slide37.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32.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scope: the headline speedups in this report are for the distilled surrogate. Track A was then tested end-to-end: the ipTM reference does not rank binders, so the screening objective is not reachable through it (slides 14–18).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Settings throughout are far below Boltz defaults — 10 sampling steps vs 200, 1 recycling vs 3, MSA 32 vs full. Slides 31–32 resolve this and the confound was real: at the intended settings the effect is 3–7× larger and the true binder ranks first 17 times in 22. Everything on slides 15–30 is a lower bound.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law 1.32·rank^−0.356 puts 10% error at rank ≈1414, against c_hidden² = 1024 — the low-rank form costs MORE activation memory than stock before it is accurate enough to substitute.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ipTM responds largely to peptide COMPOSITION. Any sequence-order effect is at most 63% of the composition effect. A ridge regression on composition independently beat the distilled surrogate (+0.103 vs −0.034).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Stabilising per-receptor ranks needs ~9–16 replicate folds per complex (1,200–2,100 folds) — GPU-scale. Ranking binders on a single AlphaFold/Boltz run is common practice, and does not reproduce.</a:t>
            </a:r>
          </a:p>
          <a:p/>
          <a:p>
            <a:r>
              <a:t>The 95% range on the aggregate mean rank is [1.77, 2.27], always below chance; the median p across simulated re-runs is 0.054.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a:p/>
          <a:p>
            <a:r>
              <a:t>It also survives the reproducibility test that demoted ipTM, reproducing at p &lt; 0.05 in 100% of simulated re-runs.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QUALIFIES slide 19. Half the pooled signal is peptide foldability, which slide 19 did not separate. What stands: the receptor responds to which peptide it is given. Not established: that the response is localised to the binding site.</a:t>
            </a:r>
          </a:p>
          <a:p/>
          <a:p>
            <a:r>
              <a:t>The receptor's own residues are placed better when given the right peptide, and a disordered peptide cannot do that, which is why this term survives the foldability objection. Every alanine arm drops 7-12 pLDDT, so both may sit near a 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Effects normalised by the run-to-run noise of Section 7.5 so metrics on different scales compare. DeCAF vs Boltz-1 isolates few-step training; the Boltz-2 arm ran on CPU, the others on MPS.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homology-decontaminated, and cannot be: 0 of 22 held-out receptors clear 30% identity to the pre-cutoff PDB (median 1.000), and neither does a random sample of the whole candidate pool. What the split isolates is complex-level novelty with receptor familiarity held constant.</a:t>
            </a:r>
          </a:p>
          <a:p/>
          <a:p>
            <a:r>
              <a:t>The methodological lesson is sharper than the scientific one: a single unseeded fold is not a measurement, and on this evidence neither are two.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CPU-era note in the runner said a full alignment was intractable — a 40-complex run did not finish one batch in an hour. On MPS, full depth is no slower than depth 32. The reduced regime outlived the constraint that justified it, and every effect size in slides 15–30 is a lower bound.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AUC at full settings</a:t>
            </a:r>
          </a:p>
          <a:p>
            <a:pPr algn="ctr"/>
            <a:r>
              <a:rPr sz="1050">
                <a:solidFill>
                  <a:srgbClr val="FFFFFF"/>
                </a:solidFill>
              </a:rPr>
              <a:t>(0.640 at 10 steps)</a:t>
            </a:r>
          </a:p>
        </p:txBody>
      </p:sp>
      <p:sp>
        <p:nvSpPr>
          <p:cNvPr id="11" name="Rounded Rectangle 10"/>
          <p:cNvSpPr/>
          <p:nvPr/>
        </p:nvSpPr>
        <p:spPr>
          <a:xfrm>
            <a:off x="54864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reciprocal</a:t>
            </a:r>
          </a:p>
          <a:p>
            <a:pPr algn="ctr"/>
            <a:r>
              <a:rPr sz="1050">
                <a:solidFill>
                  <a:srgbClr val="FFFFFF"/>
                </a:solidFill>
              </a:rPr>
              <a:t>best match (12 of 12)</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44 / 2</a:t>
            </a:r>
          </a:p>
          <a:p>
            <a:pPr algn="ctr"/>
            <a:r>
              <a:rPr sz="1050">
                <a:solidFill>
                  <a:srgbClr val="FFFFFF"/>
                </a:solidFill>
              </a:rPr>
              <a:t>receptors / panels</a:t>
            </a:r>
          </a:p>
          <a:p>
            <a:pPr algn="ctr"/>
            <a:r>
              <a:rPr sz="1050">
                <a:solidFill>
                  <a:srgbClr val="FFFFFF"/>
                </a:solidFill>
              </a:rPr>
              <a:t>in-training + held-out</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a:t>
            </a:r>
          </a:p>
          <a:p>
            <a:pPr algn="ctr"/>
            <a:r>
              <a:rPr sz="1050">
                <a:solidFill>
                  <a:srgbClr val="FFFFFF"/>
                </a:solidFill>
              </a:rPr>
              <a:t>at the model's own settings</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150" b="0">
                <a:solidFill>
                  <a:srgbClr val="0B2B52"/>
                </a:solidFill>
              </a:rPr>
              <a:t>Top row — engineering delivered.  Bottom row — measurement. The negatives in slides 15–30 were all taken at a tenth of the model's sampling budget: run at its intended settings the same readout ranks the true binder first 17 times in 22, at AUC 0.943 (slides 31–32). The negatives are properties of the regime, not the method.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400" b="0">
                <a:solidFill>
                  <a:srgbClr val="0B2B52"/>
                </a:solidFill>
              </a:rPr>
              <a:t>24 complexes × 4 identical re-runs (96 folds), same settings:</a:t>
            </a:r>
          </a:p>
          <a:p>
            <a:pPr>
              <a:spcAft>
                <a:spcPts val="600"/>
              </a:spcAft>
            </a:pPr>
            <a:r>
              <a:rPr sz="1400" b="0">
                <a:solidFill>
                  <a:srgbClr val="0B2B52"/>
                </a:solidFill>
              </a:rPr>
              <a:t>•  within-complex ipTM SD  0.0628   (median range 0.127)</a:t>
            </a:r>
          </a:p>
          <a:p>
            <a:pPr>
              <a:spcAft>
                <a:spcPts val="600"/>
              </a:spcAft>
            </a:pPr>
            <a:r>
              <a:rPr sz="1400" b="0">
                <a:solidFill>
                  <a:srgbClr val="0B2B52"/>
                </a:solidFill>
              </a:rPr>
              <a:t>•  cognate − decoy  +0.0698  =  1.11 × SD   —  comparable to noise</a:t>
            </a:r>
          </a:p>
          <a:p>
            <a:pPr>
              <a:spcAft>
                <a:spcPts val="600"/>
              </a:spcAft>
            </a:pPr>
            <a:r>
              <a:rPr sz="1400" b="0">
                <a:solidFill>
                  <a:srgbClr val="0B2B52"/>
                </a:solidFill>
              </a:rPr>
              <a:t>•  per-receptor rank flips for 4 of 4;  6YOO spans #1 to #4 on identical input</a:t>
            </a:r>
          </a:p>
          <a:p>
            <a:pPr>
              <a:spcAft>
                <a:spcPts val="600"/>
              </a:spcAft>
            </a:pPr>
            <a:r>
              <a:rPr sz="1400" b="0">
                <a:solidFill>
                  <a:srgbClr val="0B2B52"/>
                </a:solidFill>
              </a:rPr>
              <a:t>•  aggregate survives (mean rank 2.03) but p &lt; 0.05 in only 49% of re-runs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00" b="0">
                <a:solidFill>
                  <a:srgbClr val="0B2B52"/>
                </a:solidFill>
              </a:rPr>
              <a:t>Six interface measures, same complexes, same tests.</a:t>
            </a:r>
          </a:p>
          <a:p>
            <a:pPr>
              <a:spcAft>
                <a:spcPts val="600"/>
              </a:spcAft>
            </a:pPr>
            <a:r>
              <a:rPr sz="1400" b="0">
                <a:solidFill>
                  <a:srgbClr val="0B2B52"/>
                </a:solidFill>
              </a:rPr>
              <a:t>Only one beats a cognate's OWN scramble — composition fixed, order destroyed:</a:t>
            </a:r>
          </a:p>
          <a:p>
            <a:pPr>
              <a:spcAft>
                <a:spcPts val="600"/>
              </a:spcAft>
            </a:pPr>
            <a:r>
              <a:rPr sz="1400" b="0">
                <a:solidFill>
                  <a:srgbClr val="0B2B52"/>
                </a:solidFill>
              </a:rPr>
              <a:t>•  ipTM p = 0.42   •  pDockQ p = 0.80   •  contacts / density / SASA p = 0.05–0.45</a:t>
            </a:r>
          </a:p>
          <a:p>
            <a:pPr>
              <a:spcAft>
                <a:spcPts val="600"/>
              </a:spcAft>
            </a:pPr>
            <a:r>
              <a:rPr sz="1400" b="0">
                <a:solidFill>
                  <a:srgbClr val="0B2B52"/>
                </a:solidFill>
              </a:rPr>
              <a:t>•  INTERFACE pLDDT  p &lt; 0.0001,  rank 1.91 of 4  (chance 2.50)</a:t>
            </a:r>
          </a:p>
          <a:p>
            <a:pPr>
              <a:spcAft>
                <a:spcPts val="600"/>
              </a:spcAft>
            </a:pPr>
            <a:r>
              <a:rPr sz="1400" b="0">
                <a:solidFill>
                  <a:srgbClr val="0B2B52"/>
                </a:solidFill>
              </a:rPr>
              <a:t/>
            </a:r>
          </a:p>
          <a:p>
            <a:pPr>
              <a:spcAft>
                <a:spcPts val="600"/>
              </a:spcAft>
            </a:pPr>
            <a:r>
              <a:rPr sz="1400" b="0">
                <a:solidFill>
                  <a:srgbClr val="0B2B52"/>
                </a:solidFill>
              </a:rPr>
              <a:t>Effect-to-noise: +3.30 / SD 1.92 = 1.72×, against ipTM's 0.20× — 8.6× better.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 by chain — no new folding:</a:t>
            </a:r>
          </a:p>
          <a:p>
            <a:pPr>
              <a:spcAft>
                <a:spcPts val="600"/>
              </a:spcAft>
            </a:pPr>
            <a:r>
              <a:rPr sz="1400" b="0">
                <a:solidFill>
                  <a:srgbClr val="0B2B52"/>
                </a:solidFill>
              </a:rPr>
              <a:t>•  peptide side +5.25  vs  whole-chain peptide +4.87  →  mostly FOLDABILITY</a:t>
            </a:r>
          </a:p>
          <a:p>
            <a:pPr>
              <a:spcAft>
                <a:spcPts val="600"/>
              </a:spcAft>
            </a:pPr>
            <a:r>
              <a:rPr sz="1400" b="0">
                <a:solidFill>
                  <a:srgbClr val="0B2B52"/>
                </a:solidFill>
              </a:rPr>
              <a:t>•  RECEPTOR side +2.38 (p = 6e-5)  →  survives the objection</a:t>
            </a:r>
          </a:p>
          <a:p>
            <a:pPr>
              <a:spcAft>
                <a:spcPts val="600"/>
              </a:spcAft>
            </a:pPr>
            <a:r>
              <a:rPr sz="1400" b="0">
                <a:solidFill>
                  <a:srgbClr val="0B2B52"/>
                </a:solidFill>
              </a:rPr>
              <a:t/>
            </a:r>
          </a:p>
          <a:p>
            <a:pPr>
              <a:spcAft>
                <a:spcPts val="600"/>
              </a:spcAft>
            </a:pPr>
            <a:r>
              <a:rPr sz="1400" b="0">
                <a:solidFill>
                  <a:srgbClr val="0B2B52"/>
                </a:solidFill>
              </a:rPr>
              <a:t>Tied to the binding site?  Alanine scan, 88 folds:</a:t>
            </a:r>
          </a:p>
          <a:p>
            <a:pPr>
              <a:spcAft>
                <a:spcPts val="600"/>
              </a:spcAft>
            </a:pPr>
            <a:r>
              <a:rPr sz="1400" b="0">
                <a:solidFill>
                  <a:srgbClr val="0B2B52"/>
                </a:solidFill>
              </a:rPr>
              <a:t>•  interface→Ala 36.77  vs  surface→Ala 38.62   diff −1.84, p = 0.244</a:t>
            </a:r>
          </a:p>
          <a:p>
            <a:pPr>
              <a:spcAft>
                <a:spcPts val="600"/>
              </a:spcAft>
            </a:pPr>
            <a:r>
              <a:rPr sz="1400" b="0">
                <a:solidFill>
                  <a:srgbClr val="0B2B52"/>
                </a:solidFill>
              </a:rPr>
              <a:t>•  right direction, not significant — 80% power needs 123 receptors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15568"/>
            <a:ext cx="11155680" cy="539496"/>
          </a:xfrm>
          <a:prstGeom prst="rect">
            <a:avLst/>
          </a:prstGeom>
          <a:noFill/>
        </p:spPr>
        <p:txBody>
          <a:bodyPr wrap="square">
            <a:spAutoFit/>
          </a:bodyPr>
          <a:lstStyle/>
          <a:p>
            <a:pPr>
              <a:spcAft>
                <a:spcPts val="600"/>
              </a:spcAft>
            </a:pPr>
            <a:r>
              <a:rPr sz="1400" b="0">
                <a:solidFill>
                  <a:srgbClr val="0B2B52"/>
                </a:solidFill>
              </a:rPr>
              <a:t>22 receptors released after the 2021-09-30 training cutoff, screened identically. Folded five times.</a:t>
            </a:r>
          </a:p>
        </p:txBody>
      </p:sp>
      <p:sp>
        <p:nvSpPr>
          <p:cNvPr id="8" name="Rounded Rectangle 7"/>
          <p:cNvSpPr/>
          <p:nvPr/>
        </p:nvSpPr>
        <p:spPr>
          <a:xfrm>
            <a:off x="548640" y="164592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164592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164592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310128"/>
            <a:ext cx="11155680" cy="539496"/>
          </a:xfrm>
          <a:prstGeom prst="rect">
            <a:avLst/>
          </a:prstGeom>
          <a:noFill/>
        </p:spPr>
        <p:txBody>
          <a:bodyPr wrap="square">
            <a:spAutoFit/>
          </a:bodyPr>
          <a:lstStyle/>
          <a:p>
            <a:pPr>
              <a:spcAft>
                <a:spcPts val="600"/>
              </a:spcAft>
            </a:pPr>
            <a:r>
              <a:rPr sz="1400" b="0">
                <a:solidFill>
                  <a:srgbClr val="0B2B52"/>
                </a:solidFill>
              </a:rPr>
              <a:t>Cognate rank among its own decoys (chance 2.50) — and why one draw was not enough:</a:t>
            </a:r>
          </a:p>
        </p:txBody>
      </p:sp>
      <p:graphicFrame>
        <p:nvGraphicFramePr>
          <p:cNvPr id="12" name="Table 11"/>
          <p:cNvGraphicFramePr>
            <a:graphicFrameLocks noGrp="1"/>
          </p:cNvGraphicFramePr>
          <p:nvPr/>
        </p:nvGraphicFramePr>
        <p:xfrm>
          <a:off x="548640" y="3749039"/>
          <a:ext cx="11155680" cy="1042416"/>
        </p:xfrm>
        <a:graphic>
          <a:graphicData uri="http://schemas.openxmlformats.org/drawingml/2006/table">
            <a:tbl>
              <a:tblPr firstRow="1" bandRow="1">
                <a:tableStyleId>{5C22544A-7EE6-4342-B048-85BDC9FD1C3A}</a:tableStyleId>
              </a:tblPr>
              <a:tblGrid>
                <a:gridCol w="2651760"/>
                <a:gridCol w="1417320"/>
                <a:gridCol w="1417320"/>
                <a:gridCol w="1417320"/>
                <a:gridCol w="1417320"/>
                <a:gridCol w="1417320"/>
                <a:gridCol w="1417320"/>
              </a:tblGrid>
              <a:tr h="347472">
                <a:tc>
                  <a:txBody>
                    <a:bodyPr/>
                    <a:lstStyle/>
                    <a:p>
                      <a:r>
                        <a:rPr sz="1250" b="1">
                          <a:solidFill>
                            <a:srgbClr val="0B2B52"/>
                          </a:solidFill>
                        </a:rPr>
                        <a:t> </a:t>
                      </a:r>
                    </a:p>
                  </a:txBody>
                  <a:tcPr/>
                </a:tc>
                <a:tc>
                  <a:txBody>
                    <a:bodyPr/>
                    <a:lstStyle/>
                    <a:p>
                      <a:r>
                        <a:rPr sz="1250" b="1">
                          <a:solidFill>
                            <a:srgbClr val="0B2B52"/>
                          </a:solidFill>
                        </a:rPr>
                        <a:t>draw 1</a:t>
                      </a:r>
                    </a:p>
                  </a:txBody>
                  <a:tcPr/>
                </a:tc>
                <a:tc>
                  <a:txBody>
                    <a:bodyPr/>
                    <a:lstStyle/>
                    <a:p>
                      <a:r>
                        <a:rPr sz="1250" b="1">
                          <a:solidFill>
                            <a:srgbClr val="0B2B52"/>
                          </a:solidFill>
                        </a:rPr>
                        <a:t>draw 2</a:t>
                      </a:r>
                    </a:p>
                  </a:txBody>
                  <a:tcPr/>
                </a:tc>
                <a:tc>
                  <a:txBody>
                    <a:bodyPr/>
                    <a:lstStyle/>
                    <a:p>
                      <a:r>
                        <a:rPr sz="1250" b="1">
                          <a:solidFill>
                            <a:srgbClr val="0B2B52"/>
                          </a:solidFill>
                        </a:rPr>
                        <a:t>draw 3</a:t>
                      </a:r>
                    </a:p>
                  </a:txBody>
                  <a:tcPr/>
                </a:tc>
                <a:tc>
                  <a:txBody>
                    <a:bodyPr/>
                    <a:lstStyle/>
                    <a:p>
                      <a:r>
                        <a:rPr sz="1250" b="1">
                          <a:solidFill>
                            <a:srgbClr val="0B2B52"/>
                          </a:solidFill>
                        </a:rPr>
                        <a:t>draw 4</a:t>
                      </a:r>
                    </a:p>
                  </a:txBody>
                  <a:tcPr/>
                </a:tc>
                <a:tc>
                  <a:txBody>
                    <a:bodyPr/>
                    <a:lstStyle/>
                    <a:p>
                      <a:r>
                        <a:rPr sz="1250" b="1">
                          <a:solidFill>
                            <a:srgbClr val="0B2B52"/>
                          </a:solidFill>
                        </a:rPr>
                        <a:t>draw 5</a:t>
                      </a:r>
                    </a:p>
                  </a:txBody>
                  <a:tcPr/>
                </a:tc>
                <a:tc>
                  <a:txBody>
                    <a:bodyPr/>
                    <a:lstStyle/>
                    <a:p>
                      <a:r>
                        <a:rPr sz="1250" b="1">
                          <a:solidFill>
                            <a:srgbClr val="0B2B52"/>
                          </a:solidFill>
                        </a:rPr>
                        <a:t>mean</a:t>
                      </a:r>
                    </a:p>
                  </a:txBody>
                  <a:tcPr/>
                </a:tc>
              </a:tr>
              <a:tr h="347472">
                <a:tc>
                  <a:txBody>
                    <a:bodyPr/>
                    <a:lstStyle/>
                    <a:p>
                      <a:r>
                        <a:rPr sz="1250" b="1">
                          <a:solidFill>
                            <a:srgbClr val="0B2B52"/>
                          </a:solidFill>
                        </a:rPr>
                        <a:t>ipTM</a:t>
                      </a:r>
                    </a:p>
                  </a:txBody>
                  <a:tcPr/>
                </a:tc>
                <a:tc>
                  <a:txBody>
                    <a:bodyPr/>
                    <a:lstStyle/>
                    <a:p>
                      <a:r>
                        <a:rPr sz="1250" b="0">
                          <a:solidFill>
                            <a:srgbClr val="0B2B52"/>
                          </a:solidFill>
                        </a:rPr>
                        <a:t>1.64</a:t>
                      </a:r>
                    </a:p>
                  </a:txBody>
                  <a:tcPr/>
                </a:tc>
                <a:tc>
                  <a:txBody>
                    <a:bodyPr/>
                    <a:lstStyle/>
                    <a:p>
                      <a:r>
                        <a:rPr sz="1250" b="0">
                          <a:solidFill>
                            <a:srgbClr val="0B2B52"/>
                          </a:solidFill>
                        </a:rPr>
                        <a:t>1.50</a:t>
                      </a:r>
                    </a:p>
                  </a:txBody>
                  <a:tcPr/>
                </a:tc>
                <a:tc>
                  <a:txBody>
                    <a:bodyPr/>
                    <a:lstStyle/>
                    <a:p>
                      <a:r>
                        <a:rPr sz="1250" b="0">
                          <a:solidFill>
                            <a:srgbClr val="0B2B52"/>
                          </a:solidFill>
                        </a:rPr>
                        <a:t>1.86</a:t>
                      </a:r>
                    </a:p>
                  </a:txBody>
                  <a:tcPr/>
                </a:tc>
                <a:tc>
                  <a:txBody>
                    <a:bodyPr/>
                    <a:lstStyle/>
                    <a:p>
                      <a:r>
                        <a:rPr sz="1250" b="0">
                          <a:solidFill>
                            <a:srgbClr val="0B2B52"/>
                          </a:solidFill>
                        </a:rPr>
                        <a:t>1.64</a:t>
                      </a:r>
                    </a:p>
                  </a:txBody>
                  <a:tcPr/>
                </a:tc>
                <a:tc>
                  <a:txBody>
                    <a:bodyPr/>
                    <a:lstStyle/>
                    <a:p>
                      <a:r>
                        <a:rPr sz="1250" b="0">
                          <a:solidFill>
                            <a:srgbClr val="0B2B52"/>
                          </a:solidFill>
                        </a:rPr>
                        <a:t>1.45</a:t>
                      </a:r>
                    </a:p>
                  </a:txBody>
                  <a:tcPr/>
                </a:tc>
                <a:tc>
                  <a:txBody>
                    <a:bodyPr/>
                    <a:lstStyle/>
                    <a:p>
                      <a:r>
                        <a:rPr sz="1250" b="0">
                          <a:solidFill>
                            <a:srgbClr val="0B2B52"/>
                          </a:solidFill>
                        </a:rPr>
                        <a:t>1.59</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2.09</a:t>
                      </a:r>
                    </a:p>
                  </a:txBody>
                  <a:tcPr/>
                </a:tc>
                <a:tc>
                  <a:txBody>
                    <a:bodyPr/>
                    <a:lstStyle/>
                    <a:p>
                      <a:r>
                        <a:rPr sz="1250" b="0">
                          <a:solidFill>
                            <a:srgbClr val="0B2B52"/>
                          </a:solidFill>
                        </a:rPr>
                        <a:t>2.05</a:t>
                      </a:r>
                    </a:p>
                  </a:txBody>
                  <a:tcPr/>
                </a:tc>
                <a:tc>
                  <a:txBody>
                    <a:bodyPr/>
                    <a:lstStyle/>
                    <a:p>
                      <a:r>
                        <a:rPr sz="1250" b="0">
                          <a:solidFill>
                            <a:srgbClr val="0B2B52"/>
                          </a:solidFill>
                        </a:rPr>
                        <a:t>1.73</a:t>
                      </a:r>
                    </a:p>
                  </a:txBody>
                  <a:tcPr/>
                </a:tc>
                <a:tc>
                  <a:txBody>
                    <a:bodyPr/>
                    <a:lstStyle/>
                    <a:p>
                      <a:r>
                        <a:rPr sz="1250" b="0">
                          <a:solidFill>
                            <a:srgbClr val="0B2B52"/>
                          </a:solidFill>
                        </a:rPr>
                        <a:t>1.73</a:t>
                      </a:r>
                    </a:p>
                  </a:txBody>
                  <a:tcPr/>
                </a:tc>
                <a:tc>
                  <a:txBody>
                    <a:bodyPr/>
                    <a:lstStyle/>
                    <a:p>
                      <a:r>
                        <a:rPr sz="1250" b="0">
                          <a:solidFill>
                            <a:srgbClr val="0B2B52"/>
                          </a:solidFill>
                        </a:rPr>
                        <a:t>1.91</a:t>
                      </a:r>
                    </a:p>
                  </a:txBody>
                  <a:tcPr/>
                </a:tc>
                <a:tc>
                  <a:txBody>
                    <a:bodyPr/>
                    <a:lstStyle/>
                    <a:p>
                      <a:r>
                        <a:rPr sz="1250" b="0">
                          <a:solidFill>
                            <a:srgbClr val="0B2B52"/>
                          </a:solidFill>
                        </a:rPr>
                        <a:t>1.82</a:t>
                      </a:r>
                    </a:p>
                  </a:txBody>
                  <a:tcPr/>
                </a:tc>
              </a:tr>
            </a:tbl>
          </a:graphicData>
        </a:graphic>
      </p:graphicFrame>
      <p:sp>
        <p:nvSpPr>
          <p:cNvPr id="13" name="Rounded Rectangle 12"/>
          <p:cNvSpPr/>
          <p:nvPr/>
        </p:nvSpPr>
        <p:spPr>
          <a:xfrm>
            <a:off x="548640" y="50749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500" b="1">
                <a:solidFill>
                  <a:srgbClr val="FFFFFF"/>
                </a:solidFill>
              </a:rPr>
              <a:t>Draw 1 said interface pLDDT collapses. Draws 1–2 said ipTM specifically survives. Draw 3 reversed it — both claims withdrawn.</a:t>
            </a:r>
          </a:p>
        </p:txBody>
      </p:sp>
      <p:sp>
        <p:nvSpPr>
          <p:cNvPr id="14" name="TextBox 13"/>
          <p:cNvSpPr txBox="1"/>
          <p:nvPr/>
        </p:nvSpPr>
        <p:spPr>
          <a:xfrm>
            <a:off x="548640" y="6172200"/>
            <a:ext cx="11155680" cy="539496"/>
          </a:xfrm>
          <a:prstGeom prst="rect">
            <a:avLst/>
          </a:prstGeom>
          <a:noFill/>
        </p:spPr>
        <p:txBody>
          <a:bodyPr wrap="square">
            <a:spAutoFit/>
          </a:bodyPr>
          <a:lstStyle/>
          <a:p>
            <a:pPr>
              <a:spcAft>
                <a:spcPts val="600"/>
              </a:spcAft>
            </a:pPr>
            <a:r>
              <a:rPr sz="1200" b="0">
                <a:solidFill>
                  <a:srgbClr val="0B2B52"/>
                </a:solidFill>
              </a:rPr>
              <a:t>Both retain roughly half; neither can be shown to degrade more than the other.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The Settings Confound Was Real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15568"/>
            <a:ext cx="11155680" cy="850392"/>
          </a:xfrm>
          <a:prstGeom prst="rect">
            <a:avLst/>
          </a:prstGeom>
          <a:noFill/>
        </p:spPr>
        <p:txBody>
          <a:bodyPr wrap="square">
            <a:spAutoFit/>
          </a:bodyPr>
          <a:lstStyle/>
          <a:p>
            <a:pPr>
              <a:spcAft>
                <a:spcPts val="600"/>
              </a:spcAft>
            </a:pPr>
            <a:r>
              <a:rPr sz="1400" b="0">
                <a:solidFill>
                  <a:srgbClr val="0B2B52"/>
                </a:solidFill>
              </a:rPr>
              <a:t>Everything above: 10 sampling steps of an intended 200, 1 recycling of 3, MSA 32.</a:t>
            </a:r>
          </a:p>
          <a:p>
            <a:pPr>
              <a:spcAft>
                <a:spcPts val="600"/>
              </a:spcAft>
            </a:pPr>
            <a:r>
              <a:rPr sz="1400" b="0">
                <a:solidFill>
                  <a:srgbClr val="0B2B52"/>
                </a:solidFill>
              </a:rPr>
              <a:t>Same model, same device, settings raised. Cognate − scramble, Cohen's d:</a:t>
            </a:r>
          </a:p>
          <a:p>
            <a:pPr>
              <a:spcAft>
                <a:spcPts val="600"/>
              </a:spcAft>
            </a:pPr>
            <a:r>
              <a:rPr sz="1400" b="0">
                <a:solidFill>
                  <a:srgbClr val="0B2B52"/>
                </a:solidFill>
              </a:rPr>
              <a:t>     ipTM 0.45 → 1.25     interface pLDDT 0.28 → 1.52     receptor side 0.12 → 1.45</a:t>
            </a:r>
          </a:p>
        </p:txBody>
      </p:sp>
      <p:sp>
        <p:nvSpPr>
          <p:cNvPr id="8" name="TextBox 7"/>
          <p:cNvSpPr txBox="1"/>
          <p:nvPr/>
        </p:nvSpPr>
        <p:spPr>
          <a:xfrm>
            <a:off x="548640" y="2103120"/>
            <a:ext cx="11155680" cy="539496"/>
          </a:xfrm>
          <a:prstGeom prst="rect">
            <a:avLst/>
          </a:prstGeom>
          <a:noFill/>
        </p:spPr>
        <p:txBody>
          <a:bodyPr wrap="square">
            <a:spAutoFit/>
          </a:bodyPr>
          <a:lstStyle/>
          <a:p>
            <a:pPr>
              <a:spcAft>
                <a:spcPts val="600"/>
              </a:spcAft>
            </a:pPr>
            <a:r>
              <a:rPr sz="1400" b="0">
                <a:solidFill>
                  <a:srgbClr val="0B2B52"/>
                </a:solidFill>
              </a:rPr>
              <a:t>Ranking a cognate against its own decoys — the question a screen actually asks:</a:t>
            </a:r>
          </a:p>
        </p:txBody>
      </p:sp>
      <p:graphicFrame>
        <p:nvGraphicFramePr>
          <p:cNvPr id="9" name="Table 8"/>
          <p:cNvGraphicFramePr>
            <a:graphicFrameLocks noGrp="1"/>
          </p:cNvGraphicFramePr>
          <p:nvPr/>
        </p:nvGraphicFramePr>
        <p:xfrm>
          <a:off x="548640" y="2542032"/>
          <a:ext cx="11155680" cy="1042416"/>
        </p:xfrm>
        <a:graphic>
          <a:graphicData uri="http://schemas.openxmlformats.org/drawingml/2006/table">
            <a:tbl>
              <a:tblPr firstRow="1" bandRow="1">
                <a:tableStyleId>{5C22544A-7EE6-4342-B048-85BDC9FD1C3A}</a:tableStyleId>
              </a:tblPr>
              <a:tblGrid>
                <a:gridCol w="2834640"/>
                <a:gridCol w="2011680"/>
                <a:gridCol w="2011680"/>
                <a:gridCol w="2194560"/>
                <a:gridCol w="2103120"/>
              </a:tblGrid>
              <a:tr h="347472">
                <a:tc>
                  <a:txBody>
                    <a:bodyPr/>
                    <a:lstStyle/>
                    <a:p>
                      <a:r>
                        <a:rPr sz="1250" b="1">
                          <a:solidFill>
                            <a:srgbClr val="0B2B52"/>
                          </a:solidFill>
                        </a:rPr>
                        <a:t> </a:t>
                      </a:r>
                    </a:p>
                  </a:txBody>
                  <a:tcPr/>
                </a:tc>
                <a:tc>
                  <a:txBody>
                    <a:bodyPr/>
                    <a:lstStyle/>
                    <a:p>
                      <a:r>
                        <a:rPr sz="1250" b="1">
                          <a:solidFill>
                            <a:srgbClr val="0B2B52"/>
                          </a:solidFill>
                        </a:rPr>
                        <a:t>reduced rank</a:t>
                      </a:r>
                    </a:p>
                  </a:txBody>
                  <a:tcPr/>
                </a:tc>
                <a:tc>
                  <a:txBody>
                    <a:bodyPr/>
                    <a:lstStyle/>
                    <a:p>
                      <a:r>
                        <a:rPr sz="1250" b="1">
                          <a:solidFill>
                            <a:srgbClr val="0B2B52"/>
                          </a:solidFill>
                        </a:rPr>
                        <a:t>full rank</a:t>
                      </a:r>
                    </a:p>
                  </a:txBody>
                  <a:tcPr/>
                </a:tc>
                <a:tc>
                  <a:txBody>
                    <a:bodyPr/>
                    <a:lstStyle/>
                    <a:p>
                      <a:r>
                        <a:rPr sz="1250" b="1">
                          <a:solidFill>
                            <a:srgbClr val="0B2B52"/>
                          </a:solidFill>
                        </a:rPr>
                        <a:t>first (of 22)</a:t>
                      </a:r>
                    </a:p>
                  </a:txBody>
                  <a:tcPr/>
                </a:tc>
                <a:tc>
                  <a:txBody>
                    <a:bodyPr/>
                    <a:lstStyle/>
                    <a:p>
                      <a:r>
                        <a:rPr sz="1250" b="1">
                          <a:solidFill>
                            <a:srgbClr val="0B2B52"/>
                          </a:solidFill>
                        </a:rPr>
                        <a:t>AUC within</a:t>
                      </a:r>
                    </a:p>
                  </a:txBody>
                  <a:tcPr/>
                </a:tc>
              </a:tr>
              <a:tr h="347472">
                <a:tc>
                  <a:txBody>
                    <a:bodyPr/>
                    <a:lstStyle/>
                    <a:p>
                      <a:r>
                        <a:rPr sz="1250" b="1">
                          <a:solidFill>
                            <a:srgbClr val="0B2B52"/>
                          </a:solidFill>
                        </a:rPr>
                        <a:t>ipTM</a:t>
                      </a:r>
                    </a:p>
                  </a:txBody>
                  <a:tcPr/>
                </a:tc>
                <a:tc>
                  <a:txBody>
                    <a:bodyPr/>
                    <a:lstStyle/>
                    <a:p>
                      <a:r>
                        <a:rPr sz="1250" b="0">
                          <a:solidFill>
                            <a:srgbClr val="0B2B52"/>
                          </a:solidFill>
                        </a:rPr>
                        <a:t>1.86</a:t>
                      </a:r>
                    </a:p>
                  </a:txBody>
                  <a:tcPr/>
                </a:tc>
                <a:tc>
                  <a:txBody>
                    <a:bodyPr/>
                    <a:lstStyle/>
                    <a:p>
                      <a:r>
                        <a:rPr sz="1250" b="0">
                          <a:solidFill>
                            <a:srgbClr val="0B2B52"/>
                          </a:solidFill>
                        </a:rPr>
                        <a:t>1.41</a:t>
                      </a:r>
                    </a:p>
                  </a:txBody>
                  <a:tcPr/>
                </a:tc>
                <a:tc>
                  <a:txBody>
                    <a:bodyPr/>
                    <a:lstStyle/>
                    <a:p>
                      <a:r>
                        <a:rPr sz="1250" b="0">
                          <a:solidFill>
                            <a:srgbClr val="0B2B52"/>
                          </a:solidFill>
                        </a:rPr>
                        <a:t>11 → 15</a:t>
                      </a:r>
                    </a:p>
                  </a:txBody>
                  <a:tcPr/>
                </a:tc>
                <a:tc>
                  <a:txBody>
                    <a:bodyPr/>
                    <a:lstStyle/>
                    <a:p>
                      <a:r>
                        <a:rPr sz="1250" b="0">
                          <a:solidFill>
                            <a:srgbClr val="0B2B52"/>
                          </a:solidFill>
                        </a:rPr>
                        <a:t>0.684 → 0.908</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1.91</a:t>
                      </a:r>
                    </a:p>
                  </a:txBody>
                  <a:tcPr/>
                </a:tc>
                <a:tc>
                  <a:txBody>
                    <a:bodyPr/>
                    <a:lstStyle/>
                    <a:p>
                      <a:r>
                        <a:rPr sz="1250" b="0">
                          <a:solidFill>
                            <a:srgbClr val="0B2B52"/>
                          </a:solidFill>
                        </a:rPr>
                        <a:t>1.27</a:t>
                      </a:r>
                    </a:p>
                  </a:txBody>
                  <a:tcPr/>
                </a:tc>
                <a:tc>
                  <a:txBody>
                    <a:bodyPr/>
                    <a:lstStyle/>
                    <a:p>
                      <a:r>
                        <a:rPr sz="1250" b="0">
                          <a:solidFill>
                            <a:srgbClr val="0B2B52"/>
                          </a:solidFill>
                        </a:rPr>
                        <a:t>9 → 17</a:t>
                      </a:r>
                    </a:p>
                  </a:txBody>
                  <a:tcPr/>
                </a:tc>
                <a:tc>
                  <a:txBody>
                    <a:bodyPr/>
                    <a:lstStyle/>
                    <a:p>
                      <a:r>
                        <a:rPr sz="1250" b="0">
                          <a:solidFill>
                            <a:srgbClr val="0B2B52"/>
                          </a:solidFill>
                        </a:rPr>
                        <a:t>0.640 → 0.943</a:t>
                      </a:r>
                    </a:p>
                  </a:txBody>
                  <a:tcPr/>
                </a:tc>
              </a:tr>
            </a:tbl>
          </a:graphicData>
        </a:graphic>
      </p:graphicFrame>
      <p:sp>
        <p:nvSpPr>
          <p:cNvPr id="10" name="Rounded Rectangle 9"/>
          <p:cNvSpPr/>
          <p:nvPr/>
        </p:nvSpPr>
        <p:spPr>
          <a:xfrm>
            <a:off x="54864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 (chance 2.50)</a:t>
            </a:r>
          </a:p>
        </p:txBody>
      </p:sp>
      <p:sp>
        <p:nvSpPr>
          <p:cNvPr id="11" name="Rounded Rectangle 10"/>
          <p:cNvSpPr/>
          <p:nvPr/>
        </p:nvSpPr>
        <p:spPr>
          <a:xfrm>
            <a:off x="434340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within-receptor AUC (was 0.640)</a:t>
            </a:r>
          </a:p>
        </p:txBody>
      </p:sp>
      <p:sp>
        <p:nvSpPr>
          <p:cNvPr id="12" name="Rounded Rectangle 11"/>
          <p:cNvSpPr/>
          <p:nvPr/>
        </p:nvSpPr>
        <p:spPr>
          <a:xfrm>
            <a:off x="8138160" y="370332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106 s</a:t>
            </a:r>
          </a:p>
          <a:p>
            <a:pPr algn="ctr"/>
            <a:r>
              <a:rPr sz="1050">
                <a:solidFill>
                  <a:srgbClr val="FFFFFF"/>
                </a:solidFill>
              </a:rPr>
              <a:t>cost of a full-settings fold on this laptop</a:t>
            </a:r>
          </a:p>
        </p:txBody>
      </p:sp>
      <p:sp>
        <p:nvSpPr>
          <p:cNvPr id="13" name="Rounded Rectangle 12"/>
          <p:cNvSpPr/>
          <p:nvPr/>
        </p:nvSpPr>
        <p:spPr>
          <a:xfrm>
            <a:off x="548640" y="507492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results are properties of the regime, not of the method.</a:t>
            </a:r>
          </a:p>
        </p:txBody>
      </p:sp>
      <p:sp>
        <p:nvSpPr>
          <p:cNvPr id="14" name="TextBox 13"/>
          <p:cNvSpPr txBox="1"/>
          <p:nvPr/>
        </p:nvSpPr>
        <p:spPr>
          <a:xfrm>
            <a:off x="548640" y="6016752"/>
            <a:ext cx="11155680" cy="402336"/>
          </a:xfrm>
          <a:prstGeom prst="rect">
            <a:avLst/>
          </a:prstGeom>
          <a:noFill/>
        </p:spPr>
        <p:txBody>
          <a:bodyPr wrap="square">
            <a:spAutoFit/>
          </a:bodyPr>
          <a:lstStyle/>
          <a:p>
            <a:pPr>
              <a:spcAft>
                <a:spcPts val="600"/>
              </a:spcAft>
            </a:pPr>
            <a:r>
              <a:rPr sz="1200" b="0">
                <a:solidFill>
                  <a:srgbClr val="0B2B52"/>
                </a:solidFill>
              </a:rPr>
              <a:t>Caveat: one model, 22 receptors, one draw — and 0.943 is an in-training figure; against measured binding it is 0.626 (slide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Delivered — the Findings as Behaviour, Not a Caveat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31</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A local screening tool: paste a target and candidate peptides, get a ranking. Nothing is uploaded.</a:t>
            </a:r>
          </a:p>
        </p:txBody>
      </p:sp>
      <p:sp>
        <p:nvSpPr>
          <p:cNvPr id="8" name="Rounded Rectangle 7"/>
          <p:cNvSpPr/>
          <p:nvPr/>
        </p:nvSpPr>
        <p:spPr>
          <a:xfrm>
            <a:off x="548640" y="17373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every candidate</a:t>
            </a:r>
          </a:p>
          <a:p>
            <a:pPr algn="ctr"/>
            <a:r>
              <a:rPr sz="1050">
                <a:solidFill>
                  <a:srgbClr val="FFFFFF"/>
                </a:solidFill>
              </a:rPr>
              <a:t>folded against permutations of itself</a:t>
            </a:r>
          </a:p>
        </p:txBody>
      </p:sp>
      <p:sp>
        <p:nvSpPr>
          <p:cNvPr id="9" name="Rounded Rectangle 8"/>
          <p:cNvSpPr/>
          <p:nvPr/>
        </p:nvSpPr>
        <p:spPr>
          <a:xfrm>
            <a:off x="4343400" y="173736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45 s + 9 s/fold</a:t>
            </a:r>
          </a:p>
          <a:p>
            <a:pPr algn="ctr"/>
            <a:r>
              <a:rPr sz="1050">
                <a:solidFill>
                  <a:srgbClr val="FFFFFF"/>
                </a:solidFill>
              </a:rPr>
              <a:t>model construction is paid once per job</a:t>
            </a:r>
          </a:p>
        </p:txBody>
      </p:sp>
      <p:sp>
        <p:nvSpPr>
          <p:cNvPr id="10" name="Rounded Rectangle 9"/>
          <p:cNvSpPr/>
          <p:nvPr/>
        </p:nvSpPr>
        <p:spPr>
          <a:xfrm>
            <a:off x="8138160" y="1737360"/>
            <a:ext cx="356616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 s</a:t>
            </a:r>
          </a:p>
          <a:p>
            <a:pPr algn="ctr"/>
            <a:r>
              <a:rPr sz="1050">
                <a:solidFill>
                  <a:srgbClr val="FFFFFF"/>
                </a:solidFill>
              </a:rPr>
              <a:t>to re-screen — folds are cached</a:t>
            </a:r>
          </a:p>
        </p:txBody>
      </p:sp>
      <p:sp>
        <p:nvSpPr>
          <p:cNvPr id="11" name="TextBox 10"/>
          <p:cNvSpPr txBox="1"/>
          <p:nvPr/>
        </p:nvSpPr>
        <p:spPr>
          <a:xfrm>
            <a:off x="548640" y="3246120"/>
            <a:ext cx="11155680" cy="731520"/>
          </a:xfrm>
          <a:prstGeom prst="rect">
            <a:avLst/>
          </a:prstGeom>
          <a:noFill/>
        </p:spPr>
        <p:txBody>
          <a:bodyPr wrap="square">
            <a:spAutoFit/>
          </a:bodyPr>
          <a:lstStyle/>
          <a:p>
            <a:r>
              <a:rPr sz="1450" b="1">
                <a:solidFill>
                  <a:srgbClr val="0B2B52"/>
                </a:solidFill>
              </a:rPr>
              <a:t>Section 7.4 — a score can be blind to sequence order</a:t>
            </a:r>
          </a:p>
          <a:p>
            <a:r>
              <a:rPr sz="1250">
                <a:solidFill>
                  <a:srgbClr val="1E6FB8"/>
                </a:solidFill>
              </a:rPr>
              <a:t>so a candidate is reported as a t against its own permutations, never as a raw score; one that cannot beat its own scrambles is not a hit</a:t>
            </a:r>
          </a:p>
        </p:txBody>
      </p:sp>
      <p:sp>
        <p:nvSpPr>
          <p:cNvPr id="12" name="TextBox 11"/>
          <p:cNvSpPr txBox="1"/>
          <p:nvPr/>
        </p:nvSpPr>
        <p:spPr>
          <a:xfrm>
            <a:off x="548640" y="3995928"/>
            <a:ext cx="11155680" cy="731520"/>
          </a:xfrm>
          <a:prstGeom prst="rect">
            <a:avLst/>
          </a:prstGeom>
          <a:noFill/>
        </p:spPr>
        <p:txBody>
          <a:bodyPr wrap="square">
            <a:spAutoFit/>
          </a:bodyPr>
          <a:lstStyle/>
          <a:p>
            <a:r>
              <a:rPr sz="1450" b="1">
                <a:solidFill>
                  <a:srgbClr val="0B2B52"/>
                </a:solidFill>
              </a:rPr>
              <a:t>Section 7.13 — reduced settings suppress the effect 3–7×</a:t>
            </a:r>
          </a:p>
          <a:p>
            <a:r>
              <a:rPr sz="1250">
                <a:solidFill>
                  <a:srgbClr val="1E6FB8"/>
                </a:solidFill>
              </a:rPr>
              <a:t>so quick mode is offered, and says in the interface what it costs: ~14% of backbone bonds physically plausible at ten steps</a:t>
            </a:r>
          </a:p>
        </p:txBody>
      </p:sp>
      <p:sp>
        <p:nvSpPr>
          <p:cNvPr id="13" name="TextBox 12"/>
          <p:cNvSpPr txBox="1"/>
          <p:nvPr/>
        </p:nvSpPr>
        <p:spPr>
          <a:xfrm>
            <a:off x="548640" y="4745736"/>
            <a:ext cx="11155680" cy="731520"/>
          </a:xfrm>
          <a:prstGeom prst="rect">
            <a:avLst/>
          </a:prstGeom>
          <a:noFill/>
        </p:spPr>
        <p:txBody>
          <a:bodyPr wrap="square">
            <a:spAutoFit/>
          </a:bodyPr>
          <a:lstStyle/>
          <a:p>
            <a:r>
              <a:rPr sz="1450" b="1">
                <a:solidFill>
                  <a:srgbClr val="0B2B52"/>
                </a:solidFill>
              </a:rPr>
              <a:t>Section 7.5 — a single fold is not a measurement</a:t>
            </a:r>
          </a:p>
          <a:p>
            <a:r>
              <a:rPr sz="1250">
                <a:solidFill>
                  <a:srgbClr val="1E6FB8"/>
                </a:solidFill>
              </a:rPr>
              <a:t>so replicates are a control, and the replicate spread is a column in the table rather than a footnote</a:t>
            </a:r>
          </a:p>
        </p:txBody>
      </p:sp>
      <p:sp>
        <p:nvSpPr>
          <p:cNvPr id="14" name="Rounded Rectangle 13"/>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Candidates that cannot be scored honestly are refused, not scored badly. Building it caught two faults that would have misled a user: a two-permutation null SD reported z = +77, and a fixed cutoff on that ratio called a Gly–Ser linker a hit.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The Same Three Candidates, Two Targets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32</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Identical candidate list, identical settings, opposite answers — the readout is not simply rewarding peptide-shaped sequences.</a:t>
            </a:r>
          </a:p>
        </p:txBody>
      </p:sp>
      <p:graphicFrame>
        <p:nvGraphicFramePr>
          <p:cNvPr id="8" name="Table 7"/>
          <p:cNvGraphicFramePr>
            <a:graphicFrameLocks noGrp="1"/>
          </p:cNvGraphicFramePr>
          <p:nvPr/>
        </p:nvGraphicFramePr>
        <p:xfrm>
          <a:off x="548640" y="1828800"/>
          <a:ext cx="11155680" cy="1554480"/>
        </p:xfrm>
        <a:graphic>
          <a:graphicData uri="http://schemas.openxmlformats.org/drawingml/2006/table">
            <a:tbl>
              <a:tblPr firstRow="1" bandRow="1">
                <a:tableStyleId>{5C22544A-7EE6-4342-B048-85BDC9FD1C3A}</a:tableStyleId>
              </a:tblPr>
              <a:tblGrid>
                <a:gridCol w="3200400"/>
                <a:gridCol w="1463040"/>
                <a:gridCol w="1463040"/>
                <a:gridCol w="1463040"/>
                <a:gridCol w="1463040"/>
                <a:gridCol w="2103120"/>
              </a:tblGrid>
              <a:tr h="388620">
                <a:tc>
                  <a:txBody>
                    <a:bodyPr/>
                    <a:lstStyle/>
                    <a:p>
                      <a:r>
                        <a:rPr sz="1300" b="1">
                          <a:solidFill>
                            <a:srgbClr val="0B2B52"/>
                          </a:solidFill>
                        </a:rPr>
                        <a:t>candidate</a:t>
                      </a:r>
                    </a:p>
                  </a:txBody>
                  <a:tcPr/>
                </a:tc>
                <a:tc>
                  <a:txBody>
                    <a:bodyPr/>
                    <a:lstStyle/>
                    <a:p>
                      <a:r>
                        <a:rPr sz="1300" b="1">
                          <a:solidFill>
                            <a:srgbClr val="0B2B52"/>
                          </a:solidFill>
                        </a:rPr>
                        <a:t>MDM2 — t</a:t>
                      </a:r>
                    </a:p>
                  </a:txBody>
                  <a:tcPr/>
                </a:tc>
                <a:tc>
                  <a:txBody>
                    <a:bodyPr/>
                    <a:lstStyle/>
                    <a:p>
                      <a:r>
                        <a:rPr sz="1300" b="1">
                          <a:solidFill>
                            <a:srgbClr val="0B2B52"/>
                          </a:solidFill>
                        </a:rPr>
                        <a:t>MDM2 — p</a:t>
                      </a:r>
                    </a:p>
                  </a:txBody>
                  <a:tcPr/>
                </a:tc>
                <a:tc>
                  <a:txBody>
                    <a:bodyPr/>
                    <a:lstStyle/>
                    <a:p>
                      <a:r>
                        <a:rPr sz="1300" b="1">
                          <a:solidFill>
                            <a:srgbClr val="0B2B52"/>
                          </a:solidFill>
                        </a:rPr>
                        <a:t>PDZ3 — t</a:t>
                      </a:r>
                    </a:p>
                  </a:txBody>
                  <a:tcPr/>
                </a:tc>
                <a:tc>
                  <a:txBody>
                    <a:bodyPr/>
                    <a:lstStyle/>
                    <a:p>
                      <a:r>
                        <a:rPr sz="1300" b="1">
                          <a:solidFill>
                            <a:srgbClr val="0B2B52"/>
                          </a:solidFill>
                        </a:rPr>
                        <a:t>PDZ3 — p</a:t>
                      </a:r>
                    </a:p>
                  </a:txBody>
                  <a:tcPr/>
                </a:tc>
                <a:tc>
                  <a:txBody>
                    <a:bodyPr/>
                    <a:lstStyle/>
                    <a:p>
                      <a:r>
                        <a:rPr sz="1300" b="1">
                          <a:solidFill>
                            <a:srgbClr val="0B2B52"/>
                          </a:solidFill>
                        </a:rPr>
                        <a:t>cognate of</a:t>
                      </a:r>
                    </a:p>
                  </a:txBody>
                  <a:tcPr/>
                </a:tc>
              </a:tr>
              <a:tr h="388620">
                <a:tc>
                  <a:txBody>
                    <a:bodyPr/>
                    <a:lstStyle/>
                    <a:p>
                      <a:r>
                        <a:rPr sz="1300" b="0">
                          <a:solidFill>
                            <a:srgbClr val="0B2B52"/>
                          </a:solidFill>
                        </a:rPr>
                        <a:t>SQETFSDLWKLLPEN</a:t>
                      </a:r>
                    </a:p>
                  </a:txBody>
                  <a:tcPr/>
                </a:tc>
                <a:tc>
                  <a:txBody>
                    <a:bodyPr/>
                    <a:lstStyle/>
                    <a:p>
                      <a:r>
                        <a:rPr sz="1300" b="0">
                          <a:solidFill>
                            <a:srgbClr val="0B2B52"/>
                          </a:solidFill>
                        </a:rPr>
                        <a:t>+3.88</a:t>
                      </a:r>
                    </a:p>
                  </a:txBody>
                  <a:tcPr/>
                </a:tc>
                <a:tc>
                  <a:txBody>
                    <a:bodyPr/>
                    <a:lstStyle/>
                    <a:p>
                      <a:r>
                        <a:rPr sz="1300" b="0">
                          <a:solidFill>
                            <a:srgbClr val="0B2B52"/>
                          </a:solidFill>
                        </a:rPr>
                        <a:t>0.002</a:t>
                      </a:r>
                    </a:p>
                  </a:txBody>
                  <a:tcPr/>
                </a:tc>
                <a:tc>
                  <a:txBody>
                    <a:bodyPr/>
                    <a:lstStyle/>
                    <a:p>
                      <a:r>
                        <a:rPr sz="1300" b="0">
                          <a:solidFill>
                            <a:srgbClr val="0B2B52"/>
                          </a:solidFill>
                        </a:rPr>
                        <a:t>+0.06</a:t>
                      </a:r>
                    </a:p>
                  </a:txBody>
                  <a:tcPr/>
                </a:tc>
                <a:tc>
                  <a:txBody>
                    <a:bodyPr/>
                    <a:lstStyle/>
                    <a:p>
                      <a:r>
                        <a:rPr sz="1300" b="0">
                          <a:solidFill>
                            <a:srgbClr val="0B2B52"/>
                          </a:solidFill>
                        </a:rPr>
                        <a:t>0.477</a:t>
                      </a:r>
                    </a:p>
                  </a:txBody>
                  <a:tcPr/>
                </a:tc>
                <a:tc>
                  <a:txBody>
                    <a:bodyPr/>
                    <a:lstStyle/>
                    <a:p>
                      <a:r>
                        <a:rPr sz="1300" b="0">
                          <a:solidFill>
                            <a:srgbClr val="0B2B52"/>
                          </a:solidFill>
                        </a:rPr>
                        <a:t>MDM2 (p53 helix)</a:t>
                      </a:r>
                    </a:p>
                  </a:txBody>
                  <a:tcPr/>
                </a:tc>
              </a:tr>
              <a:tr h="388620">
                <a:tc>
                  <a:txBody>
                    <a:bodyPr/>
                    <a:lstStyle/>
                    <a:p>
                      <a:r>
                        <a:rPr sz="1300" b="0">
                          <a:solidFill>
                            <a:srgbClr val="0B2B52"/>
                          </a:solidFill>
                        </a:rPr>
                        <a:t>KQTSV</a:t>
                      </a:r>
                    </a:p>
                  </a:txBody>
                  <a:tcPr/>
                </a:tc>
                <a:tc>
                  <a:txBody>
                    <a:bodyPr/>
                    <a:lstStyle/>
                    <a:p>
                      <a:r>
                        <a:rPr sz="1300" b="0">
                          <a:solidFill>
                            <a:srgbClr val="0B2B52"/>
                          </a:solidFill>
                        </a:rPr>
                        <a:t>+1.39</a:t>
                      </a:r>
                    </a:p>
                  </a:txBody>
                  <a:tcPr/>
                </a:tc>
                <a:tc>
                  <a:txBody>
                    <a:bodyPr/>
                    <a:lstStyle/>
                    <a:p>
                      <a:r>
                        <a:rPr sz="1300" b="0">
                          <a:solidFill>
                            <a:srgbClr val="0B2B52"/>
                          </a:solidFill>
                        </a:rPr>
                        <a:t>0.101</a:t>
                      </a:r>
                    </a:p>
                  </a:txBody>
                  <a:tcPr/>
                </a:tc>
                <a:tc>
                  <a:txBody>
                    <a:bodyPr/>
                    <a:lstStyle/>
                    <a:p>
                      <a:r>
                        <a:rPr sz="1300" b="0">
                          <a:solidFill>
                            <a:srgbClr val="0B2B52"/>
                          </a:solidFill>
                        </a:rPr>
                        <a:t>+7.72</a:t>
                      </a:r>
                    </a:p>
                  </a:txBody>
                  <a:tcPr/>
                </a:tc>
                <a:tc>
                  <a:txBody>
                    <a:bodyPr/>
                    <a:lstStyle/>
                    <a:p>
                      <a:r>
                        <a:rPr sz="1300" b="0">
                          <a:solidFill>
                            <a:srgbClr val="0B2B52"/>
                          </a:solidFill>
                        </a:rPr>
                        <a:t>&lt;0.001</a:t>
                      </a:r>
                    </a:p>
                  </a:txBody>
                  <a:tcPr/>
                </a:tc>
                <a:tc>
                  <a:txBody>
                    <a:bodyPr/>
                    <a:lstStyle/>
                    <a:p>
                      <a:r>
                        <a:rPr sz="1300" b="0">
                          <a:solidFill>
                            <a:srgbClr val="0B2B52"/>
                          </a:solidFill>
                        </a:rPr>
                        <a:t>PSD-95 PDZ3</a:t>
                      </a:r>
                    </a:p>
                  </a:txBody>
                  <a:tcPr/>
                </a:tc>
              </a:tr>
              <a:tr h="388620">
                <a:tc>
                  <a:txBody>
                    <a:bodyPr/>
                    <a:lstStyle/>
                    <a:p>
                      <a:r>
                        <a:rPr sz="1300" b="0">
                          <a:solidFill>
                            <a:srgbClr val="0B2B52"/>
                          </a:solidFill>
                        </a:rPr>
                        <a:t>PPPALPPKKR</a:t>
                      </a:r>
                    </a:p>
                  </a:txBody>
                  <a:tcPr/>
                </a:tc>
                <a:tc>
                  <a:txBody>
                    <a:bodyPr/>
                    <a:lstStyle/>
                    <a:p>
                      <a:r>
                        <a:rPr sz="1300" b="0">
                          <a:solidFill>
                            <a:srgbClr val="0B2B52"/>
                          </a:solidFill>
                        </a:rPr>
                        <a:t>−0.00</a:t>
                      </a:r>
                    </a:p>
                  </a:txBody>
                  <a:tcPr/>
                </a:tc>
                <a:tc>
                  <a:txBody>
                    <a:bodyPr/>
                    <a:lstStyle/>
                    <a:p>
                      <a:r>
                        <a:rPr sz="1300" b="0">
                          <a:solidFill>
                            <a:srgbClr val="0B2B52"/>
                          </a:solidFill>
                        </a:rPr>
                        <a:t>0.501</a:t>
                      </a:r>
                    </a:p>
                  </a:txBody>
                  <a:tcPr/>
                </a:tc>
                <a:tc>
                  <a:txBody>
                    <a:bodyPr/>
                    <a:lstStyle/>
                    <a:p>
                      <a:r>
                        <a:rPr sz="1300" b="0">
                          <a:solidFill>
                            <a:srgbClr val="0B2B52"/>
                          </a:solidFill>
                        </a:rPr>
                        <a:t>+0.75</a:t>
                      </a:r>
                    </a:p>
                  </a:txBody>
                  <a:tcPr/>
                </a:tc>
                <a:tc>
                  <a:txBody>
                    <a:bodyPr/>
                    <a:lstStyle/>
                    <a:p>
                      <a:r>
                        <a:rPr sz="1300" b="0">
                          <a:solidFill>
                            <a:srgbClr val="0B2B52"/>
                          </a:solidFill>
                        </a:rPr>
                        <a:t>0.240</a:t>
                      </a:r>
                    </a:p>
                  </a:txBody>
                  <a:tcPr/>
                </a:tc>
                <a:tc>
                  <a:txBody>
                    <a:bodyPr/>
                    <a:lstStyle/>
                    <a:p>
                      <a:r>
                        <a:rPr sz="1300" b="0">
                          <a:solidFill>
                            <a:srgbClr val="0B2B52"/>
                          </a:solidFill>
                        </a:rPr>
                        <a:t>c-Crk SH3</a:t>
                      </a:r>
                    </a:p>
                  </a:txBody>
                  <a:tcPr/>
                </a:tc>
              </a:tr>
            </a:tbl>
          </a:graphicData>
        </a:graphic>
      </p:graphicFrame>
      <p:sp>
        <p:nvSpPr>
          <p:cNvPr id="9" name="TextBox 8"/>
          <p:cNvSpPr txBox="1"/>
          <p:nvPr/>
        </p:nvSpPr>
        <p:spPr>
          <a:xfrm>
            <a:off x="548640" y="3520440"/>
            <a:ext cx="11155680" cy="1005840"/>
          </a:xfrm>
          <a:prstGeom prst="rect">
            <a:avLst/>
          </a:prstGeom>
          <a:noFill/>
        </p:spPr>
        <p:txBody>
          <a:bodyPr wrap="square">
            <a:spAutoFit/>
          </a:bodyPr>
          <a:lstStyle/>
          <a:p>
            <a:pPr>
              <a:spcAft>
                <a:spcPts val="600"/>
              </a:spcAft>
            </a:pPr>
            <a:r>
              <a:rPr sz="1500" b="0">
                <a:solidFill>
                  <a:srgbClr val="0B2B52"/>
                </a:solidFill>
              </a:rPr>
              <a:t>Each cognate wins on its own target and loses on the other. KQTSV is also the shortest candidate at five</a:t>
            </a:r>
          </a:p>
          <a:p>
            <a:pPr>
              <a:spcAft>
                <a:spcPts val="600"/>
              </a:spcAft>
            </a:pPr>
            <a:r>
              <a:rPr sz="1500" b="0">
                <a:solidFill>
                  <a:srgbClr val="0B2B52"/>
                </a:solidFill>
              </a:rPr>
              <a:t>residues, so the ranking is not being driven by length.</a:t>
            </a:r>
          </a:p>
        </p:txBody>
      </p:sp>
      <p:sp>
        <p:nvSpPr>
          <p:cNvPr id="10" name="Rounded Rectangle 9"/>
          <p:cNvSpPr/>
          <p:nvPr/>
        </p:nvSpPr>
        <p:spPr>
          <a:xfrm>
            <a:off x="548640" y="443484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Quick mode, two replicates, three scrambles — about three minutes a target on a laptop.</a:t>
            </a:r>
          </a:p>
        </p:txBody>
      </p:sp>
      <p:sp>
        <p:nvSpPr>
          <p:cNvPr id="11" name="Rounded Rectangle 10"/>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Shown with its failure: on c-Crk SH3 the cognate does not separate from its own scrambles (p = 0.40), and full sampling does not rescue it. A control that destroys only order has little to detect on a composition-driven interface.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Which Setting Carried It, and for Which Test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33</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Section 7.13 raised sampling steps, recycling and alignment depth together. Moving one at a time:</a:t>
            </a:r>
          </a:p>
        </p:txBody>
      </p:sp>
      <p:graphicFrame>
        <p:nvGraphicFramePr>
          <p:cNvPr id="8" name="Table 7"/>
          <p:cNvGraphicFramePr>
            <a:graphicFrameLocks noGrp="1"/>
          </p:cNvGraphicFramePr>
          <p:nvPr/>
        </p:nvGraphicFramePr>
        <p:xfrm>
          <a:off x="548640" y="1783080"/>
          <a:ext cx="11155680" cy="2194560"/>
        </p:xfrm>
        <a:graphic>
          <a:graphicData uri="http://schemas.openxmlformats.org/drawingml/2006/table">
            <a:tbl>
              <a:tblPr firstRow="1" bandRow="1">
                <a:tableStyleId>{5C22544A-7EE6-4342-B048-85BDC9FD1C3A}</a:tableStyleId>
              </a:tblPr>
              <a:tblGrid>
                <a:gridCol w="2377440"/>
                <a:gridCol w="2743200"/>
                <a:gridCol w="1828800"/>
                <a:gridCol w="2103120"/>
                <a:gridCol w="2103120"/>
              </a:tblGrid>
              <a:tr h="365760">
                <a:tc>
                  <a:txBody>
                    <a:bodyPr/>
                    <a:lstStyle/>
                    <a:p>
                      <a:r>
                        <a:rPr sz="1250" b="1">
                          <a:solidFill>
                            <a:srgbClr val="0B2B52"/>
                          </a:solidFill>
                        </a:rPr>
                        <a:t>Arm</a:t>
                      </a:r>
                    </a:p>
                  </a:txBody>
                  <a:tcPr/>
                </a:tc>
                <a:tc>
                  <a:txBody>
                    <a:bodyPr/>
                    <a:lstStyle/>
                    <a:p>
                      <a:r>
                        <a:rPr sz="1250" b="1">
                          <a:solidFill>
                            <a:srgbClr val="0B2B52"/>
                          </a:solidFill>
                        </a:rPr>
                        <a:t>steps / recycle / MSA</a:t>
                      </a:r>
                    </a:p>
                  </a:txBody>
                  <a:tcPr/>
                </a:tc>
                <a:tc>
                  <a:txBody>
                    <a:bodyPr/>
                    <a:lstStyle/>
                    <a:p>
                      <a:r>
                        <a:rPr sz="1250" b="1">
                          <a:solidFill>
                            <a:srgbClr val="0B2B52"/>
                          </a:solidFill>
                        </a:rPr>
                        <a:t>Cohen's d</a:t>
                      </a:r>
                    </a:p>
                  </a:txBody>
                  <a:tcPr/>
                </a:tc>
                <a:tc>
                  <a:txBody>
                    <a:bodyPr/>
                    <a:lstStyle/>
                    <a:p>
                      <a:r>
                        <a:rPr sz="1250" b="1">
                          <a:solidFill>
                            <a:srgbClr val="0B2B52"/>
                          </a:solidFill>
                        </a:rPr>
                        <a:t>share of gain</a:t>
                      </a:r>
                    </a:p>
                  </a:txBody>
                  <a:tcPr/>
                </a:tc>
                <a:tc>
                  <a:txBody>
                    <a:bodyPr/>
                    <a:lstStyle/>
                    <a:p>
                      <a:r>
                        <a:rPr sz="1250" b="1">
                          <a:solidFill>
                            <a:srgbClr val="0B2B52"/>
                          </a:solidFill>
                        </a:rPr>
                        <a:t>top-1 rank</a:t>
                      </a:r>
                    </a:p>
                  </a:txBody>
                  <a:tcPr/>
                </a:tc>
              </a:tr>
              <a:tr h="365760">
                <a:tc>
                  <a:txBody>
                    <a:bodyPr/>
                    <a:lstStyle/>
                    <a:p>
                      <a:r>
                        <a:rPr sz="1250" b="0">
                          <a:solidFill>
                            <a:srgbClr val="0B2B52"/>
                          </a:solidFill>
                        </a:rPr>
                        <a:t>reduced</a:t>
                      </a:r>
                    </a:p>
                  </a:txBody>
                  <a:tcPr/>
                </a:tc>
                <a:tc>
                  <a:txBody>
                    <a:bodyPr/>
                    <a:lstStyle/>
                    <a:p>
                      <a:r>
                        <a:rPr sz="1250" b="0">
                          <a:solidFill>
                            <a:srgbClr val="0B2B52"/>
                          </a:solidFill>
                        </a:rPr>
                        <a:t>10 / 1 / 32</a:t>
                      </a:r>
                    </a:p>
                  </a:txBody>
                  <a:tcPr/>
                </a:tc>
                <a:tc>
                  <a:txBody>
                    <a:bodyPr/>
                    <a:lstStyle/>
                    <a:p>
                      <a:r>
                        <a:rPr sz="1250" b="0">
                          <a:solidFill>
                            <a:srgbClr val="0B2B52"/>
                          </a:solidFill>
                        </a:rPr>
                        <a:t>0.28</a:t>
                      </a:r>
                    </a:p>
                  </a:txBody>
                  <a:tcPr/>
                </a:tc>
                <a:tc>
                  <a:txBody>
                    <a:bodyPr/>
                    <a:lstStyle/>
                    <a:p>
                      <a:r>
                        <a:rPr sz="1250" b="0">
                          <a:solidFill>
                            <a:srgbClr val="0B2B52"/>
                          </a:solidFill>
                        </a:rPr>
                        <a:t>—</a:t>
                      </a:r>
                    </a:p>
                  </a:txBody>
                  <a:tcPr/>
                </a:tc>
                <a:tc>
                  <a:txBody>
                    <a:bodyPr/>
                    <a:lstStyle/>
                    <a:p>
                      <a:r>
                        <a:rPr sz="1250" b="0">
                          <a:solidFill>
                            <a:srgbClr val="0B2B52"/>
                          </a:solidFill>
                        </a:rPr>
                        <a:t>9 of 22</a:t>
                      </a:r>
                    </a:p>
                  </a:txBody>
                  <a:tcPr/>
                </a:tc>
              </a:tr>
              <a:tr h="365760">
                <a:tc>
                  <a:txBody>
                    <a:bodyPr/>
                    <a:lstStyle/>
                    <a:p>
                      <a:r>
                        <a:rPr sz="1250" b="0">
                          <a:solidFill>
                            <a:srgbClr val="0B2B52"/>
                          </a:solidFill>
                        </a:rPr>
                        <a:t>sampling only</a:t>
                      </a:r>
                    </a:p>
                  </a:txBody>
                  <a:tcPr/>
                </a:tc>
                <a:tc>
                  <a:txBody>
                    <a:bodyPr/>
                    <a:lstStyle/>
                    <a:p>
                      <a:r>
                        <a:rPr sz="1250" b="0">
                          <a:solidFill>
                            <a:srgbClr val="0B2B52"/>
                          </a:solidFill>
                        </a:rPr>
                        <a:t>200 / 1 / 32</a:t>
                      </a:r>
                    </a:p>
                  </a:txBody>
                  <a:tcPr/>
                </a:tc>
                <a:tc>
                  <a:txBody>
                    <a:bodyPr/>
                    <a:lstStyle/>
                    <a:p>
                      <a:r>
                        <a:rPr sz="1250" b="0">
                          <a:solidFill>
                            <a:srgbClr val="0B2B52"/>
                          </a:solidFill>
                        </a:rPr>
                        <a:t>1.13</a:t>
                      </a:r>
                    </a:p>
                  </a:txBody>
                  <a:tcPr/>
                </a:tc>
                <a:tc>
                  <a:txBody>
                    <a:bodyPr/>
                    <a:lstStyle/>
                    <a:p>
                      <a:r>
                        <a:rPr sz="1250" b="0">
                          <a:solidFill>
                            <a:srgbClr val="0B2B52"/>
                          </a:solidFill>
                        </a:rPr>
                        <a:t>69%</a:t>
                      </a:r>
                    </a:p>
                  </a:txBody>
                  <a:tcPr/>
                </a:tc>
                <a:tc>
                  <a:txBody>
                    <a:bodyPr/>
                    <a:lstStyle/>
                    <a:p>
                      <a:r>
                        <a:rPr sz="1250" b="0">
                          <a:solidFill>
                            <a:srgbClr val="0B2B52"/>
                          </a:solidFill>
                        </a:rPr>
                        <a:t>13 of 22</a:t>
                      </a:r>
                    </a:p>
                  </a:txBody>
                  <a:tcPr/>
                </a:tc>
              </a:tr>
              <a:tr h="365760">
                <a:tc>
                  <a:txBody>
                    <a:bodyPr/>
                    <a:lstStyle/>
                    <a:p>
                      <a:r>
                        <a:rPr sz="1250" b="0">
                          <a:solidFill>
                            <a:srgbClr val="0B2B52"/>
                          </a:solidFill>
                        </a:rPr>
                        <a:t>alignment only</a:t>
                      </a:r>
                    </a:p>
                  </a:txBody>
                  <a:tcPr/>
                </a:tc>
                <a:tc>
                  <a:txBody>
                    <a:bodyPr/>
                    <a:lstStyle/>
                    <a:p>
                      <a:r>
                        <a:rPr sz="1250" b="0">
                          <a:solidFill>
                            <a:srgbClr val="0B2B52"/>
                          </a:solidFill>
                        </a:rPr>
                        <a:t>10 / 1 / full</a:t>
                      </a:r>
                    </a:p>
                  </a:txBody>
                  <a:tcPr/>
                </a:tc>
                <a:tc>
                  <a:txBody>
                    <a:bodyPr/>
                    <a:lstStyle/>
                    <a:p>
                      <a:r>
                        <a:rPr sz="1250" b="0">
                          <a:solidFill>
                            <a:srgbClr val="0B2B52"/>
                          </a:solidFill>
                        </a:rPr>
                        <a:t>0.18</a:t>
                      </a:r>
                    </a:p>
                  </a:txBody>
                  <a:tcPr/>
                </a:tc>
                <a:tc>
                  <a:txBody>
                    <a:bodyPr/>
                    <a:lstStyle/>
                    <a:p>
                      <a:r>
                        <a:rPr sz="1250" b="0">
                          <a:solidFill>
                            <a:srgbClr val="0B2B52"/>
                          </a:solidFill>
                        </a:rPr>
                        <a:t>−8%</a:t>
                      </a:r>
                    </a:p>
                  </a:txBody>
                  <a:tcPr/>
                </a:tc>
                <a:tc>
                  <a:txBody>
                    <a:bodyPr/>
                    <a:lstStyle/>
                    <a:p>
                      <a:r>
                        <a:rPr sz="1250" b="0">
                          <a:solidFill>
                            <a:srgbClr val="0B2B52"/>
                          </a:solidFill>
                        </a:rPr>
                        <a:t>8 of 22</a:t>
                      </a:r>
                    </a:p>
                  </a:txBody>
                  <a:tcPr/>
                </a:tc>
              </a:tr>
              <a:tr h="365760">
                <a:tc>
                  <a:txBody>
                    <a:bodyPr/>
                    <a:lstStyle/>
                    <a:p>
                      <a:r>
                        <a:rPr sz="1250" b="0">
                          <a:solidFill>
                            <a:srgbClr val="0B2B52"/>
                          </a:solidFill>
                        </a:rPr>
                        <a:t>recycling only</a:t>
                      </a:r>
                    </a:p>
                  </a:txBody>
                  <a:tcPr/>
                </a:tc>
                <a:tc>
                  <a:txBody>
                    <a:bodyPr/>
                    <a:lstStyle/>
                    <a:p>
                      <a:r>
                        <a:rPr sz="1250" b="0">
                          <a:solidFill>
                            <a:srgbClr val="0B2B52"/>
                          </a:solidFill>
                        </a:rPr>
                        <a:t>10 / 3 / 32</a:t>
                      </a:r>
                    </a:p>
                  </a:txBody>
                  <a:tcPr/>
                </a:tc>
                <a:tc>
                  <a:txBody>
                    <a:bodyPr/>
                    <a:lstStyle/>
                    <a:p>
                      <a:r>
                        <a:rPr sz="1250" b="0">
                          <a:solidFill>
                            <a:srgbClr val="0B2B52"/>
                          </a:solidFill>
                        </a:rPr>
                        <a:t>0.22</a:t>
                      </a:r>
                    </a:p>
                  </a:txBody>
                  <a:tcPr/>
                </a:tc>
                <a:tc>
                  <a:txBody>
                    <a:bodyPr/>
                    <a:lstStyle/>
                    <a:p>
                      <a:r>
                        <a:rPr sz="1250" b="0">
                          <a:solidFill>
                            <a:srgbClr val="0B2B52"/>
                          </a:solidFill>
                        </a:rPr>
                        <a:t>−5%</a:t>
                      </a:r>
                    </a:p>
                  </a:txBody>
                  <a:tcPr/>
                </a:tc>
                <a:tc>
                  <a:txBody>
                    <a:bodyPr/>
                    <a:lstStyle/>
                    <a:p>
                      <a:r>
                        <a:rPr sz="1250" b="0">
                          <a:solidFill>
                            <a:srgbClr val="0B2B52"/>
                          </a:solidFill>
                        </a:rPr>
                        <a:t>7 of 22</a:t>
                      </a:r>
                    </a:p>
                  </a:txBody>
                  <a:tcPr/>
                </a:tc>
              </a:tr>
              <a:tr h="365760">
                <a:tc>
                  <a:txBody>
                    <a:bodyPr/>
                    <a:lstStyle/>
                    <a:p>
                      <a:r>
                        <a:rPr sz="1250" b="0">
                          <a:solidFill>
                            <a:srgbClr val="0B2B52"/>
                          </a:solidFill>
                        </a:rPr>
                        <a:t>all three</a:t>
                      </a:r>
                    </a:p>
                  </a:txBody>
                  <a:tcPr/>
                </a:tc>
                <a:tc>
                  <a:txBody>
                    <a:bodyPr/>
                    <a:lstStyle/>
                    <a:p>
                      <a:r>
                        <a:rPr sz="1250" b="0">
                          <a:solidFill>
                            <a:srgbClr val="0B2B52"/>
                          </a:solidFill>
                        </a:rPr>
                        <a:t>200 / 3 / full</a:t>
                      </a:r>
                    </a:p>
                  </a:txBody>
                  <a:tcPr/>
                </a:tc>
                <a:tc>
                  <a:txBody>
                    <a:bodyPr/>
                    <a:lstStyle/>
                    <a:p>
                      <a:r>
                        <a:rPr sz="1250" b="0">
                          <a:solidFill>
                            <a:srgbClr val="0B2B52"/>
                          </a:solidFill>
                        </a:rPr>
                        <a:t>1.52</a:t>
                      </a:r>
                    </a:p>
                  </a:txBody>
                  <a:tcPr/>
                </a:tc>
                <a:tc>
                  <a:txBody>
                    <a:bodyPr/>
                    <a:lstStyle/>
                    <a:p>
                      <a:r>
                        <a:rPr sz="1250" b="0">
                          <a:solidFill>
                            <a:srgbClr val="0B2B52"/>
                          </a:solidFill>
                        </a:rPr>
                        <a:t>100%</a:t>
                      </a:r>
                    </a:p>
                  </a:txBody>
                  <a:tcPr/>
                </a:tc>
                <a:tc>
                  <a:txBody>
                    <a:bodyPr/>
                    <a:lstStyle/>
                    <a:p>
                      <a:r>
                        <a:rPr sz="1250" b="0">
                          <a:solidFill>
                            <a:srgbClr val="0B2B52"/>
                          </a:solidFill>
                        </a:rPr>
                        <a:t>17 of 22</a:t>
                      </a:r>
                    </a:p>
                  </a:txBody>
                  <a:tcPr/>
                </a:tc>
              </a:tr>
            </a:tbl>
          </a:graphicData>
        </a:graphic>
      </p:graphicFrame>
      <p:sp>
        <p:nvSpPr>
          <p:cNvPr id="9" name="TextBox 8"/>
          <p:cNvSpPr txBox="1"/>
          <p:nvPr/>
        </p:nvSpPr>
        <p:spPr>
          <a:xfrm>
            <a:off x="548640" y="4160520"/>
            <a:ext cx="11155680" cy="1005840"/>
          </a:xfrm>
          <a:prstGeom prst="rect">
            <a:avLst/>
          </a:prstGeom>
          <a:noFill/>
        </p:spPr>
        <p:txBody>
          <a:bodyPr wrap="square">
            <a:spAutoFit/>
          </a:bodyPr>
          <a:lstStyle/>
          <a:p>
            <a:pPr>
              <a:spcAft>
                <a:spcPts val="600"/>
              </a:spcAft>
            </a:pPr>
            <a:r>
              <a:rPr sz="1500" b="0">
                <a:solidFill>
                  <a:srgbClr val="0B2B52"/>
                </a:solidFill>
              </a:rPr>
              <a:t>Sampling steps alone recover 69% of the gain for a third of the cost — 33 s a fold against 106 s.</a:t>
            </a:r>
          </a:p>
          <a:p>
            <a:pPr>
              <a:spcAft>
                <a:spcPts val="600"/>
              </a:spcAft>
            </a:pPr>
            <a:r>
              <a:rPr sz="1500" b="0">
                <a:solidFill>
                  <a:srgbClr val="0B2B52"/>
                </a:solidFill>
              </a:rPr>
              <a:t>Alignment depth and recycling, moved alone, sit below the reduced baseline on every readout.</a:t>
            </a:r>
          </a:p>
        </p:txBody>
      </p:sp>
      <p:sp>
        <p:nvSpPr>
          <p:cNvPr id="10" name="Rounded Rectangle 9"/>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shares sum to 25–55%, not 100%: the settings are synergistic. A deeper alignment is worth nothing on an unconverged structure.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Automated Searches — One Was Safe, One Was Not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34</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The same machinery applied to two problems that differ in one respect: whether a candidate can be checked.</a:t>
            </a:r>
          </a:p>
        </p:txBody>
      </p:sp>
      <p:sp>
        <p:nvSpPr>
          <p:cNvPr id="8" name="Rounded Rectangle 7"/>
          <p:cNvSpPr/>
          <p:nvPr/>
        </p:nvSpPr>
        <p:spPr>
          <a:xfrm>
            <a:off x="548640" y="1691640"/>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p = 0.425</a:t>
            </a:r>
          </a:p>
          <a:p>
            <a:pPr algn="ctr"/>
            <a:r>
              <a:rPr sz="1050">
                <a:solidFill>
                  <a:srgbClr val="FFFFFF"/>
                </a:solidFill>
              </a:rPr>
              <a:t>readout search: the gain a permutation null also finds</a:t>
            </a:r>
          </a:p>
        </p:txBody>
      </p:sp>
      <p:sp>
        <p:nvSpPr>
          <p:cNvPr id="9" name="Rounded Rectangle 8"/>
          <p:cNvSpPr/>
          <p:nvPr/>
        </p:nvSpPr>
        <p:spPr>
          <a:xfrm>
            <a:off x="6263640" y="1691640"/>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max |diff| = 0</a:t>
            </a:r>
          </a:p>
          <a:p>
            <a:pPr algn="ctr"/>
            <a:r>
              <a:rPr sz="1050">
                <a:solidFill>
                  <a:srgbClr val="FFFFFF"/>
                </a:solidFill>
              </a:rPr>
              <a:t>operator rewrite: verified against its own reference</a:t>
            </a:r>
          </a:p>
        </p:txBody>
      </p:sp>
      <p:sp>
        <p:nvSpPr>
          <p:cNvPr id="10" name="TextBox 9"/>
          <p:cNvSpPr txBox="1"/>
          <p:nvPr/>
        </p:nvSpPr>
        <p:spPr>
          <a:xfrm>
            <a:off x="548640" y="3291840"/>
            <a:ext cx="11155680" cy="777240"/>
          </a:xfrm>
          <a:prstGeom prst="rect">
            <a:avLst/>
          </a:prstGeom>
          <a:noFill/>
        </p:spPr>
        <p:txBody>
          <a:bodyPr wrap="square">
            <a:spAutoFit/>
          </a:bodyPr>
          <a:lstStyle/>
          <a:p>
            <a:r>
              <a:rPr sz="1450" b="1">
                <a:solidFill>
                  <a:srgbClr val="0B2B52"/>
                </a:solidFill>
              </a:rPr>
              <a:t>Searching readouts on 22 receptors found a combination beating the headline by +0.018 AUC</a:t>
            </a:r>
          </a:p>
          <a:p>
            <a:r>
              <a:rPr sz="1250">
                <a:solidFill>
                  <a:srgbClr val="1E6FB8"/>
                </a:solidFill>
              </a:rPr>
              <a:t>a permutation null gains +0.032 on average, and the held-out panel reverses the gain to −0.029. Refused.</a:t>
            </a:r>
          </a:p>
        </p:txBody>
      </p:sp>
      <p:sp>
        <p:nvSpPr>
          <p:cNvPr id="11" name="TextBox 10"/>
          <p:cNvSpPr txBox="1"/>
          <p:nvPr/>
        </p:nvSpPr>
        <p:spPr>
          <a:xfrm>
            <a:off x="548640" y="4251960"/>
            <a:ext cx="11155680" cy="777240"/>
          </a:xfrm>
          <a:prstGeom prst="rect">
            <a:avLst/>
          </a:prstGeom>
          <a:noFill/>
        </p:spPr>
        <p:txBody>
          <a:bodyPr wrap="square">
            <a:spAutoFit/>
          </a:bodyPr>
          <a:lstStyle/>
          <a:p>
            <a:r>
              <a:rPr sz="1450" b="1">
                <a:solidFill>
                  <a:srgbClr val="0B2B52"/>
                </a:solidFill>
              </a:rPr>
              <a:t>Searching operator rewrites found two worth 1.46× and 1.19×</a:t>
            </a:r>
          </a:p>
          <a:p>
            <a:r>
              <a:rPr sz="1250">
                <a:solidFill>
                  <a:srgbClr val="1E6FB8"/>
                </a:solidFill>
              </a:rPr>
              <a:t>bit-exact, and seeded folds before and after give identical coordinates and identical ipTM. Accepted.</a:t>
            </a:r>
          </a:p>
        </p:txBody>
      </p:sp>
      <p:sp>
        <p:nvSpPr>
          <p:cNvPr id="12" name="Rounded Rectangle 11"/>
          <p:cNvSpPr/>
          <p:nvPr/>
        </p:nvSpPr>
        <p:spPr>
          <a:xfrm>
            <a:off x="548640" y="525780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Search pays where a candidate can be verified independently of the data that proposed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Against Binding That Was Actually Measured</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35</a:t>
            </a:r>
          </a:p>
        </p:txBody>
      </p:sp>
      <p:sp>
        <p:nvSpPr>
          <p:cNvPr id="7" name="TextBox 6"/>
          <p:cNvSpPr txBox="1"/>
          <p:nvPr/>
        </p:nvSpPr>
        <p:spPr>
          <a:xfrm>
            <a:off x="548640" y="1051560"/>
            <a:ext cx="11155680" cy="1005840"/>
          </a:xfrm>
          <a:prstGeom prst="rect">
            <a:avLst/>
          </a:prstGeom>
          <a:noFill/>
        </p:spPr>
        <p:txBody>
          <a:bodyPr wrap="square">
            <a:spAutoFit/>
          </a:bodyPr>
          <a:lstStyle/>
          <a:p>
            <a:pPr>
              <a:spcAft>
                <a:spcPts val="600"/>
              </a:spcAft>
            </a:pPr>
            <a:r>
              <a:rPr sz="1500" b="0">
                <a:solidFill>
                  <a:srgbClr val="0B2B52"/>
                </a:solidFill>
              </a:rPr>
              <a:t>1,320 de novo designs released by Anthropic, binding measured by two contract research organisations,</a:t>
            </a:r>
          </a:p>
          <a:p>
            <a:pPr>
              <a:spcAft>
                <a:spcPts val="600"/>
              </a:spcAft>
            </a:pPr>
            <a:r>
              <a:rPr sz="1500" b="0">
                <a:solidFill>
                  <a:srgbClr val="0B2B52"/>
                </a:solidFill>
              </a:rPr>
              <a:t>on molecules that postdate every model's training. Contamination is unavailable as an explanation.</a:t>
            </a:r>
          </a:p>
        </p:txBody>
      </p:sp>
      <p:sp>
        <p:nvSpPr>
          <p:cNvPr id="8" name="Rounded Rectangle 7"/>
          <p:cNvSpPr/>
          <p:nvPr/>
        </p:nvSpPr>
        <p:spPr>
          <a:xfrm>
            <a:off x="54864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this work, in-training panel</a:t>
            </a:r>
          </a:p>
        </p:txBody>
      </p:sp>
      <p:sp>
        <p:nvSpPr>
          <p:cNvPr id="9" name="Rounded Rectangle 8"/>
          <p:cNvSpPr/>
          <p:nvPr/>
        </p:nvSpPr>
        <p:spPr>
          <a:xfrm>
            <a:off x="4343400" y="196596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0.682–0.803</a:t>
            </a:r>
          </a:p>
          <a:p>
            <a:pPr algn="ctr"/>
            <a:r>
              <a:rPr sz="1050">
                <a:solidFill>
                  <a:srgbClr val="FFFFFF"/>
                </a:solidFill>
              </a:rPr>
              <a:t>this work, held-out panel</a:t>
            </a:r>
          </a:p>
        </p:txBody>
      </p:sp>
      <p:sp>
        <p:nvSpPr>
          <p:cNvPr id="10" name="Rounded Rectangle 9"/>
          <p:cNvSpPr/>
          <p:nvPr/>
        </p:nvSpPr>
        <p:spPr>
          <a:xfrm>
            <a:off x="8138160" y="196596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0.626</a:t>
            </a:r>
          </a:p>
          <a:p>
            <a:pPr algn="ctr"/>
            <a:r>
              <a:rPr sz="1050">
                <a:solidFill>
                  <a:srgbClr val="FFFFFF"/>
                </a:solidFill>
              </a:rPr>
              <a:t>interface pLDDT vs measured binding</a:t>
            </a:r>
          </a:p>
        </p:txBody>
      </p:sp>
      <p:sp>
        <p:nvSpPr>
          <p:cNvPr id="11" name="TextBox 10"/>
          <p:cNvSpPr txBox="1"/>
          <p:nvPr/>
        </p:nvSpPr>
        <p:spPr>
          <a:xfrm>
            <a:off x="548640" y="3703320"/>
            <a:ext cx="11155680" cy="640080"/>
          </a:xfrm>
          <a:prstGeom prst="rect">
            <a:avLst/>
          </a:prstGeom>
          <a:noFill/>
        </p:spPr>
        <p:txBody>
          <a:bodyPr wrap="square">
            <a:spAutoFit/>
          </a:bodyPr>
          <a:lstStyle/>
          <a:p>
            <a:pPr>
              <a:spcAft>
                <a:spcPts val="600"/>
              </a:spcAft>
            </a:pPr>
            <a:r>
              <a:rPr sz="1500" b="0">
                <a:solidFill>
                  <a:srgbClr val="0B2B52"/>
                </a:solidFill>
              </a:rPr>
              <a:t>Ten independently developed predictors all land between 0.62 and 0.67. The ceiling belongs to the task.</a:t>
            </a:r>
          </a:p>
        </p:txBody>
      </p:sp>
      <p:sp>
        <p:nvSpPr>
          <p:cNvPr id="12" name="Rounded Rectangle 11"/>
          <p:cNvSpPr/>
          <p:nvPr/>
        </p:nvSpPr>
        <p:spPr>
          <a:xfrm>
            <a:off x="548640" y="43434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beats the binder's whole-chain confidence by +0.033 AUC [+0.005, +0.061] — Section 7.7's claim, on measured binding.</a:t>
            </a:r>
          </a:p>
        </p:txBody>
      </p:sp>
      <p:sp>
        <p:nvSpPr>
          <p:cNvPr id="13" name="Rounded Rectangle 12"/>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held-out figure is far closer to the wet-lab figure than the headline is, and still above it. A benchmark quoted without saying whether the complexes were in training overstates a screen — this puts a number on by how much, from outside the dissertation.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37</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38</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Delivered as a local screening tool: the scramble control, the cost of reduced settings and the replicate spread are built into what it does rather than written beside it (slides 31–32).</a:t>
            </a:r>
          </a:p>
          <a:p>
            <a:r>
              <a:rPr sz="1400" b="0">
                <a:solidFill>
                  <a:srgbClr val="0B2B52"/>
                </a:solidFill>
              </a:rPr>
              <a:t>•  Of the three inference settings raised together, sampling steps carry the effect; alignment depth and recycling carry none of it, and 69% of the gain costs a third of the compute.</a:t>
            </a:r>
          </a:p>
          <a:p>
            <a:r>
              <a:rPr sz="1400" b="0">
                <a:solidFill>
                  <a:srgbClr val="0B2B52"/>
                </a:solidFill>
              </a:rPr>
              <a:t>•  Checked against binding measured in a wet lab on 1,320 designs no model had seen: 0.626, against 0.943 on the in-training panel. The readout still beats whole-chain confidence, which was the claim.</a:t>
            </a:r>
          </a:p>
          <a:p>
            <a:r>
              <a:rPr sz="1400" b="0">
                <a:solidFill>
                  <a:srgbClr val="0B2B52"/>
                </a:solidFill>
              </a:rPr>
              <a:t>•  Next: extend the panel past 22 receptors, which is what now limits the open questions.</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the Scramble Control Stops Working</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36</a:t>
            </a:r>
          </a:p>
        </p:txBody>
      </p:sp>
      <p:sp>
        <p:nvSpPr>
          <p:cNvPr id="7" name="TextBox 6"/>
          <p:cNvSpPr txBox="1"/>
          <p:nvPr/>
        </p:nvSpPr>
        <p:spPr>
          <a:xfrm>
            <a:off x="548640" y="1051560"/>
            <a:ext cx="11155680" cy="1005840"/>
          </a:xfrm>
          <a:prstGeom prst="rect">
            <a:avLst/>
          </a:prstGeom>
          <a:noFill/>
        </p:spPr>
        <p:txBody>
          <a:bodyPr wrap="square">
            <a:spAutoFit/>
          </a:bodyPr>
          <a:lstStyle/>
          <a:p>
            <a:pPr>
              <a:spcAft>
                <a:spcPts val="600"/>
              </a:spcAft>
            </a:pPr>
            <a:r>
              <a:rPr sz="1500" b="0">
                <a:solidFill>
                  <a:srgbClr val="0B2B52"/>
                </a:solidFill>
              </a:rPr>
              <a:t>38 of those designs folded as delivered and against permutations of themselves. The prediction below was</a:t>
            </a:r>
          </a:p>
          <a:p>
            <a:pPr>
              <a:spcAft>
                <a:spcPts val="600"/>
              </a:spcAft>
            </a:pPr>
            <a:r>
              <a:rPr sz="1500" b="0">
                <a:solidFill>
                  <a:srgbClr val="0B2B52"/>
                </a:solidFill>
              </a:rPr>
              <a:t>written into the source and committed before any fold ran.</a:t>
            </a:r>
          </a:p>
        </p:txBody>
      </p:sp>
      <p:graphicFrame>
        <p:nvGraphicFramePr>
          <p:cNvPr id="8" name="Table 7"/>
          <p:cNvGraphicFramePr>
            <a:graphicFrameLocks noGrp="1"/>
          </p:cNvGraphicFramePr>
          <p:nvPr/>
        </p:nvGraphicFramePr>
        <p:xfrm>
          <a:off x="548640" y="1965960"/>
          <a:ext cx="11155680" cy="1234440"/>
        </p:xfrm>
        <a:graphic>
          <a:graphicData uri="http://schemas.openxmlformats.org/drawingml/2006/table">
            <a:tbl>
              <a:tblPr firstRow="1" bandRow="1">
                <a:tableStyleId>{5C22544A-7EE6-4342-B048-85BDC9FD1C3A}</a:tableStyleId>
              </a:tblPr>
              <a:tblGrid>
                <a:gridCol w="4023360"/>
                <a:gridCol w="2377440"/>
                <a:gridCol w="2560320"/>
                <a:gridCol w="2194560"/>
              </a:tblGrid>
              <a:tr h="411480">
                <a:tc>
                  <a:txBody>
                    <a:bodyPr/>
                    <a:lstStyle/>
                    <a:p/>
                  </a:txBody>
                  <a:tcPr/>
                </a:tc>
                <a:tc>
                  <a:txBody>
                    <a:bodyPr/>
                    <a:lstStyle/>
                    <a:p>
                      <a:r>
                        <a:rPr sz="1300" b="1">
                          <a:solidFill>
                            <a:srgbClr val="0B2B52"/>
                          </a:solidFill>
                        </a:rPr>
                        <a:t>design</a:t>
                      </a:r>
                    </a:p>
                  </a:txBody>
                  <a:tcPr/>
                </a:tc>
                <a:tc>
                  <a:txBody>
                    <a:bodyPr/>
                    <a:lstStyle/>
                    <a:p>
                      <a:r>
                        <a:rPr sz="1300" b="1">
                          <a:solidFill>
                            <a:srgbClr val="0B2B52"/>
                          </a:solidFill>
                        </a:rPr>
                        <a:t>its scrambles</a:t>
                      </a:r>
                    </a:p>
                  </a:txBody>
                  <a:tcPr/>
                </a:tc>
                <a:tc>
                  <a:txBody>
                    <a:bodyPr/>
                    <a:lstStyle/>
                    <a:p>
                      <a:r>
                        <a:rPr sz="1300" b="1">
                          <a:solidFill>
                            <a:srgbClr val="0B2B52"/>
                          </a:solidFill>
                        </a:rPr>
                        <a:t>margin</a:t>
                      </a:r>
                    </a:p>
                  </a:txBody>
                  <a:tcPr/>
                </a:tc>
              </a:tr>
              <a:tr h="411480">
                <a:tc>
                  <a:txBody>
                    <a:bodyPr/>
                    <a:lstStyle/>
                    <a:p>
                      <a:r>
                        <a:rPr sz="1300" b="0">
                          <a:solidFill>
                            <a:srgbClr val="0B2B52"/>
                          </a:solidFill>
                        </a:rPr>
                        <a:t>measured binders (20)</a:t>
                      </a:r>
                    </a:p>
                  </a:txBody>
                  <a:tcPr/>
                </a:tc>
                <a:tc>
                  <a:txBody>
                    <a:bodyPr/>
                    <a:lstStyle/>
                    <a:p>
                      <a:r>
                        <a:rPr sz="1300" b="0">
                          <a:solidFill>
                            <a:srgbClr val="0B2B52"/>
                          </a:solidFill>
                        </a:rPr>
                        <a:t>72.99</a:t>
                      </a:r>
                    </a:p>
                  </a:txBody>
                  <a:tcPr/>
                </a:tc>
                <a:tc>
                  <a:txBody>
                    <a:bodyPr/>
                    <a:lstStyle/>
                    <a:p>
                      <a:r>
                        <a:rPr sz="1300" b="0">
                          <a:solidFill>
                            <a:srgbClr val="0B2B52"/>
                          </a:solidFill>
                        </a:rPr>
                        <a:t>53.88</a:t>
                      </a:r>
                    </a:p>
                  </a:txBody>
                  <a:tcPr/>
                </a:tc>
                <a:tc>
                  <a:txBody>
                    <a:bodyPr/>
                    <a:lstStyle/>
                    <a:p>
                      <a:r>
                        <a:rPr sz="1300" b="0">
                          <a:solidFill>
                            <a:srgbClr val="0B2B52"/>
                          </a:solidFill>
                        </a:rPr>
                        <a:t>+19.11</a:t>
                      </a:r>
                    </a:p>
                  </a:txBody>
                  <a:tcPr/>
                </a:tc>
              </a:tr>
              <a:tr h="411480">
                <a:tc>
                  <a:txBody>
                    <a:bodyPr/>
                    <a:lstStyle/>
                    <a:p>
                      <a:r>
                        <a:rPr sz="1300" b="0">
                          <a:solidFill>
                            <a:srgbClr val="0B2B52"/>
                          </a:solidFill>
                        </a:rPr>
                        <a:t>measured non-binders (18)</a:t>
                      </a:r>
                    </a:p>
                  </a:txBody>
                  <a:tcPr/>
                </a:tc>
                <a:tc>
                  <a:txBody>
                    <a:bodyPr/>
                    <a:lstStyle/>
                    <a:p>
                      <a:r>
                        <a:rPr sz="1300" b="0">
                          <a:solidFill>
                            <a:srgbClr val="0B2B52"/>
                          </a:solidFill>
                        </a:rPr>
                        <a:t>71.15</a:t>
                      </a:r>
                    </a:p>
                  </a:txBody>
                  <a:tcPr/>
                </a:tc>
                <a:tc>
                  <a:txBody>
                    <a:bodyPr/>
                    <a:lstStyle/>
                    <a:p>
                      <a:r>
                        <a:rPr sz="1300" b="0">
                          <a:solidFill>
                            <a:srgbClr val="0B2B52"/>
                          </a:solidFill>
                        </a:rPr>
                        <a:t>53.22</a:t>
                      </a:r>
                    </a:p>
                  </a:txBody>
                  <a:tcPr/>
                </a:tc>
                <a:tc>
                  <a:txBody>
                    <a:bodyPr/>
                    <a:lstStyle/>
                    <a:p>
                      <a:r>
                        <a:rPr sz="1300" b="0">
                          <a:solidFill>
                            <a:srgbClr val="0B2B52"/>
                          </a:solidFill>
                        </a:rPr>
                        <a:t>+17.93</a:t>
                      </a:r>
                    </a:p>
                  </a:txBody>
                  <a:tcPr/>
                </a:tc>
              </a:tr>
            </a:tbl>
          </a:graphicData>
        </a:graphic>
      </p:graphicFrame>
      <p:sp>
        <p:nvSpPr>
          <p:cNvPr id="9" name="Rounded Rectangle 8"/>
          <p:cNvSpPr/>
          <p:nvPr/>
        </p:nvSpPr>
        <p:spPr>
          <a:xfrm>
            <a:off x="548640" y="3429000"/>
            <a:ext cx="352044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p = 0.751</a:t>
            </a:r>
          </a:p>
          <a:p>
            <a:pPr algn="ctr"/>
            <a:r>
              <a:rPr sz="1050">
                <a:solidFill>
                  <a:srgbClr val="FFFFFF"/>
                </a:solidFill>
              </a:rPr>
              <a:t>the two margins are indistinguishable</a:t>
            </a:r>
          </a:p>
        </p:txBody>
      </p:sp>
      <p:sp>
        <p:nvSpPr>
          <p:cNvPr id="10" name="Rounded Rectangle 9"/>
          <p:cNvSpPr/>
          <p:nvPr/>
        </p:nvSpPr>
        <p:spPr>
          <a:xfrm>
            <a:off x="4343400" y="3429000"/>
            <a:ext cx="352044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0.672 → 0.581</a:t>
            </a:r>
          </a:p>
          <a:p>
            <a:pPr algn="ctr"/>
            <a:r>
              <a:rPr sz="1050">
                <a:solidFill>
                  <a:srgbClr val="FFFFFF"/>
                </a:solidFill>
              </a:rPr>
              <a:t>AUC, before and after subtracting scrambles</a:t>
            </a:r>
          </a:p>
        </p:txBody>
      </p:sp>
      <p:sp>
        <p:nvSpPr>
          <p:cNvPr id="11" name="Rounded Rectangle 10"/>
          <p:cNvSpPr/>
          <p:nvPr/>
        </p:nvSpPr>
        <p:spPr>
          <a:xfrm>
            <a:off x="8138160" y="3429000"/>
            <a:ext cx="356616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−0.092</a:t>
            </a:r>
          </a:p>
          <a:p>
            <a:pPr algn="ctr"/>
            <a:r>
              <a:rPr sz="1050">
                <a:solidFill>
                  <a:srgbClr val="FFFFFF"/>
                </a:solidFill>
              </a:rPr>
              <a:t>change in AUC, CI [−0.170, +0.008]</a:t>
            </a:r>
          </a:p>
        </p:txBody>
      </p:sp>
      <p:sp>
        <p:nvSpPr>
          <p:cNvPr id="12" name="Rounded Rectangle 11"/>
          <p:cNvSpPr/>
          <p:nvPr/>
        </p:nvSpPr>
        <p:spPr>
          <a:xfrm>
            <a:off x="548640" y="50292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A permutation of a 15-residue peptide is still a plausible ligand. A permutation of a 100-residue protein is not a protein.</a:t>
            </a:r>
          </a:p>
        </p:txBody>
      </p:sp>
      <p:sp>
        <p:nvSpPr>
          <p:cNvPr id="13" name="Rounded Rectangle 12"/>
          <p:cNvSpPr/>
          <p:nvPr/>
        </p:nvSpPr>
        <p:spPr>
          <a:xfrm>
            <a:off x="548640" y="553212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So the control is sound for the case this work concerns and unsound outside it. The recommendation gains a condition rather than losing its force: use the scramble control wherever a permutation of the candidate is still a candidate.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