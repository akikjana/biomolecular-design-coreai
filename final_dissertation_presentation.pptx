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89" r:id="rId40"/>
    <p:sldId id="290" r:id="rId34"/>
    <p:sldId id="291" r:id="rId42"/>
    <p:sldId id="292" r:id="rId43"/>
    <p:sldId id="293" r:id="rId44"/>
    <p:sldId id="294" r:id="rId45"/>
    <p:sldId id="295" r:id="rId46"/>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7.xml"/><Relationship Id="rId19" Type="http://schemas.openxmlformats.org/officeDocument/2006/relationships/slide" Target="slides/slide38.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3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07492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016752"/>
            <a:ext cx="11155680" cy="402336"/>
          </a:xfrm>
          <a:prstGeom prst="rect">
            <a:avLst/>
          </a:prstGeom>
          <a:noFill/>
        </p:spPr>
        <p:txBody>
          <a:bodyPr wrap="square">
            <a:spAutoFit/>
          </a:bodyPr>
          <a:lstStyle/>
          <a:p>
            <a:pPr>
              <a:spcAft>
                <a:spcPts val="600"/>
              </a:spcAft>
            </a:pPr>
            <a:r>
              <a:rPr sz="1200" b="0">
                <a:solidFill>
                  <a:srgbClr val="0B2B52"/>
                </a:solidFill>
              </a:rPr>
              <a:t>Caveat: one model, 22 receptors, one draw — and 0.943 is an in-training figure; against measured binding it is 0.626 (slide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Delivered — the Findings as Behaviour, Not a Caveat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A local screening tool: paste a target and candidate peptides, get a ranking. Nothing is uploaded.</a:t>
            </a:r>
          </a:p>
        </p:txBody>
      </p:sp>
      <p:sp>
        <p:nvSpPr>
          <p:cNvPr id="8" name="Rounded Rectangle 7"/>
          <p:cNvSpPr/>
          <p:nvPr/>
        </p:nvSpPr>
        <p:spPr>
          <a:xfrm>
            <a:off x="548640" y="17373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every candidate</a:t>
            </a:r>
          </a:p>
          <a:p>
            <a:pPr algn="ctr"/>
            <a:r>
              <a:rPr sz="1050">
                <a:solidFill>
                  <a:srgbClr val="FFFFFF"/>
                </a:solidFill>
              </a:rPr>
              <a:t>folded against permutations of itself</a:t>
            </a:r>
          </a:p>
        </p:txBody>
      </p:sp>
      <p:sp>
        <p:nvSpPr>
          <p:cNvPr id="9" name="Rounded Rectangle 8"/>
          <p:cNvSpPr/>
          <p:nvPr/>
        </p:nvSpPr>
        <p:spPr>
          <a:xfrm>
            <a:off x="4343400" y="17373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45 s + 9 s/fold</a:t>
            </a:r>
          </a:p>
          <a:p>
            <a:pPr algn="ctr"/>
            <a:r>
              <a:rPr sz="1050">
                <a:solidFill>
                  <a:srgbClr val="FFFFFF"/>
                </a:solidFill>
              </a:rPr>
              <a:t>model construction is paid once per job</a:t>
            </a:r>
          </a:p>
        </p:txBody>
      </p:sp>
      <p:sp>
        <p:nvSpPr>
          <p:cNvPr id="10" name="Rounded Rectangle 9"/>
          <p:cNvSpPr/>
          <p:nvPr/>
        </p:nvSpPr>
        <p:spPr>
          <a:xfrm>
            <a:off x="8138160" y="1737360"/>
            <a:ext cx="356616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 s</a:t>
            </a:r>
          </a:p>
          <a:p>
            <a:pPr algn="ctr"/>
            <a:r>
              <a:rPr sz="1050">
                <a:solidFill>
                  <a:srgbClr val="FFFFFF"/>
                </a:solidFill>
              </a:rPr>
              <a:t>to re-screen — folds are cached</a:t>
            </a:r>
          </a:p>
        </p:txBody>
      </p:sp>
      <p:sp>
        <p:nvSpPr>
          <p:cNvPr id="11" name="TextBox 10"/>
          <p:cNvSpPr txBox="1"/>
          <p:nvPr/>
        </p:nvSpPr>
        <p:spPr>
          <a:xfrm>
            <a:off x="548640" y="3246120"/>
            <a:ext cx="11155680" cy="731520"/>
          </a:xfrm>
          <a:prstGeom prst="rect">
            <a:avLst/>
          </a:prstGeom>
          <a:noFill/>
        </p:spPr>
        <p:txBody>
          <a:bodyPr wrap="square">
            <a:spAutoFit/>
          </a:bodyPr>
          <a:lstStyle/>
          <a:p>
            <a:r>
              <a:rPr sz="1450" b="1">
                <a:solidFill>
                  <a:srgbClr val="0B2B52"/>
                </a:solidFill>
              </a:rPr>
              <a:t>Section 7.4 — a score can be blind to sequence order</a:t>
            </a:r>
          </a:p>
          <a:p>
            <a:r>
              <a:rPr sz="1250">
                <a:solidFill>
                  <a:srgbClr val="1E6FB8"/>
                </a:solidFill>
              </a:rPr>
              <a:t>so a candidate is reported as a t against its own permutations, never as a raw score; one that cannot beat its own scrambles is not a hit</a:t>
            </a:r>
          </a:p>
        </p:txBody>
      </p:sp>
      <p:sp>
        <p:nvSpPr>
          <p:cNvPr id="12" name="TextBox 11"/>
          <p:cNvSpPr txBox="1"/>
          <p:nvPr/>
        </p:nvSpPr>
        <p:spPr>
          <a:xfrm>
            <a:off x="548640" y="3995928"/>
            <a:ext cx="11155680" cy="731520"/>
          </a:xfrm>
          <a:prstGeom prst="rect">
            <a:avLst/>
          </a:prstGeom>
          <a:noFill/>
        </p:spPr>
        <p:txBody>
          <a:bodyPr wrap="square">
            <a:spAutoFit/>
          </a:bodyPr>
          <a:lstStyle/>
          <a:p>
            <a:r>
              <a:rPr sz="1450" b="1">
                <a:solidFill>
                  <a:srgbClr val="0B2B52"/>
                </a:solidFill>
              </a:rPr>
              <a:t>Section 7.13 — reduced settings suppress the effect 3–7×</a:t>
            </a:r>
          </a:p>
          <a:p>
            <a:r>
              <a:rPr sz="1250">
                <a:solidFill>
                  <a:srgbClr val="1E6FB8"/>
                </a:solidFill>
              </a:rPr>
              <a:t>so quick mode is offered, and says in the interface what it costs: ~14% of backbone bonds physically plausible at ten steps</a:t>
            </a:r>
          </a:p>
        </p:txBody>
      </p:sp>
      <p:sp>
        <p:nvSpPr>
          <p:cNvPr id="13" name="TextBox 12"/>
          <p:cNvSpPr txBox="1"/>
          <p:nvPr/>
        </p:nvSpPr>
        <p:spPr>
          <a:xfrm>
            <a:off x="548640" y="4745736"/>
            <a:ext cx="11155680" cy="731520"/>
          </a:xfrm>
          <a:prstGeom prst="rect">
            <a:avLst/>
          </a:prstGeom>
          <a:noFill/>
        </p:spPr>
        <p:txBody>
          <a:bodyPr wrap="square">
            <a:spAutoFit/>
          </a:bodyPr>
          <a:lstStyle/>
          <a:p>
            <a:r>
              <a:rPr sz="1450" b="1">
                <a:solidFill>
                  <a:srgbClr val="0B2B52"/>
                </a:solidFill>
              </a:rPr>
              <a:t>Section 7.5 — a single fold is not a measurement</a:t>
            </a:r>
          </a:p>
          <a:p>
            <a:r>
              <a:rPr sz="1250">
                <a:solidFill>
                  <a:srgbClr val="1E6FB8"/>
                </a:solidFill>
              </a:rPr>
              <a:t>so replicates are a control, and the replicate spread is a column in the table rather than a footnote</a:t>
            </a:r>
          </a:p>
        </p:txBody>
      </p:sp>
      <p:sp>
        <p:nvSpPr>
          <p:cNvPr id="14" name="Rounded Rectangle 13"/>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Candidates that cannot be scored honestly are refused, not scored badly. Building it caught two faults that would have misled a user: a two-permutation null SD reported z = +77, and a fixed cutoff on that ratio called a Gly–Ser linker a hit.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Same Three Candidates, Two Targets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Identical candidate list, identical settings, opposite answers — the readout is not simply rewarding peptide-shaped sequences.</a:t>
            </a:r>
          </a:p>
        </p:txBody>
      </p:sp>
      <p:graphicFrame>
        <p:nvGraphicFramePr>
          <p:cNvPr id="8" name="Table 7"/>
          <p:cNvGraphicFramePr>
            <a:graphicFrameLocks noGrp="1"/>
          </p:cNvGraphicFramePr>
          <p:nvPr/>
        </p:nvGraphicFramePr>
        <p:xfrm>
          <a:off x="548640" y="1828800"/>
          <a:ext cx="11155680" cy="1554480"/>
        </p:xfrm>
        <a:graphic>
          <a:graphicData uri="http://schemas.openxmlformats.org/drawingml/2006/table">
            <a:tbl>
              <a:tblPr firstRow="1" bandRow="1">
                <a:tableStyleId>{5C22544A-7EE6-4342-B048-85BDC9FD1C3A}</a:tableStyleId>
              </a:tblPr>
              <a:tblGrid>
                <a:gridCol w="3200400"/>
                <a:gridCol w="1463040"/>
                <a:gridCol w="1463040"/>
                <a:gridCol w="1463040"/>
                <a:gridCol w="1463040"/>
                <a:gridCol w="2103120"/>
              </a:tblGrid>
              <a:tr h="388620">
                <a:tc>
                  <a:txBody>
                    <a:bodyPr/>
                    <a:lstStyle/>
                    <a:p>
                      <a:r>
                        <a:rPr sz="1300" b="1">
                          <a:solidFill>
                            <a:srgbClr val="0B2B52"/>
                          </a:solidFill>
                        </a:rPr>
                        <a:t>candidate</a:t>
                      </a:r>
                    </a:p>
                  </a:txBody>
                  <a:tcPr/>
                </a:tc>
                <a:tc>
                  <a:txBody>
                    <a:bodyPr/>
                    <a:lstStyle/>
                    <a:p>
                      <a:r>
                        <a:rPr sz="1300" b="1">
                          <a:solidFill>
                            <a:srgbClr val="0B2B52"/>
                          </a:solidFill>
                        </a:rPr>
                        <a:t>MDM2 — t</a:t>
                      </a:r>
                    </a:p>
                  </a:txBody>
                  <a:tcPr/>
                </a:tc>
                <a:tc>
                  <a:txBody>
                    <a:bodyPr/>
                    <a:lstStyle/>
                    <a:p>
                      <a:r>
                        <a:rPr sz="1300" b="1">
                          <a:solidFill>
                            <a:srgbClr val="0B2B52"/>
                          </a:solidFill>
                        </a:rPr>
                        <a:t>MDM2 — p</a:t>
                      </a:r>
                    </a:p>
                  </a:txBody>
                  <a:tcPr/>
                </a:tc>
                <a:tc>
                  <a:txBody>
                    <a:bodyPr/>
                    <a:lstStyle/>
                    <a:p>
                      <a:r>
                        <a:rPr sz="1300" b="1">
                          <a:solidFill>
                            <a:srgbClr val="0B2B52"/>
                          </a:solidFill>
                        </a:rPr>
                        <a:t>PDZ3 — t</a:t>
                      </a:r>
                    </a:p>
                  </a:txBody>
                  <a:tcPr/>
                </a:tc>
                <a:tc>
                  <a:txBody>
                    <a:bodyPr/>
                    <a:lstStyle/>
                    <a:p>
                      <a:r>
                        <a:rPr sz="1300" b="1">
                          <a:solidFill>
                            <a:srgbClr val="0B2B52"/>
                          </a:solidFill>
                        </a:rPr>
                        <a:t>PDZ3 — p</a:t>
                      </a:r>
                    </a:p>
                  </a:txBody>
                  <a:tcPr/>
                </a:tc>
                <a:tc>
                  <a:txBody>
                    <a:bodyPr/>
                    <a:lstStyle/>
                    <a:p>
                      <a:r>
                        <a:rPr sz="1300" b="1">
                          <a:solidFill>
                            <a:srgbClr val="0B2B52"/>
                          </a:solidFill>
                        </a:rPr>
                        <a:t>cognate of</a:t>
                      </a:r>
                    </a:p>
                  </a:txBody>
                  <a:tcPr/>
                </a:tc>
              </a:tr>
              <a:tr h="388620">
                <a:tc>
                  <a:txBody>
                    <a:bodyPr/>
                    <a:lstStyle/>
                    <a:p>
                      <a:r>
                        <a:rPr sz="1300" b="0">
                          <a:solidFill>
                            <a:srgbClr val="0B2B52"/>
                          </a:solidFill>
                        </a:rPr>
                        <a:t>SQETFSDLWKLLPEN</a:t>
                      </a:r>
                    </a:p>
                  </a:txBody>
                  <a:tcPr/>
                </a:tc>
                <a:tc>
                  <a:txBody>
                    <a:bodyPr/>
                    <a:lstStyle/>
                    <a:p>
                      <a:r>
                        <a:rPr sz="1300" b="0">
                          <a:solidFill>
                            <a:srgbClr val="0B2B52"/>
                          </a:solidFill>
                        </a:rPr>
                        <a:t>+3.88</a:t>
                      </a:r>
                    </a:p>
                  </a:txBody>
                  <a:tcPr/>
                </a:tc>
                <a:tc>
                  <a:txBody>
                    <a:bodyPr/>
                    <a:lstStyle/>
                    <a:p>
                      <a:r>
                        <a:rPr sz="1300" b="0">
                          <a:solidFill>
                            <a:srgbClr val="0B2B52"/>
                          </a:solidFill>
                        </a:rPr>
                        <a:t>0.002</a:t>
                      </a:r>
                    </a:p>
                  </a:txBody>
                  <a:tcPr/>
                </a:tc>
                <a:tc>
                  <a:txBody>
                    <a:bodyPr/>
                    <a:lstStyle/>
                    <a:p>
                      <a:r>
                        <a:rPr sz="1300" b="0">
                          <a:solidFill>
                            <a:srgbClr val="0B2B52"/>
                          </a:solidFill>
                        </a:rPr>
                        <a:t>+0.06</a:t>
                      </a:r>
                    </a:p>
                  </a:txBody>
                  <a:tcPr/>
                </a:tc>
                <a:tc>
                  <a:txBody>
                    <a:bodyPr/>
                    <a:lstStyle/>
                    <a:p>
                      <a:r>
                        <a:rPr sz="1300" b="0">
                          <a:solidFill>
                            <a:srgbClr val="0B2B52"/>
                          </a:solidFill>
                        </a:rPr>
                        <a:t>0.477</a:t>
                      </a:r>
                    </a:p>
                  </a:txBody>
                  <a:tcPr/>
                </a:tc>
                <a:tc>
                  <a:txBody>
                    <a:bodyPr/>
                    <a:lstStyle/>
                    <a:p>
                      <a:r>
                        <a:rPr sz="1300" b="0">
                          <a:solidFill>
                            <a:srgbClr val="0B2B52"/>
                          </a:solidFill>
                        </a:rPr>
                        <a:t>MDM2 (p53 helix)</a:t>
                      </a:r>
                    </a:p>
                  </a:txBody>
                  <a:tcPr/>
                </a:tc>
              </a:tr>
              <a:tr h="388620">
                <a:tc>
                  <a:txBody>
                    <a:bodyPr/>
                    <a:lstStyle/>
                    <a:p>
                      <a:r>
                        <a:rPr sz="1300" b="0">
                          <a:solidFill>
                            <a:srgbClr val="0B2B52"/>
                          </a:solidFill>
                        </a:rPr>
                        <a:t>KQTSV</a:t>
                      </a:r>
                    </a:p>
                  </a:txBody>
                  <a:tcPr/>
                </a:tc>
                <a:tc>
                  <a:txBody>
                    <a:bodyPr/>
                    <a:lstStyle/>
                    <a:p>
                      <a:r>
                        <a:rPr sz="1300" b="0">
                          <a:solidFill>
                            <a:srgbClr val="0B2B52"/>
                          </a:solidFill>
                        </a:rPr>
                        <a:t>+1.39</a:t>
                      </a:r>
                    </a:p>
                  </a:txBody>
                  <a:tcPr/>
                </a:tc>
                <a:tc>
                  <a:txBody>
                    <a:bodyPr/>
                    <a:lstStyle/>
                    <a:p>
                      <a:r>
                        <a:rPr sz="1300" b="0">
                          <a:solidFill>
                            <a:srgbClr val="0B2B52"/>
                          </a:solidFill>
                        </a:rPr>
                        <a:t>0.101</a:t>
                      </a:r>
                    </a:p>
                  </a:txBody>
                  <a:tcPr/>
                </a:tc>
                <a:tc>
                  <a:txBody>
                    <a:bodyPr/>
                    <a:lstStyle/>
                    <a:p>
                      <a:r>
                        <a:rPr sz="1300" b="0">
                          <a:solidFill>
                            <a:srgbClr val="0B2B52"/>
                          </a:solidFill>
                        </a:rPr>
                        <a:t>+7.72</a:t>
                      </a:r>
                    </a:p>
                  </a:txBody>
                  <a:tcPr/>
                </a:tc>
                <a:tc>
                  <a:txBody>
                    <a:bodyPr/>
                    <a:lstStyle/>
                    <a:p>
                      <a:r>
                        <a:rPr sz="1300" b="0">
                          <a:solidFill>
                            <a:srgbClr val="0B2B52"/>
                          </a:solidFill>
                        </a:rPr>
                        <a:t>&lt;0.001</a:t>
                      </a:r>
                    </a:p>
                  </a:txBody>
                  <a:tcPr/>
                </a:tc>
                <a:tc>
                  <a:txBody>
                    <a:bodyPr/>
                    <a:lstStyle/>
                    <a:p>
                      <a:r>
                        <a:rPr sz="1300" b="0">
                          <a:solidFill>
                            <a:srgbClr val="0B2B52"/>
                          </a:solidFill>
                        </a:rPr>
                        <a:t>PSD-95 PDZ3</a:t>
                      </a:r>
                    </a:p>
                  </a:txBody>
                  <a:tcPr/>
                </a:tc>
              </a:tr>
              <a:tr h="388620">
                <a:tc>
                  <a:txBody>
                    <a:bodyPr/>
                    <a:lstStyle/>
                    <a:p>
                      <a:r>
                        <a:rPr sz="1300" b="0">
                          <a:solidFill>
                            <a:srgbClr val="0B2B52"/>
                          </a:solidFill>
                        </a:rPr>
                        <a:t>PPPALPPKKR</a:t>
                      </a:r>
                    </a:p>
                  </a:txBody>
                  <a:tcPr/>
                </a:tc>
                <a:tc>
                  <a:txBody>
                    <a:bodyPr/>
                    <a:lstStyle/>
                    <a:p>
                      <a:r>
                        <a:rPr sz="1300" b="0">
                          <a:solidFill>
                            <a:srgbClr val="0B2B52"/>
                          </a:solidFill>
                        </a:rPr>
                        <a:t>−0.00</a:t>
                      </a:r>
                    </a:p>
                  </a:txBody>
                  <a:tcPr/>
                </a:tc>
                <a:tc>
                  <a:txBody>
                    <a:bodyPr/>
                    <a:lstStyle/>
                    <a:p>
                      <a:r>
                        <a:rPr sz="1300" b="0">
                          <a:solidFill>
                            <a:srgbClr val="0B2B52"/>
                          </a:solidFill>
                        </a:rPr>
                        <a:t>0.501</a:t>
                      </a:r>
                    </a:p>
                  </a:txBody>
                  <a:tcPr/>
                </a:tc>
                <a:tc>
                  <a:txBody>
                    <a:bodyPr/>
                    <a:lstStyle/>
                    <a:p>
                      <a:r>
                        <a:rPr sz="1300" b="0">
                          <a:solidFill>
                            <a:srgbClr val="0B2B52"/>
                          </a:solidFill>
                        </a:rPr>
                        <a:t>+0.75</a:t>
                      </a:r>
                    </a:p>
                  </a:txBody>
                  <a:tcPr/>
                </a:tc>
                <a:tc>
                  <a:txBody>
                    <a:bodyPr/>
                    <a:lstStyle/>
                    <a:p>
                      <a:r>
                        <a:rPr sz="1300" b="0">
                          <a:solidFill>
                            <a:srgbClr val="0B2B52"/>
                          </a:solidFill>
                        </a:rPr>
                        <a:t>0.240</a:t>
                      </a:r>
                    </a:p>
                  </a:txBody>
                  <a:tcPr/>
                </a:tc>
                <a:tc>
                  <a:txBody>
                    <a:bodyPr/>
                    <a:lstStyle/>
                    <a:p>
                      <a:r>
                        <a:rPr sz="1300" b="0">
                          <a:solidFill>
                            <a:srgbClr val="0B2B52"/>
                          </a:solidFill>
                        </a:rPr>
                        <a:t>c-Crk SH3</a:t>
                      </a:r>
                    </a:p>
                  </a:txBody>
                  <a:tcPr/>
                </a:tc>
              </a:tr>
            </a:tbl>
          </a:graphicData>
        </a:graphic>
      </p:graphicFrame>
      <p:sp>
        <p:nvSpPr>
          <p:cNvPr id="9" name="TextBox 8"/>
          <p:cNvSpPr txBox="1"/>
          <p:nvPr/>
        </p:nvSpPr>
        <p:spPr>
          <a:xfrm>
            <a:off x="548640" y="3520440"/>
            <a:ext cx="11155680" cy="1005840"/>
          </a:xfrm>
          <a:prstGeom prst="rect">
            <a:avLst/>
          </a:prstGeom>
          <a:noFill/>
        </p:spPr>
        <p:txBody>
          <a:bodyPr wrap="square">
            <a:spAutoFit/>
          </a:bodyPr>
          <a:lstStyle/>
          <a:p>
            <a:pPr>
              <a:spcAft>
                <a:spcPts val="600"/>
              </a:spcAft>
            </a:pPr>
            <a:r>
              <a:rPr sz="1500" b="0">
                <a:solidFill>
                  <a:srgbClr val="0B2B52"/>
                </a:solidFill>
              </a:rPr>
              <a:t>Each cognate wins on its own target and loses on the other. KQTSV is also the shortest candidate at five</a:t>
            </a:r>
          </a:p>
          <a:p>
            <a:pPr>
              <a:spcAft>
                <a:spcPts val="600"/>
              </a:spcAft>
            </a:pPr>
            <a:r>
              <a:rPr sz="1500" b="0">
                <a:solidFill>
                  <a:srgbClr val="0B2B52"/>
                </a:solidFill>
              </a:rPr>
              <a:t>residues, so the ranking is not being driven by length.</a:t>
            </a:r>
          </a:p>
        </p:txBody>
      </p:sp>
      <p:sp>
        <p:nvSpPr>
          <p:cNvPr id="10" name="Rounded Rectangle 9"/>
          <p:cNvSpPr/>
          <p:nvPr/>
        </p:nvSpPr>
        <p:spPr>
          <a:xfrm>
            <a:off x="548640" y="443484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Quick mode, two replicates, three scrambles — about three minutes a target on a laptop.</a:t>
            </a:r>
          </a:p>
        </p:txBody>
      </p:sp>
      <p:sp>
        <p:nvSpPr>
          <p:cNvPr id="11" name="Rounded Rectangle 10"/>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Shown with its failure: on c-Crk SH3 the cognate does not separate from its own scrambles (p = 0.40), and full sampling does not rescue it. A control that destroys only order has little to detect on a composition-driven interface.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Which Setting Carried It, and for Which Test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33</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Section 7.13 raised sampling steps, recycling and alignment depth together. Moving one at a time:</a:t>
            </a:r>
          </a:p>
        </p:txBody>
      </p:sp>
      <p:graphicFrame>
        <p:nvGraphicFramePr>
          <p:cNvPr id="8" name="Table 7"/>
          <p:cNvGraphicFramePr>
            <a:graphicFrameLocks noGrp="1"/>
          </p:cNvGraphicFramePr>
          <p:nvPr/>
        </p:nvGraphicFramePr>
        <p:xfrm>
          <a:off x="548640" y="1783080"/>
          <a:ext cx="11155680" cy="2194560"/>
        </p:xfrm>
        <a:graphic>
          <a:graphicData uri="http://schemas.openxmlformats.org/drawingml/2006/table">
            <a:tbl>
              <a:tblPr firstRow="1" bandRow="1">
                <a:tableStyleId>{5C22544A-7EE6-4342-B048-85BDC9FD1C3A}</a:tableStyleId>
              </a:tblPr>
              <a:tblGrid>
                <a:gridCol w="2377440"/>
                <a:gridCol w="2743200"/>
                <a:gridCol w="1828800"/>
                <a:gridCol w="2103120"/>
                <a:gridCol w="2103120"/>
              </a:tblGrid>
              <a:tr h="365760">
                <a:tc>
                  <a:txBody>
                    <a:bodyPr/>
                    <a:lstStyle/>
                    <a:p>
                      <a:r>
                        <a:rPr sz="1250" b="1">
                          <a:solidFill>
                            <a:srgbClr val="0B2B52"/>
                          </a:solidFill>
                        </a:rPr>
                        <a:t>Arm</a:t>
                      </a:r>
                    </a:p>
                  </a:txBody>
                  <a:tcPr/>
                </a:tc>
                <a:tc>
                  <a:txBody>
                    <a:bodyPr/>
                    <a:lstStyle/>
                    <a:p>
                      <a:r>
                        <a:rPr sz="1250" b="1">
                          <a:solidFill>
                            <a:srgbClr val="0B2B52"/>
                          </a:solidFill>
                        </a:rPr>
                        <a:t>steps / recycle / MSA</a:t>
                      </a:r>
                    </a:p>
                  </a:txBody>
                  <a:tcPr/>
                </a:tc>
                <a:tc>
                  <a:txBody>
                    <a:bodyPr/>
                    <a:lstStyle/>
                    <a:p>
                      <a:r>
                        <a:rPr sz="1250" b="1">
                          <a:solidFill>
                            <a:srgbClr val="0B2B52"/>
                          </a:solidFill>
                        </a:rPr>
                        <a:t>Cohen's d</a:t>
                      </a:r>
                    </a:p>
                  </a:txBody>
                  <a:tcPr/>
                </a:tc>
                <a:tc>
                  <a:txBody>
                    <a:bodyPr/>
                    <a:lstStyle/>
                    <a:p>
                      <a:r>
                        <a:rPr sz="1250" b="1">
                          <a:solidFill>
                            <a:srgbClr val="0B2B52"/>
                          </a:solidFill>
                        </a:rPr>
                        <a:t>share of gain</a:t>
                      </a:r>
                    </a:p>
                  </a:txBody>
                  <a:tcPr/>
                </a:tc>
                <a:tc>
                  <a:txBody>
                    <a:bodyPr/>
                    <a:lstStyle/>
                    <a:p>
                      <a:r>
                        <a:rPr sz="1250" b="1">
                          <a:solidFill>
                            <a:srgbClr val="0B2B52"/>
                          </a:solidFill>
                        </a:rPr>
                        <a:t>top-1 rank</a:t>
                      </a:r>
                    </a:p>
                  </a:txBody>
                  <a:tcPr/>
                </a:tc>
              </a:tr>
              <a:tr h="365760">
                <a:tc>
                  <a:txBody>
                    <a:bodyPr/>
                    <a:lstStyle/>
                    <a:p>
                      <a:r>
                        <a:rPr sz="1250" b="0">
                          <a:solidFill>
                            <a:srgbClr val="0B2B52"/>
                          </a:solidFill>
                        </a:rPr>
                        <a:t>reduced</a:t>
                      </a:r>
                    </a:p>
                  </a:txBody>
                  <a:tcPr/>
                </a:tc>
                <a:tc>
                  <a:txBody>
                    <a:bodyPr/>
                    <a:lstStyle/>
                    <a:p>
                      <a:r>
                        <a:rPr sz="1250" b="0">
                          <a:solidFill>
                            <a:srgbClr val="0B2B52"/>
                          </a:solidFill>
                        </a:rPr>
                        <a:t>10 / 1 / 32</a:t>
                      </a:r>
                    </a:p>
                  </a:txBody>
                  <a:tcPr/>
                </a:tc>
                <a:tc>
                  <a:txBody>
                    <a:bodyPr/>
                    <a:lstStyle/>
                    <a:p>
                      <a:r>
                        <a:rPr sz="1250" b="0">
                          <a:solidFill>
                            <a:srgbClr val="0B2B52"/>
                          </a:solidFill>
                        </a:rPr>
                        <a:t>0.28</a:t>
                      </a:r>
                    </a:p>
                  </a:txBody>
                  <a:tcPr/>
                </a:tc>
                <a:tc>
                  <a:txBody>
                    <a:bodyPr/>
                    <a:lstStyle/>
                    <a:p>
                      <a:r>
                        <a:rPr sz="1250" b="0">
                          <a:solidFill>
                            <a:srgbClr val="0B2B52"/>
                          </a:solidFill>
                        </a:rPr>
                        <a:t>—</a:t>
                      </a:r>
                    </a:p>
                  </a:txBody>
                  <a:tcPr/>
                </a:tc>
                <a:tc>
                  <a:txBody>
                    <a:bodyPr/>
                    <a:lstStyle/>
                    <a:p>
                      <a:r>
                        <a:rPr sz="1250" b="0">
                          <a:solidFill>
                            <a:srgbClr val="0B2B52"/>
                          </a:solidFill>
                        </a:rPr>
                        <a:t>9 of 22</a:t>
                      </a:r>
                    </a:p>
                  </a:txBody>
                  <a:tcPr/>
                </a:tc>
              </a:tr>
              <a:tr h="365760">
                <a:tc>
                  <a:txBody>
                    <a:bodyPr/>
                    <a:lstStyle/>
                    <a:p>
                      <a:r>
                        <a:rPr sz="1250" b="0">
                          <a:solidFill>
                            <a:srgbClr val="0B2B52"/>
                          </a:solidFill>
                        </a:rPr>
                        <a:t>sampling only</a:t>
                      </a:r>
                    </a:p>
                  </a:txBody>
                  <a:tcPr/>
                </a:tc>
                <a:tc>
                  <a:txBody>
                    <a:bodyPr/>
                    <a:lstStyle/>
                    <a:p>
                      <a:r>
                        <a:rPr sz="1250" b="0">
                          <a:solidFill>
                            <a:srgbClr val="0B2B52"/>
                          </a:solidFill>
                        </a:rPr>
                        <a:t>200 / 1 / 32</a:t>
                      </a:r>
                    </a:p>
                  </a:txBody>
                  <a:tcPr/>
                </a:tc>
                <a:tc>
                  <a:txBody>
                    <a:bodyPr/>
                    <a:lstStyle/>
                    <a:p>
                      <a:r>
                        <a:rPr sz="1250" b="0">
                          <a:solidFill>
                            <a:srgbClr val="0B2B52"/>
                          </a:solidFill>
                        </a:rPr>
                        <a:t>1.13</a:t>
                      </a:r>
                    </a:p>
                  </a:txBody>
                  <a:tcPr/>
                </a:tc>
                <a:tc>
                  <a:txBody>
                    <a:bodyPr/>
                    <a:lstStyle/>
                    <a:p>
                      <a:r>
                        <a:rPr sz="1250" b="0">
                          <a:solidFill>
                            <a:srgbClr val="0B2B52"/>
                          </a:solidFill>
                        </a:rPr>
                        <a:t>69%</a:t>
                      </a:r>
                    </a:p>
                  </a:txBody>
                  <a:tcPr/>
                </a:tc>
                <a:tc>
                  <a:txBody>
                    <a:bodyPr/>
                    <a:lstStyle/>
                    <a:p>
                      <a:r>
                        <a:rPr sz="1250" b="0">
                          <a:solidFill>
                            <a:srgbClr val="0B2B52"/>
                          </a:solidFill>
                        </a:rPr>
                        <a:t>13 of 22</a:t>
                      </a:r>
                    </a:p>
                  </a:txBody>
                  <a:tcPr/>
                </a:tc>
              </a:tr>
              <a:tr h="365760">
                <a:tc>
                  <a:txBody>
                    <a:bodyPr/>
                    <a:lstStyle/>
                    <a:p>
                      <a:r>
                        <a:rPr sz="1250" b="0">
                          <a:solidFill>
                            <a:srgbClr val="0B2B52"/>
                          </a:solidFill>
                        </a:rPr>
                        <a:t>alignment only</a:t>
                      </a:r>
                    </a:p>
                  </a:txBody>
                  <a:tcPr/>
                </a:tc>
                <a:tc>
                  <a:txBody>
                    <a:bodyPr/>
                    <a:lstStyle/>
                    <a:p>
                      <a:r>
                        <a:rPr sz="1250" b="0">
                          <a:solidFill>
                            <a:srgbClr val="0B2B52"/>
                          </a:solidFill>
                        </a:rPr>
                        <a:t>10 / 1 / full</a:t>
                      </a:r>
                    </a:p>
                  </a:txBody>
                  <a:tcPr/>
                </a:tc>
                <a:tc>
                  <a:txBody>
                    <a:bodyPr/>
                    <a:lstStyle/>
                    <a:p>
                      <a:r>
                        <a:rPr sz="1250" b="0">
                          <a:solidFill>
                            <a:srgbClr val="0B2B52"/>
                          </a:solidFill>
                        </a:rPr>
                        <a:t>0.18</a:t>
                      </a:r>
                    </a:p>
                  </a:txBody>
                  <a:tcPr/>
                </a:tc>
                <a:tc>
                  <a:txBody>
                    <a:bodyPr/>
                    <a:lstStyle/>
                    <a:p>
                      <a:r>
                        <a:rPr sz="1250" b="0">
                          <a:solidFill>
                            <a:srgbClr val="0B2B52"/>
                          </a:solidFill>
                        </a:rPr>
                        <a:t>−8%</a:t>
                      </a:r>
                    </a:p>
                  </a:txBody>
                  <a:tcPr/>
                </a:tc>
                <a:tc>
                  <a:txBody>
                    <a:bodyPr/>
                    <a:lstStyle/>
                    <a:p>
                      <a:r>
                        <a:rPr sz="1250" b="0">
                          <a:solidFill>
                            <a:srgbClr val="0B2B52"/>
                          </a:solidFill>
                        </a:rPr>
                        <a:t>8 of 22</a:t>
                      </a:r>
                    </a:p>
                  </a:txBody>
                  <a:tcPr/>
                </a:tc>
              </a:tr>
              <a:tr h="365760">
                <a:tc>
                  <a:txBody>
                    <a:bodyPr/>
                    <a:lstStyle/>
                    <a:p>
                      <a:r>
                        <a:rPr sz="1250" b="0">
                          <a:solidFill>
                            <a:srgbClr val="0B2B52"/>
                          </a:solidFill>
                        </a:rPr>
                        <a:t>recycling only</a:t>
                      </a:r>
                    </a:p>
                  </a:txBody>
                  <a:tcPr/>
                </a:tc>
                <a:tc>
                  <a:txBody>
                    <a:bodyPr/>
                    <a:lstStyle/>
                    <a:p>
                      <a:r>
                        <a:rPr sz="1250" b="0">
                          <a:solidFill>
                            <a:srgbClr val="0B2B52"/>
                          </a:solidFill>
                        </a:rPr>
                        <a:t>10 / 3 / 32</a:t>
                      </a:r>
                    </a:p>
                  </a:txBody>
                  <a:tcPr/>
                </a:tc>
                <a:tc>
                  <a:txBody>
                    <a:bodyPr/>
                    <a:lstStyle/>
                    <a:p>
                      <a:r>
                        <a:rPr sz="1250" b="0">
                          <a:solidFill>
                            <a:srgbClr val="0B2B52"/>
                          </a:solidFill>
                        </a:rPr>
                        <a:t>0.22</a:t>
                      </a:r>
                    </a:p>
                  </a:txBody>
                  <a:tcPr/>
                </a:tc>
                <a:tc>
                  <a:txBody>
                    <a:bodyPr/>
                    <a:lstStyle/>
                    <a:p>
                      <a:r>
                        <a:rPr sz="1250" b="0">
                          <a:solidFill>
                            <a:srgbClr val="0B2B52"/>
                          </a:solidFill>
                        </a:rPr>
                        <a:t>−5%</a:t>
                      </a:r>
                    </a:p>
                  </a:txBody>
                  <a:tcPr/>
                </a:tc>
                <a:tc>
                  <a:txBody>
                    <a:bodyPr/>
                    <a:lstStyle/>
                    <a:p>
                      <a:r>
                        <a:rPr sz="1250" b="0">
                          <a:solidFill>
                            <a:srgbClr val="0B2B52"/>
                          </a:solidFill>
                        </a:rPr>
                        <a:t>7 of 22</a:t>
                      </a:r>
                    </a:p>
                  </a:txBody>
                  <a:tcPr/>
                </a:tc>
              </a:tr>
              <a:tr h="365760">
                <a:tc>
                  <a:txBody>
                    <a:bodyPr/>
                    <a:lstStyle/>
                    <a:p>
                      <a:r>
                        <a:rPr sz="1250" b="0">
                          <a:solidFill>
                            <a:srgbClr val="0B2B52"/>
                          </a:solidFill>
                        </a:rPr>
                        <a:t>all three</a:t>
                      </a:r>
                    </a:p>
                  </a:txBody>
                  <a:tcPr/>
                </a:tc>
                <a:tc>
                  <a:txBody>
                    <a:bodyPr/>
                    <a:lstStyle/>
                    <a:p>
                      <a:r>
                        <a:rPr sz="1250" b="0">
                          <a:solidFill>
                            <a:srgbClr val="0B2B52"/>
                          </a:solidFill>
                        </a:rPr>
                        <a:t>200 / 3 / full</a:t>
                      </a:r>
                    </a:p>
                  </a:txBody>
                  <a:tcPr/>
                </a:tc>
                <a:tc>
                  <a:txBody>
                    <a:bodyPr/>
                    <a:lstStyle/>
                    <a:p>
                      <a:r>
                        <a:rPr sz="1250" b="0">
                          <a:solidFill>
                            <a:srgbClr val="0B2B52"/>
                          </a:solidFill>
                        </a:rPr>
                        <a:t>1.52</a:t>
                      </a:r>
                    </a:p>
                  </a:txBody>
                  <a:tcPr/>
                </a:tc>
                <a:tc>
                  <a:txBody>
                    <a:bodyPr/>
                    <a:lstStyle/>
                    <a:p>
                      <a:r>
                        <a:rPr sz="1250" b="0">
                          <a:solidFill>
                            <a:srgbClr val="0B2B52"/>
                          </a:solidFill>
                        </a:rPr>
                        <a:t>100%</a:t>
                      </a:r>
                    </a:p>
                  </a:txBody>
                  <a:tcPr/>
                </a:tc>
                <a:tc>
                  <a:txBody>
                    <a:bodyPr/>
                    <a:lstStyle/>
                    <a:p>
                      <a:r>
                        <a:rPr sz="1250" b="0">
                          <a:solidFill>
                            <a:srgbClr val="0B2B52"/>
                          </a:solidFill>
                        </a:rPr>
                        <a:t>17 of 22</a:t>
                      </a:r>
                    </a:p>
                  </a:txBody>
                  <a:tcPr/>
                </a:tc>
              </a:tr>
            </a:tbl>
          </a:graphicData>
        </a:graphic>
      </p:graphicFrame>
      <p:sp>
        <p:nvSpPr>
          <p:cNvPr id="9" name="TextBox 8"/>
          <p:cNvSpPr txBox="1"/>
          <p:nvPr/>
        </p:nvSpPr>
        <p:spPr>
          <a:xfrm>
            <a:off x="548640" y="4160520"/>
            <a:ext cx="11155680" cy="1005840"/>
          </a:xfrm>
          <a:prstGeom prst="rect">
            <a:avLst/>
          </a:prstGeom>
          <a:noFill/>
        </p:spPr>
        <p:txBody>
          <a:bodyPr wrap="square">
            <a:spAutoFit/>
          </a:bodyPr>
          <a:lstStyle/>
          <a:p>
            <a:pPr>
              <a:spcAft>
                <a:spcPts val="600"/>
              </a:spcAft>
            </a:pPr>
            <a:r>
              <a:rPr sz="1500" b="0">
                <a:solidFill>
                  <a:srgbClr val="0B2B52"/>
                </a:solidFill>
              </a:rPr>
              <a:t>Sampling steps alone recover 69% of the gain for a third of the cost — 33 s a fold against 106 s.</a:t>
            </a:r>
          </a:p>
          <a:p>
            <a:pPr>
              <a:spcAft>
                <a:spcPts val="600"/>
              </a:spcAft>
            </a:pPr>
            <a:r>
              <a:rPr sz="1500" b="0">
                <a:solidFill>
                  <a:srgbClr val="0B2B52"/>
                </a:solidFill>
              </a:rPr>
              <a:t>Alignment depth and recycling, moved alone, sit below the reduced baseline on every readout.</a:t>
            </a:r>
          </a:p>
        </p:txBody>
      </p:sp>
      <p:sp>
        <p:nvSpPr>
          <p:cNvPr id="10" name="Rounded Rectangle 9"/>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shares sum to 25–55%, not 100%: the settings are synergistic. A deeper alignment is worth nothing on an unconverged structure.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Automated Searches — One Was Safe, One Was Not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34</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The same machinery applied to two problems that differ in one respect: whether a candidate can be checked.</a:t>
            </a:r>
          </a:p>
        </p:txBody>
      </p:sp>
      <p:sp>
        <p:nvSpPr>
          <p:cNvPr id="8" name="Rounded Rectangle 7"/>
          <p:cNvSpPr/>
          <p:nvPr/>
        </p:nvSpPr>
        <p:spPr>
          <a:xfrm>
            <a:off x="548640" y="1691640"/>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0.425</a:t>
            </a:r>
          </a:p>
          <a:p>
            <a:pPr algn="ctr"/>
            <a:r>
              <a:rPr sz="1050">
                <a:solidFill>
                  <a:srgbClr val="FFFFFF"/>
                </a:solidFill>
              </a:rPr>
              <a:t>readout search: the gain a permutation null also finds</a:t>
            </a:r>
          </a:p>
        </p:txBody>
      </p:sp>
      <p:sp>
        <p:nvSpPr>
          <p:cNvPr id="9" name="Rounded Rectangle 8"/>
          <p:cNvSpPr/>
          <p:nvPr/>
        </p:nvSpPr>
        <p:spPr>
          <a:xfrm>
            <a:off x="6263640" y="1691640"/>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max |diff| = 0</a:t>
            </a:r>
          </a:p>
          <a:p>
            <a:pPr algn="ctr"/>
            <a:r>
              <a:rPr sz="1050">
                <a:solidFill>
                  <a:srgbClr val="FFFFFF"/>
                </a:solidFill>
              </a:rPr>
              <a:t>operator rewrite: verified against its own reference</a:t>
            </a:r>
          </a:p>
        </p:txBody>
      </p:sp>
      <p:sp>
        <p:nvSpPr>
          <p:cNvPr id="10" name="TextBox 9"/>
          <p:cNvSpPr txBox="1"/>
          <p:nvPr/>
        </p:nvSpPr>
        <p:spPr>
          <a:xfrm>
            <a:off x="548640" y="3291840"/>
            <a:ext cx="11155680" cy="777240"/>
          </a:xfrm>
          <a:prstGeom prst="rect">
            <a:avLst/>
          </a:prstGeom>
          <a:noFill/>
        </p:spPr>
        <p:txBody>
          <a:bodyPr wrap="square">
            <a:spAutoFit/>
          </a:bodyPr>
          <a:lstStyle/>
          <a:p>
            <a:r>
              <a:rPr sz="1450" b="1">
                <a:solidFill>
                  <a:srgbClr val="0B2B52"/>
                </a:solidFill>
              </a:rPr>
              <a:t>Searching readouts on 22 receptors found a combination beating the headline by +0.018 AUC</a:t>
            </a:r>
          </a:p>
          <a:p>
            <a:r>
              <a:rPr sz="1250">
                <a:solidFill>
                  <a:srgbClr val="1E6FB8"/>
                </a:solidFill>
              </a:rPr>
              <a:t>a permutation null gains +0.032 on average, and the held-out panel reverses the gain to −0.029. Refused.</a:t>
            </a:r>
          </a:p>
        </p:txBody>
      </p:sp>
      <p:sp>
        <p:nvSpPr>
          <p:cNvPr id="11" name="TextBox 10"/>
          <p:cNvSpPr txBox="1"/>
          <p:nvPr/>
        </p:nvSpPr>
        <p:spPr>
          <a:xfrm>
            <a:off x="548640" y="4251960"/>
            <a:ext cx="11155680" cy="777240"/>
          </a:xfrm>
          <a:prstGeom prst="rect">
            <a:avLst/>
          </a:prstGeom>
          <a:noFill/>
        </p:spPr>
        <p:txBody>
          <a:bodyPr wrap="square">
            <a:spAutoFit/>
          </a:bodyPr>
          <a:lstStyle/>
          <a:p>
            <a:r>
              <a:rPr sz="1450" b="1">
                <a:solidFill>
                  <a:srgbClr val="0B2B52"/>
                </a:solidFill>
              </a:rPr>
              <a:t>Searching operator rewrites found two worth 1.46× and 1.19×</a:t>
            </a:r>
          </a:p>
          <a:p>
            <a:r>
              <a:rPr sz="1250">
                <a:solidFill>
                  <a:srgbClr val="1E6FB8"/>
                </a:solidFill>
              </a:rPr>
              <a:t>bit-exact, and seeded folds before and after give identical coordinates and identical ipTM. Accepted.</a:t>
            </a:r>
          </a:p>
        </p:txBody>
      </p:sp>
      <p:sp>
        <p:nvSpPr>
          <p:cNvPr id="12" name="Rounded Rectangle 11"/>
          <p:cNvSpPr/>
          <p:nvPr/>
        </p:nvSpPr>
        <p:spPr>
          <a:xfrm>
            <a:off x="548640" y="525780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Search pays where a candidate can be verified independently of the data that proposed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Against Binding That Was Actually Measured</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35</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1,320 de novo designs released by Anthropic, binding measured by two contract research organisations,</a:t>
            </a:r>
          </a:p>
          <a:p>
            <a:pPr>
              <a:spcAft>
                <a:spcPts val="600"/>
              </a:spcAft>
            </a:pPr>
            <a:r>
              <a:rPr sz="1500" b="0">
                <a:solidFill>
                  <a:srgbClr val="0B2B52"/>
                </a:solidFill>
              </a:rPr>
              <a:t>on molecules that postdate every model's training. Contamination is unavailable as an explanation.</a:t>
            </a:r>
          </a:p>
        </p:txBody>
      </p:sp>
      <p:sp>
        <p:nvSpPr>
          <p:cNvPr id="8" name="Rounded Rectangle 7"/>
          <p:cNvSpPr/>
          <p:nvPr/>
        </p:nvSpPr>
        <p:spPr>
          <a:xfrm>
            <a:off x="54864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this work, in-training panel</a:t>
            </a:r>
          </a:p>
        </p:txBody>
      </p:sp>
      <p:sp>
        <p:nvSpPr>
          <p:cNvPr id="9" name="Rounded Rectangle 8"/>
          <p:cNvSpPr/>
          <p:nvPr/>
        </p:nvSpPr>
        <p:spPr>
          <a:xfrm>
            <a:off x="4343400" y="19659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0.682–0.803</a:t>
            </a:r>
          </a:p>
          <a:p>
            <a:pPr algn="ctr"/>
            <a:r>
              <a:rPr sz="1050">
                <a:solidFill>
                  <a:srgbClr val="FFFFFF"/>
                </a:solidFill>
              </a:rPr>
              <a:t>this work, held-out panel</a:t>
            </a:r>
          </a:p>
        </p:txBody>
      </p:sp>
      <p:sp>
        <p:nvSpPr>
          <p:cNvPr id="10" name="Rounded Rectangle 9"/>
          <p:cNvSpPr/>
          <p:nvPr/>
        </p:nvSpPr>
        <p:spPr>
          <a:xfrm>
            <a:off x="8138160" y="196596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0.626</a:t>
            </a:r>
          </a:p>
          <a:p>
            <a:pPr algn="ctr"/>
            <a:r>
              <a:rPr sz="1050">
                <a:solidFill>
                  <a:srgbClr val="FFFFFF"/>
                </a:solidFill>
              </a:rPr>
              <a:t>interface pLDDT vs measured binding</a:t>
            </a:r>
          </a:p>
        </p:txBody>
      </p:sp>
      <p:sp>
        <p:nvSpPr>
          <p:cNvPr id="11" name="TextBox 10"/>
          <p:cNvSpPr txBox="1"/>
          <p:nvPr/>
        </p:nvSpPr>
        <p:spPr>
          <a:xfrm>
            <a:off x="548640" y="3703320"/>
            <a:ext cx="11155680" cy="640080"/>
          </a:xfrm>
          <a:prstGeom prst="rect">
            <a:avLst/>
          </a:prstGeom>
          <a:noFill/>
        </p:spPr>
        <p:txBody>
          <a:bodyPr wrap="square">
            <a:spAutoFit/>
          </a:bodyPr>
          <a:lstStyle/>
          <a:p>
            <a:pPr>
              <a:spcAft>
                <a:spcPts val="600"/>
              </a:spcAft>
            </a:pPr>
            <a:r>
              <a:rPr sz="1500" b="0">
                <a:solidFill>
                  <a:srgbClr val="0B2B52"/>
                </a:solidFill>
              </a:rPr>
              <a:t>Ten independently developed predictors all land between 0.62 and 0.67. The ceiling belongs to the task.</a:t>
            </a:r>
          </a:p>
        </p:txBody>
      </p:sp>
      <p:sp>
        <p:nvSpPr>
          <p:cNvPr id="12" name="Rounded Rectangle 11"/>
          <p:cNvSpPr/>
          <p:nvPr/>
        </p:nvSpPr>
        <p:spPr>
          <a:xfrm>
            <a:off x="548640" y="43434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beats the binder's whole-chain confidence by +0.033 AUC [+0.005, +0.061] — Section 7.7's claim, on measured binding.</a:t>
            </a:r>
          </a:p>
        </p:txBody>
      </p:sp>
      <p:sp>
        <p:nvSpPr>
          <p:cNvPr id="13" name="Rounded Rectangle 12"/>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held-out figure is far closer to the wet-lab figure than the headline is, and still above it. A benchmark quoted without saying whether the complexes were in training overstates a screen — this puts a number on by how much, from outside the dissertation.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the Scramble Control Stops Working</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36</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38 of those designs folded as delivered and against permutations of themselves. The prediction below was</a:t>
            </a:r>
          </a:p>
          <a:p>
            <a:pPr>
              <a:spcAft>
                <a:spcPts val="600"/>
              </a:spcAft>
            </a:pPr>
            <a:r>
              <a:rPr sz="1500" b="0">
                <a:solidFill>
                  <a:srgbClr val="0B2B52"/>
                </a:solidFill>
              </a:rPr>
              <a:t>written into the source and committed before any fold ran.</a:t>
            </a:r>
          </a:p>
        </p:txBody>
      </p:sp>
      <p:graphicFrame>
        <p:nvGraphicFramePr>
          <p:cNvPr id="8" name="Table 7"/>
          <p:cNvGraphicFramePr>
            <a:graphicFrameLocks noGrp="1"/>
          </p:cNvGraphicFramePr>
          <p:nvPr/>
        </p:nvGraphicFramePr>
        <p:xfrm>
          <a:off x="548640" y="1965960"/>
          <a:ext cx="11155680" cy="1234440"/>
        </p:xfrm>
        <a:graphic>
          <a:graphicData uri="http://schemas.openxmlformats.org/drawingml/2006/table">
            <a:tbl>
              <a:tblPr firstRow="1" bandRow="1">
                <a:tableStyleId>{5C22544A-7EE6-4342-B048-85BDC9FD1C3A}</a:tableStyleId>
              </a:tblPr>
              <a:tblGrid>
                <a:gridCol w="4023360"/>
                <a:gridCol w="2377440"/>
                <a:gridCol w="2560320"/>
                <a:gridCol w="2194560"/>
              </a:tblGrid>
              <a:tr h="411480">
                <a:tc>
                  <a:txBody>
                    <a:bodyPr/>
                    <a:lstStyle/>
                    <a:p/>
                  </a:txBody>
                  <a:tcPr/>
                </a:tc>
                <a:tc>
                  <a:txBody>
                    <a:bodyPr/>
                    <a:lstStyle/>
                    <a:p>
                      <a:r>
                        <a:rPr sz="1300" b="1">
                          <a:solidFill>
                            <a:srgbClr val="0B2B52"/>
                          </a:solidFill>
                        </a:rPr>
                        <a:t>design</a:t>
                      </a:r>
                    </a:p>
                  </a:txBody>
                  <a:tcPr/>
                </a:tc>
                <a:tc>
                  <a:txBody>
                    <a:bodyPr/>
                    <a:lstStyle/>
                    <a:p>
                      <a:r>
                        <a:rPr sz="1300" b="1">
                          <a:solidFill>
                            <a:srgbClr val="0B2B52"/>
                          </a:solidFill>
                        </a:rPr>
                        <a:t>its scrambles</a:t>
                      </a:r>
                    </a:p>
                  </a:txBody>
                  <a:tcPr/>
                </a:tc>
                <a:tc>
                  <a:txBody>
                    <a:bodyPr/>
                    <a:lstStyle/>
                    <a:p>
                      <a:r>
                        <a:rPr sz="1300" b="1">
                          <a:solidFill>
                            <a:srgbClr val="0B2B52"/>
                          </a:solidFill>
                        </a:rPr>
                        <a:t>margin</a:t>
                      </a:r>
                    </a:p>
                  </a:txBody>
                  <a:tcPr/>
                </a:tc>
              </a:tr>
              <a:tr h="411480">
                <a:tc>
                  <a:txBody>
                    <a:bodyPr/>
                    <a:lstStyle/>
                    <a:p>
                      <a:r>
                        <a:rPr sz="1300" b="0">
                          <a:solidFill>
                            <a:srgbClr val="0B2B52"/>
                          </a:solidFill>
                        </a:rPr>
                        <a:t>measured binders (20)</a:t>
                      </a:r>
                    </a:p>
                  </a:txBody>
                  <a:tcPr/>
                </a:tc>
                <a:tc>
                  <a:txBody>
                    <a:bodyPr/>
                    <a:lstStyle/>
                    <a:p>
                      <a:r>
                        <a:rPr sz="1300" b="0">
                          <a:solidFill>
                            <a:srgbClr val="0B2B52"/>
                          </a:solidFill>
                        </a:rPr>
                        <a:t>72.99</a:t>
                      </a:r>
                    </a:p>
                  </a:txBody>
                  <a:tcPr/>
                </a:tc>
                <a:tc>
                  <a:txBody>
                    <a:bodyPr/>
                    <a:lstStyle/>
                    <a:p>
                      <a:r>
                        <a:rPr sz="1300" b="0">
                          <a:solidFill>
                            <a:srgbClr val="0B2B52"/>
                          </a:solidFill>
                        </a:rPr>
                        <a:t>53.88</a:t>
                      </a:r>
                    </a:p>
                  </a:txBody>
                  <a:tcPr/>
                </a:tc>
                <a:tc>
                  <a:txBody>
                    <a:bodyPr/>
                    <a:lstStyle/>
                    <a:p>
                      <a:r>
                        <a:rPr sz="1300" b="0">
                          <a:solidFill>
                            <a:srgbClr val="0B2B52"/>
                          </a:solidFill>
                        </a:rPr>
                        <a:t>+19.11</a:t>
                      </a:r>
                    </a:p>
                  </a:txBody>
                  <a:tcPr/>
                </a:tc>
              </a:tr>
              <a:tr h="411480">
                <a:tc>
                  <a:txBody>
                    <a:bodyPr/>
                    <a:lstStyle/>
                    <a:p>
                      <a:r>
                        <a:rPr sz="1300" b="0">
                          <a:solidFill>
                            <a:srgbClr val="0B2B52"/>
                          </a:solidFill>
                        </a:rPr>
                        <a:t>measured non-binders (18)</a:t>
                      </a:r>
                    </a:p>
                  </a:txBody>
                  <a:tcPr/>
                </a:tc>
                <a:tc>
                  <a:txBody>
                    <a:bodyPr/>
                    <a:lstStyle/>
                    <a:p>
                      <a:r>
                        <a:rPr sz="1300" b="0">
                          <a:solidFill>
                            <a:srgbClr val="0B2B52"/>
                          </a:solidFill>
                        </a:rPr>
                        <a:t>71.15</a:t>
                      </a:r>
                    </a:p>
                  </a:txBody>
                  <a:tcPr/>
                </a:tc>
                <a:tc>
                  <a:txBody>
                    <a:bodyPr/>
                    <a:lstStyle/>
                    <a:p>
                      <a:r>
                        <a:rPr sz="1300" b="0">
                          <a:solidFill>
                            <a:srgbClr val="0B2B52"/>
                          </a:solidFill>
                        </a:rPr>
                        <a:t>53.22</a:t>
                      </a:r>
                    </a:p>
                  </a:txBody>
                  <a:tcPr/>
                </a:tc>
                <a:tc>
                  <a:txBody>
                    <a:bodyPr/>
                    <a:lstStyle/>
                    <a:p>
                      <a:r>
                        <a:rPr sz="1300" b="0">
                          <a:solidFill>
                            <a:srgbClr val="0B2B52"/>
                          </a:solidFill>
                        </a:rPr>
                        <a:t>+17.93</a:t>
                      </a:r>
                    </a:p>
                  </a:txBody>
                  <a:tcPr/>
                </a:tc>
              </a:tr>
            </a:tbl>
          </a:graphicData>
        </a:graphic>
      </p:graphicFrame>
      <p:sp>
        <p:nvSpPr>
          <p:cNvPr id="9" name="Rounded Rectangle 8"/>
          <p:cNvSpPr/>
          <p:nvPr/>
        </p:nvSpPr>
        <p:spPr>
          <a:xfrm>
            <a:off x="548640" y="3429000"/>
            <a:ext cx="352044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0.751</a:t>
            </a:r>
          </a:p>
          <a:p>
            <a:pPr algn="ctr"/>
            <a:r>
              <a:rPr sz="1050">
                <a:solidFill>
                  <a:srgbClr val="FFFFFF"/>
                </a:solidFill>
              </a:rPr>
              <a:t>the two margins are indistinguishable</a:t>
            </a:r>
          </a:p>
        </p:txBody>
      </p:sp>
      <p:sp>
        <p:nvSpPr>
          <p:cNvPr id="10" name="Rounded Rectangle 9"/>
          <p:cNvSpPr/>
          <p:nvPr/>
        </p:nvSpPr>
        <p:spPr>
          <a:xfrm>
            <a:off x="4343400" y="3429000"/>
            <a:ext cx="352044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0.672 → 0.581</a:t>
            </a:r>
          </a:p>
          <a:p>
            <a:pPr algn="ctr"/>
            <a:r>
              <a:rPr sz="1050">
                <a:solidFill>
                  <a:srgbClr val="FFFFFF"/>
                </a:solidFill>
              </a:rPr>
              <a:t>AUC, before and after subtracting scrambles</a:t>
            </a:r>
          </a:p>
        </p:txBody>
      </p:sp>
      <p:sp>
        <p:nvSpPr>
          <p:cNvPr id="11" name="Rounded Rectangle 10"/>
          <p:cNvSpPr/>
          <p:nvPr/>
        </p:nvSpPr>
        <p:spPr>
          <a:xfrm>
            <a:off x="8138160" y="3429000"/>
            <a:ext cx="356616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−0.092</a:t>
            </a:r>
          </a:p>
          <a:p>
            <a:pPr algn="ctr"/>
            <a:r>
              <a:rPr sz="1050">
                <a:solidFill>
                  <a:srgbClr val="FFFFFF"/>
                </a:solidFill>
              </a:rPr>
              <a:t>change in AUC, CI [−0.170, +0.008]</a:t>
            </a:r>
          </a:p>
        </p:txBody>
      </p:sp>
      <p:sp>
        <p:nvSpPr>
          <p:cNvPr id="12" name="Rounded Rectangle 11"/>
          <p:cNvSpPr/>
          <p:nvPr/>
        </p:nvSpPr>
        <p:spPr>
          <a:xfrm>
            <a:off x="548640" y="50292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permutation of a 15-residue peptide is still a plausible ligand. A permutation of a 100-residue protein is not a protein.</a:t>
            </a:r>
          </a:p>
        </p:txBody>
      </p:sp>
      <p:sp>
        <p:nvSpPr>
          <p:cNvPr id="13" name="Rounded Rectangle 12"/>
          <p:cNvSpPr/>
          <p:nvPr/>
        </p:nvSpPr>
        <p:spPr>
          <a:xfrm>
            <a:off x="548640" y="55321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So the control is sound for the case this work concerns and unsound outside it. The recommendation gains a condition rather than losing its force: use the scramble control wherever a permutation of the candidate is still a candidate.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38</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39</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Delivered as a local screening tool: the scramble control, the cost of reduced settings and the replicate spread are built into what it does rather than written beside it (slides 31–32).</a:t>
            </a:r>
          </a:p>
          <a:p>
            <a:r>
              <a:rPr sz="1400" b="0">
                <a:solidFill>
                  <a:srgbClr val="0B2B52"/>
                </a:solidFill>
              </a:rPr>
              <a:t>•  Of the three inference settings raised together, sampling steps carry the effect; alignment depth and recycling carry none of it, and 69% of the gain costs a third of the compute.</a:t>
            </a:r>
          </a:p>
          <a:p>
            <a:r>
              <a:rPr sz="1400" b="0">
                <a:solidFill>
                  <a:srgbClr val="0B2B52"/>
                </a:solidFill>
              </a:rPr>
              <a:t>•  Checked against binding measured in a wet lab on 1,320 designs no model had seen: 0.626, against 0.943 on the in-training panel. The readout still beats whole-chain confidence, which was the claim.</a:t>
            </a:r>
          </a:p>
          <a:p>
            <a:r>
              <a:rPr sz="1400" b="0">
                <a:solidFill>
                  <a:srgbClr val="0B2B52"/>
                </a:solidFill>
              </a:rPr>
              <a:t>•  Next: extend the panel past 22 receptors, which is what now limits the open questions.</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Method That Came Out of Being Wrong</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37</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Section 7.10 was written three times and two claims withdrawn — each formed after the numbers were seen.</a:t>
            </a:r>
          </a:p>
          <a:p>
            <a:pPr>
              <a:spcAft>
                <a:spcPts val="600"/>
              </a:spcAft>
            </a:pPr>
            <a:r>
              <a:rPr sz="1500" b="0">
                <a:solidFill>
                  <a:srgbClr val="0B2B52"/>
                </a:solidFill>
              </a:rPr>
              <a:t>Everything attempted afterwards fixed the test first. What that refused:</a:t>
            </a:r>
          </a:p>
        </p:txBody>
      </p:sp>
      <p:graphicFrame>
        <p:nvGraphicFramePr>
          <p:cNvPr id="8" name="Table 7"/>
          <p:cNvGraphicFramePr>
            <a:graphicFrameLocks noGrp="1"/>
          </p:cNvGraphicFramePr>
          <p:nvPr/>
        </p:nvGraphicFramePr>
        <p:xfrm>
          <a:off x="548640" y="2011680"/>
          <a:ext cx="11155680" cy="2331720"/>
        </p:xfrm>
        <a:graphic>
          <a:graphicData uri="http://schemas.openxmlformats.org/drawingml/2006/table">
            <a:tbl>
              <a:tblPr firstRow="1" bandRow="1">
                <a:tableStyleId>{5C22544A-7EE6-4342-B048-85BDC9FD1C3A}</a:tableStyleId>
              </a:tblPr>
              <a:tblGrid>
                <a:gridCol w="5852160"/>
                <a:gridCol w="5303520"/>
              </a:tblGrid>
              <a:tr h="466344">
                <a:tc>
                  <a:txBody>
                    <a:bodyPr/>
                    <a:lstStyle/>
                    <a:p>
                      <a:r>
                        <a:rPr sz="1250" b="1">
                          <a:solidFill>
                            <a:srgbClr val="0B2B52"/>
                          </a:solidFill>
                        </a:rPr>
                        <a:t>Fixed in advance</a:t>
                      </a:r>
                    </a:p>
                  </a:txBody>
                  <a:tcPr/>
                </a:tc>
                <a:tc>
                  <a:txBody>
                    <a:bodyPr/>
                    <a:lstStyle/>
                    <a:p>
                      <a:r>
                        <a:rPr sz="1250" b="1">
                          <a:solidFill>
                            <a:srgbClr val="0B2B52"/>
                          </a:solidFill>
                        </a:rPr>
                        <a:t>What it refused</a:t>
                      </a:r>
                    </a:p>
                  </a:txBody>
                  <a:tcPr/>
                </a:tc>
              </a:tr>
              <a:tr h="466344">
                <a:tc>
                  <a:txBody>
                    <a:bodyPr/>
                    <a:lstStyle/>
                    <a:p>
                      <a:r>
                        <a:rPr sz="1250" b="0">
                          <a:solidFill>
                            <a:srgbClr val="0B2B52"/>
                          </a:solidFill>
                        </a:rPr>
                        <a:t>7.15  the permutation null, built before reading the winner</a:t>
                      </a:r>
                    </a:p>
                  </a:txBody>
                  <a:tcPr/>
                </a:tc>
                <a:tc>
                  <a:txBody>
                    <a:bodyPr/>
                    <a:lstStyle/>
                    <a:p>
                      <a:r>
                        <a:rPr sz="1250" b="0">
                          <a:solidFill>
                            <a:srgbClr val="0B2B52"/>
                          </a:solidFill>
                        </a:rPr>
                        <a:t>a +0.018 AUC gain over this work's headline readout</a:t>
                      </a:r>
                    </a:p>
                  </a:txBody>
                  <a:tcPr/>
                </a:tc>
              </a:tr>
              <a:tr h="466344">
                <a:tc>
                  <a:txBody>
                    <a:bodyPr/>
                    <a:lstStyle/>
                    <a:p>
                      <a:r>
                        <a:rPr sz="1250" b="0">
                          <a:solidFill>
                            <a:srgbClr val="0B2B52"/>
                          </a:solidFill>
                        </a:rPr>
                        <a:t>7.16  the analysis, written while the arms were still folding</a:t>
                      </a:r>
                    </a:p>
                  </a:txBody>
                  <a:tcPr/>
                </a:tc>
                <a:tc>
                  <a:txBody>
                    <a:bodyPr/>
                    <a:lstStyle/>
                    <a:p>
                      <a:r>
                        <a:rPr sz="1250" b="0">
                          <a:solidFill>
                            <a:srgbClr val="0B2B52"/>
                          </a:solidFill>
                        </a:rPr>
                        <a:t>a half-folded arm being scored at AUC 0.917</a:t>
                      </a:r>
                    </a:p>
                  </a:txBody>
                  <a:tcPr/>
                </a:tc>
              </a:tr>
              <a:tr h="466344">
                <a:tc>
                  <a:txBody>
                    <a:bodyPr/>
                    <a:lstStyle/>
                    <a:p>
                      <a:r>
                        <a:rPr sz="1250" b="0">
                          <a:solidFill>
                            <a:srgbClr val="0B2B52"/>
                          </a:solidFill>
                        </a:rPr>
                        <a:t>7.17  the equivalence oracle, run before any timing</a:t>
                      </a:r>
                    </a:p>
                  </a:txBody>
                  <a:tcPr/>
                </a:tc>
                <a:tc>
                  <a:txBody>
                    <a:bodyPr/>
                    <a:lstStyle/>
                    <a:p>
                      <a:r>
                        <a:rPr sz="1250" b="0">
                          <a:solidFill>
                            <a:srgbClr val="0B2B52"/>
                          </a:solidFill>
                        </a:rPr>
                        <a:t>three rewrites that looked correct and were slower or inexact</a:t>
                      </a:r>
                    </a:p>
                  </a:txBody>
                  <a:tcPr/>
                </a:tc>
              </a:tr>
              <a:tr h="466344">
                <a:tc>
                  <a:txBody>
                    <a:bodyPr/>
                    <a:lstStyle/>
                    <a:p>
                      <a:r>
                        <a:rPr sz="1250" b="0">
                          <a:solidFill>
                            <a:srgbClr val="0B2B52"/>
                          </a:solidFill>
                        </a:rPr>
                        <a:t>7.19  the prediction, committed to source before a fold ran</a:t>
                      </a:r>
                    </a:p>
                  </a:txBody>
                  <a:tcPr/>
                </a:tc>
                <a:tc>
                  <a:txBody>
                    <a:bodyPr/>
                    <a:lstStyle/>
                    <a:p>
                      <a:r>
                        <a:rPr sz="1250" b="0">
                          <a:solidFill>
                            <a:srgbClr val="0B2B52"/>
                          </a:solidFill>
                        </a:rPr>
                        <a:t>the option of calling the outcome expected after the fact</a:t>
                      </a:r>
                    </a:p>
                  </a:txBody>
                  <a:tcPr/>
                </a:tc>
              </a:tr>
            </a:tbl>
          </a:graphicData>
        </a:graphic>
      </p:graphicFrame>
      <p:sp>
        <p:nvSpPr>
          <p:cNvPr id="9" name="Rounded Rectangle 8"/>
          <p:cNvSpPr/>
          <p:nvPr/>
        </p:nvSpPr>
        <p:spPr>
          <a:xfrm>
            <a:off x="548640" y="461772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order matters more than the rigour. Each could have been done afterwards, produced the same arithmetic, and supported a weaker claim.</a:t>
            </a:r>
          </a:p>
        </p:txBody>
      </p:sp>
      <p:sp>
        <p:nvSpPr>
          <p:cNvPr id="10" name="Rounded Rectangle 9"/>
          <p:cNvSpPr/>
          <p:nvPr/>
        </p:nvSpPr>
        <p:spPr>
          <a:xfrm>
            <a:off x="548640" y="55321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What pre-specification buys is not accuracy but the ability to be refused. In this work it refused an ensembling mechanism, a readout combination, a target-cropping strategy and a per-arm score — each of which looked correct when it was proposed.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