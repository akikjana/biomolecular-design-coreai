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4" r:id="rId35"/>
    <p:sldId id="285" r:id="rId36"/>
    <p:sldId id="286" r:id="rId37"/>
    <p:sldId id="287" r:id="rId38"/>
    <p:sldId id="288" r:id="rId39"/>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1.xml"/><Relationship Id="rId19" Type="http://schemas.openxmlformats.org/officeDocument/2006/relationships/slide" Target="slides/slide32.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scope: the headline speedups in this report are for the distilled surrogate. Track A was then tested end-to-end: the ipTM reference does not rank binders, so the screening objective is not reachable through it (slides 14–18).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law 1.32·rank^−0.356 puts 10% error at rank ≈1414, against c_hidden² = 1024 — the low-rank form costs MORE activation memory than stock before it is accurate enough to substitute.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ipTM responds largely to peptide COMPOSITION. Any sequence-order effect is at most 63% of the composition effect. A ridge regression on composition independently beat the distilled surrogate (+0.103 vs −0.034).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Stabilising per-receptor ranks needs ~9–16 replicate folds per complex (1,200–2,100 folds) — GPU-scale. Ranking binders on a single AlphaFold/Boltz run is common practice, and does not reproduce.</a:t>
            </a:r>
          </a:p>
          <a:p/>
          <a:p>
            <a:r>
              <a:t>The 95% range on the aggregate mean rank is [1.77, 2.27], always below chance; the median p across simulated re-runs is 0.054.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a:p/>
          <a:p>
            <a:r>
              <a:t>It also survives the reproducibility test that demoted ipTM, reproducing at p &lt; 0.05 in 100% of simulated re-runs.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QUALIFIES slide 19. Half the pooled signal is peptide foldability, which slide 19 did not separate. What stands: the receptor responds to which peptide it is given. Not established: that the response is localised to the binding site.</a:t>
            </a:r>
          </a:p>
          <a:p/>
          <a:p>
            <a:r>
              <a:t>The receptor's own residues are placed better when given the right peptide, and a disordered peptide cannot do that, which is why this term survives the foldability objection. Every alanine arm drops 7-12 pLDDT, so both may sit near a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Effects normalised by the run-to-run noise of Section 7.5 so metrics on different scales compare. DeCAF vs Boltz-1 isolates few-step training; the Boltz-2 arm ran on CPU, the others on MPS.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homology-decontaminated, and cannot be: 0 of 22 held-out receptors clear 30% identity to the pre-cutoff PDB (median 1.000), and neither does a random sample of the whole candidate pool. What the split isolates is complex-level novelty with receptor familiarity held constant.</a:t>
            </a:r>
          </a:p>
          <a:p/>
          <a:p>
            <a:r>
              <a:t>The methodological lesson is sharper than the scientific one: a single unseeded fold is not a measurement, and on this evidence neither are two.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400" b="0">
                <a:solidFill>
                  <a:srgbClr val="0B2B52"/>
                </a:solidFill>
              </a:rPr>
              <a:t>24 complexes × 4 identical re-runs (96 folds), same settings:</a:t>
            </a:r>
          </a:p>
          <a:p>
            <a:pPr>
              <a:spcAft>
                <a:spcPts val="600"/>
              </a:spcAft>
            </a:pPr>
            <a:r>
              <a:rPr sz="1400" b="0">
                <a:solidFill>
                  <a:srgbClr val="0B2B52"/>
                </a:solidFill>
              </a:rPr>
              <a:t>•  within-complex ipTM SD  0.0628   (median range 0.127)</a:t>
            </a:r>
          </a:p>
          <a:p>
            <a:pPr>
              <a:spcAft>
                <a:spcPts val="600"/>
              </a:spcAft>
            </a:pPr>
            <a:r>
              <a:rPr sz="1400" b="0">
                <a:solidFill>
                  <a:srgbClr val="0B2B52"/>
                </a:solidFill>
              </a:rPr>
              <a:t>•  cognate − decoy  +0.0698  =  1.11 × SD   —  comparable to noise</a:t>
            </a:r>
          </a:p>
          <a:p>
            <a:pPr>
              <a:spcAft>
                <a:spcPts val="600"/>
              </a:spcAft>
            </a:pPr>
            <a:r>
              <a:rPr sz="1400" b="0">
                <a:solidFill>
                  <a:srgbClr val="0B2B52"/>
                </a:solidFill>
              </a:rPr>
              <a:t>•  per-receptor rank flips for 4 of 4;  6YOO spans #1 to #4 on identical input</a:t>
            </a:r>
          </a:p>
          <a:p>
            <a:pPr>
              <a:spcAft>
                <a:spcPts val="600"/>
              </a:spcAft>
            </a:pPr>
            <a:r>
              <a:rPr sz="1400" b="0">
                <a:solidFill>
                  <a:srgbClr val="0B2B52"/>
                </a:solidFill>
              </a:rPr>
              <a:t>•  aggregate survives (mean rank 2.03) but p &lt; 0.05 in only 49% of re-runs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00" b="0">
                <a:solidFill>
                  <a:srgbClr val="0B2B52"/>
                </a:solidFill>
              </a:rPr>
              <a:t>Six interface measures, same complexes, same tests.</a:t>
            </a:r>
          </a:p>
          <a:p>
            <a:pPr>
              <a:spcAft>
                <a:spcPts val="600"/>
              </a:spcAft>
            </a:pPr>
            <a:r>
              <a:rPr sz="1400" b="0">
                <a:solidFill>
                  <a:srgbClr val="0B2B52"/>
                </a:solidFill>
              </a:rPr>
              <a:t>Only one beats a cognate's OWN scramble — composition fixed, order destroyed:</a:t>
            </a:r>
          </a:p>
          <a:p>
            <a:pPr>
              <a:spcAft>
                <a:spcPts val="600"/>
              </a:spcAft>
            </a:pPr>
            <a:r>
              <a:rPr sz="1400" b="0">
                <a:solidFill>
                  <a:srgbClr val="0B2B52"/>
                </a:solidFill>
              </a:rPr>
              <a:t>•  ipTM p = 0.42   •  pDockQ p = 0.80   •  contacts / density / SASA p = 0.05–0.45</a:t>
            </a:r>
          </a:p>
          <a:p>
            <a:pPr>
              <a:spcAft>
                <a:spcPts val="600"/>
              </a:spcAft>
            </a:pPr>
            <a:r>
              <a:rPr sz="1400" b="0">
                <a:solidFill>
                  <a:srgbClr val="0B2B52"/>
                </a:solidFill>
              </a:rPr>
              <a:t>•  INTERFACE pLDDT  p &lt; 0.0001,  rank 1.91 of 4  (chance 2.50)</a:t>
            </a:r>
          </a:p>
          <a:p>
            <a:pPr>
              <a:spcAft>
                <a:spcPts val="600"/>
              </a:spcAft>
            </a:pPr>
            <a:r>
              <a:rPr sz="1400" b="0">
                <a:solidFill>
                  <a:srgbClr val="0B2B52"/>
                </a:solidFill>
              </a:rPr>
              <a:t/>
            </a:r>
          </a:p>
          <a:p>
            <a:pPr>
              <a:spcAft>
                <a:spcPts val="600"/>
              </a:spcAft>
            </a:pPr>
            <a:r>
              <a:rPr sz="1400" b="0">
                <a:solidFill>
                  <a:srgbClr val="0B2B52"/>
                </a:solidFill>
              </a:rPr>
              <a:t>Effect-to-noise: +3.30 / SD 1.92 = 1.72×, against ipTM's 0.20× — 8.6× better.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 by chain — no new folding:</a:t>
            </a:r>
          </a:p>
          <a:p>
            <a:pPr>
              <a:spcAft>
                <a:spcPts val="600"/>
              </a:spcAft>
            </a:pPr>
            <a:r>
              <a:rPr sz="1400" b="0">
                <a:solidFill>
                  <a:srgbClr val="0B2B52"/>
                </a:solidFill>
              </a:rPr>
              <a:t>•  peptide side +5.25  vs  whole-chain peptide +4.87  →  mostly FOLDABILITY</a:t>
            </a:r>
          </a:p>
          <a:p>
            <a:pPr>
              <a:spcAft>
                <a:spcPts val="600"/>
              </a:spcAft>
            </a:pPr>
            <a:r>
              <a:rPr sz="1400" b="0">
                <a:solidFill>
                  <a:srgbClr val="0B2B52"/>
                </a:solidFill>
              </a:rPr>
              <a:t>•  RECEPTOR side +2.38 (p = 6e-5)  →  survives the objection</a:t>
            </a:r>
          </a:p>
          <a:p>
            <a:pPr>
              <a:spcAft>
                <a:spcPts val="600"/>
              </a:spcAft>
            </a:pPr>
            <a:r>
              <a:rPr sz="1400" b="0">
                <a:solidFill>
                  <a:srgbClr val="0B2B52"/>
                </a:solidFill>
              </a:rPr>
              <a:t/>
            </a:r>
          </a:p>
          <a:p>
            <a:pPr>
              <a:spcAft>
                <a:spcPts val="600"/>
              </a:spcAft>
            </a:pPr>
            <a:r>
              <a:rPr sz="1400" b="0">
                <a:solidFill>
                  <a:srgbClr val="0B2B52"/>
                </a:solidFill>
              </a:rPr>
              <a:t>Tied to the binding site?  Alanine scan, 88 folds:</a:t>
            </a:r>
          </a:p>
          <a:p>
            <a:pPr>
              <a:spcAft>
                <a:spcPts val="600"/>
              </a:spcAft>
            </a:pPr>
            <a:r>
              <a:rPr sz="1400" b="0">
                <a:solidFill>
                  <a:srgbClr val="0B2B52"/>
                </a:solidFill>
              </a:rPr>
              <a:t>•  interface→Ala 36.77  vs  surface→Ala 38.62   diff −1.84, p = 0.244</a:t>
            </a:r>
          </a:p>
          <a:p>
            <a:pPr>
              <a:spcAft>
                <a:spcPts val="600"/>
              </a:spcAft>
            </a:pPr>
            <a:r>
              <a:rPr sz="1400" b="0">
                <a:solidFill>
                  <a:srgbClr val="0B2B52"/>
                </a:solidFill>
              </a:rPr>
              <a:t>•  right direction, not significant — 80% power needs 123 receptors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15568"/>
            <a:ext cx="11155680" cy="539496"/>
          </a:xfrm>
          <a:prstGeom prst="rect">
            <a:avLst/>
          </a:prstGeom>
          <a:noFill/>
        </p:spPr>
        <p:txBody>
          <a:bodyPr wrap="square">
            <a:spAutoFit/>
          </a:bodyPr>
          <a:lstStyle/>
          <a:p>
            <a:pPr>
              <a:spcAft>
                <a:spcPts val="600"/>
              </a:spcAft>
            </a:pPr>
            <a:r>
              <a:rPr sz="1400" b="0">
                <a:solidFill>
                  <a:srgbClr val="0B2B52"/>
                </a:solidFill>
              </a:rPr>
              <a:t>22 receptors released after the 2021-09-30 training cutoff, screened identically. Folded five times.</a:t>
            </a:r>
          </a:p>
        </p:txBody>
      </p:sp>
      <p:sp>
        <p:nvSpPr>
          <p:cNvPr id="8" name="Rounded Rectangle 7"/>
          <p:cNvSpPr/>
          <p:nvPr/>
        </p:nvSpPr>
        <p:spPr>
          <a:xfrm>
            <a:off x="548640" y="164592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164592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164592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310128"/>
            <a:ext cx="11155680" cy="539496"/>
          </a:xfrm>
          <a:prstGeom prst="rect">
            <a:avLst/>
          </a:prstGeom>
          <a:noFill/>
        </p:spPr>
        <p:txBody>
          <a:bodyPr wrap="square">
            <a:spAutoFit/>
          </a:bodyPr>
          <a:lstStyle/>
          <a:p>
            <a:pPr>
              <a:spcAft>
                <a:spcPts val="600"/>
              </a:spcAft>
            </a:pPr>
            <a:r>
              <a:rPr sz="1400" b="0">
                <a:solidFill>
                  <a:srgbClr val="0B2B52"/>
                </a:solidFill>
              </a:rPr>
              <a:t>Cognate rank among its own decoys (chance 2.50) — and why one draw was not enough:</a:t>
            </a:r>
          </a:p>
        </p:txBody>
      </p:sp>
      <p:graphicFrame>
        <p:nvGraphicFramePr>
          <p:cNvPr id="12" name="Table 11"/>
          <p:cNvGraphicFramePr>
            <a:graphicFrameLocks noGrp="1"/>
          </p:cNvGraphicFramePr>
          <p:nvPr/>
        </p:nvGraphicFramePr>
        <p:xfrm>
          <a:off x="548640" y="3749039"/>
          <a:ext cx="11155680" cy="1042416"/>
        </p:xfrm>
        <a:graphic>
          <a:graphicData uri="http://schemas.openxmlformats.org/drawingml/2006/table">
            <a:tbl>
              <a:tblPr firstRow="1" bandRow="1">
                <a:tableStyleId>{5C22544A-7EE6-4342-B048-85BDC9FD1C3A}</a:tableStyleId>
              </a:tblPr>
              <a:tblGrid>
                <a:gridCol w="2651760"/>
                <a:gridCol w="1417320"/>
                <a:gridCol w="1417320"/>
                <a:gridCol w="1417320"/>
                <a:gridCol w="1417320"/>
                <a:gridCol w="1417320"/>
                <a:gridCol w="1417320"/>
              </a:tblGrid>
              <a:tr h="347472">
                <a:tc>
                  <a:txBody>
                    <a:bodyPr/>
                    <a:lstStyle/>
                    <a:p>
                      <a:r>
                        <a:rPr sz="1250" b="1">
                          <a:solidFill>
                            <a:srgbClr val="0B2B52"/>
                          </a:solidFill>
                        </a:rPr>
                        <a:t> </a:t>
                      </a:r>
                    </a:p>
                  </a:txBody>
                  <a:tcPr/>
                </a:tc>
                <a:tc>
                  <a:txBody>
                    <a:bodyPr/>
                    <a:lstStyle/>
                    <a:p>
                      <a:r>
                        <a:rPr sz="1250" b="1">
                          <a:solidFill>
                            <a:srgbClr val="0B2B52"/>
                          </a:solidFill>
                        </a:rPr>
                        <a:t>draw 1</a:t>
                      </a:r>
                    </a:p>
                  </a:txBody>
                  <a:tcPr/>
                </a:tc>
                <a:tc>
                  <a:txBody>
                    <a:bodyPr/>
                    <a:lstStyle/>
                    <a:p>
                      <a:r>
                        <a:rPr sz="1250" b="1">
                          <a:solidFill>
                            <a:srgbClr val="0B2B52"/>
                          </a:solidFill>
                        </a:rPr>
                        <a:t>draw 2</a:t>
                      </a:r>
                    </a:p>
                  </a:txBody>
                  <a:tcPr/>
                </a:tc>
                <a:tc>
                  <a:txBody>
                    <a:bodyPr/>
                    <a:lstStyle/>
                    <a:p>
                      <a:r>
                        <a:rPr sz="1250" b="1">
                          <a:solidFill>
                            <a:srgbClr val="0B2B52"/>
                          </a:solidFill>
                        </a:rPr>
                        <a:t>draw 3</a:t>
                      </a:r>
                    </a:p>
                  </a:txBody>
                  <a:tcPr/>
                </a:tc>
                <a:tc>
                  <a:txBody>
                    <a:bodyPr/>
                    <a:lstStyle/>
                    <a:p>
                      <a:r>
                        <a:rPr sz="1250" b="1">
                          <a:solidFill>
                            <a:srgbClr val="0B2B52"/>
                          </a:solidFill>
                        </a:rPr>
                        <a:t>draw 4</a:t>
                      </a:r>
                    </a:p>
                  </a:txBody>
                  <a:tcPr/>
                </a:tc>
                <a:tc>
                  <a:txBody>
                    <a:bodyPr/>
                    <a:lstStyle/>
                    <a:p>
                      <a:r>
                        <a:rPr sz="1250" b="1">
                          <a:solidFill>
                            <a:srgbClr val="0B2B52"/>
                          </a:solidFill>
                        </a:rPr>
                        <a:t>draw 5</a:t>
                      </a:r>
                    </a:p>
                  </a:txBody>
                  <a:tcPr/>
                </a:tc>
                <a:tc>
                  <a:txBody>
                    <a:bodyPr/>
                    <a:lstStyle/>
                    <a:p>
                      <a:r>
                        <a:rPr sz="1250" b="1">
                          <a:solidFill>
                            <a:srgbClr val="0B2B52"/>
                          </a:solidFill>
                        </a:rPr>
                        <a:t>mean</a:t>
                      </a:r>
                    </a:p>
                  </a:txBody>
                  <a:tcPr/>
                </a:tc>
              </a:tr>
              <a:tr h="347472">
                <a:tc>
                  <a:txBody>
                    <a:bodyPr/>
                    <a:lstStyle/>
                    <a:p>
                      <a:r>
                        <a:rPr sz="1250" b="1">
                          <a:solidFill>
                            <a:srgbClr val="0B2B52"/>
                          </a:solidFill>
                        </a:rPr>
                        <a:t>ipTM</a:t>
                      </a:r>
                    </a:p>
                  </a:txBody>
                  <a:tcPr/>
                </a:tc>
                <a:tc>
                  <a:txBody>
                    <a:bodyPr/>
                    <a:lstStyle/>
                    <a:p>
                      <a:r>
                        <a:rPr sz="1250" b="0">
                          <a:solidFill>
                            <a:srgbClr val="0B2B52"/>
                          </a:solidFill>
                        </a:rPr>
                        <a:t>1.64</a:t>
                      </a:r>
                    </a:p>
                  </a:txBody>
                  <a:tcPr/>
                </a:tc>
                <a:tc>
                  <a:txBody>
                    <a:bodyPr/>
                    <a:lstStyle/>
                    <a:p>
                      <a:r>
                        <a:rPr sz="1250" b="0">
                          <a:solidFill>
                            <a:srgbClr val="0B2B52"/>
                          </a:solidFill>
                        </a:rPr>
                        <a:t>1.50</a:t>
                      </a:r>
                    </a:p>
                  </a:txBody>
                  <a:tcPr/>
                </a:tc>
                <a:tc>
                  <a:txBody>
                    <a:bodyPr/>
                    <a:lstStyle/>
                    <a:p>
                      <a:r>
                        <a:rPr sz="1250" b="0">
                          <a:solidFill>
                            <a:srgbClr val="0B2B52"/>
                          </a:solidFill>
                        </a:rPr>
                        <a:t>1.86</a:t>
                      </a:r>
                    </a:p>
                  </a:txBody>
                  <a:tcPr/>
                </a:tc>
                <a:tc>
                  <a:txBody>
                    <a:bodyPr/>
                    <a:lstStyle/>
                    <a:p>
                      <a:r>
                        <a:rPr sz="1250" b="0">
                          <a:solidFill>
                            <a:srgbClr val="0B2B52"/>
                          </a:solidFill>
                        </a:rPr>
                        <a:t>1.64</a:t>
                      </a:r>
                    </a:p>
                  </a:txBody>
                  <a:tcPr/>
                </a:tc>
                <a:tc>
                  <a:txBody>
                    <a:bodyPr/>
                    <a:lstStyle/>
                    <a:p>
                      <a:r>
                        <a:rPr sz="1250" b="0">
                          <a:solidFill>
                            <a:srgbClr val="0B2B52"/>
                          </a:solidFill>
                        </a:rPr>
                        <a:t>1.45</a:t>
                      </a:r>
                    </a:p>
                  </a:txBody>
                  <a:tcPr/>
                </a:tc>
                <a:tc>
                  <a:txBody>
                    <a:bodyPr/>
                    <a:lstStyle/>
                    <a:p>
                      <a:r>
                        <a:rPr sz="1250" b="0">
                          <a:solidFill>
                            <a:srgbClr val="0B2B52"/>
                          </a:solidFill>
                        </a:rPr>
                        <a:t>1.59</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2.09</a:t>
                      </a:r>
                    </a:p>
                  </a:txBody>
                  <a:tcPr/>
                </a:tc>
                <a:tc>
                  <a:txBody>
                    <a:bodyPr/>
                    <a:lstStyle/>
                    <a:p>
                      <a:r>
                        <a:rPr sz="1250" b="0">
                          <a:solidFill>
                            <a:srgbClr val="0B2B52"/>
                          </a:solidFill>
                        </a:rPr>
                        <a:t>2.05</a:t>
                      </a:r>
                    </a:p>
                  </a:txBody>
                  <a:tcPr/>
                </a:tc>
                <a:tc>
                  <a:txBody>
                    <a:bodyPr/>
                    <a:lstStyle/>
                    <a:p>
                      <a:r>
                        <a:rPr sz="1250" b="0">
                          <a:solidFill>
                            <a:srgbClr val="0B2B52"/>
                          </a:solidFill>
                        </a:rPr>
                        <a:t>1.73</a:t>
                      </a:r>
                    </a:p>
                  </a:txBody>
                  <a:tcPr/>
                </a:tc>
                <a:tc>
                  <a:txBody>
                    <a:bodyPr/>
                    <a:lstStyle/>
                    <a:p>
                      <a:r>
                        <a:rPr sz="1250" b="0">
                          <a:solidFill>
                            <a:srgbClr val="0B2B52"/>
                          </a:solidFill>
                        </a:rPr>
                        <a:t>1.73</a:t>
                      </a:r>
                    </a:p>
                  </a:txBody>
                  <a:tcPr/>
                </a:tc>
                <a:tc>
                  <a:txBody>
                    <a:bodyPr/>
                    <a:lstStyle/>
                    <a:p>
                      <a:r>
                        <a:rPr sz="1250" b="0">
                          <a:solidFill>
                            <a:srgbClr val="0B2B52"/>
                          </a:solidFill>
                        </a:rPr>
                        <a:t>1.91</a:t>
                      </a:r>
                    </a:p>
                  </a:txBody>
                  <a:tcPr/>
                </a:tc>
                <a:tc>
                  <a:txBody>
                    <a:bodyPr/>
                    <a:lstStyle/>
                    <a:p>
                      <a:r>
                        <a:rPr sz="1250" b="0">
                          <a:solidFill>
                            <a:srgbClr val="0B2B52"/>
                          </a:solidFill>
                        </a:rPr>
                        <a:t>1.82</a:t>
                      </a:r>
                    </a:p>
                  </a:txBody>
                  <a:tcPr/>
                </a:tc>
              </a:tr>
            </a:tbl>
          </a:graphicData>
        </a:graphic>
      </p:graphicFrame>
      <p:sp>
        <p:nvSpPr>
          <p:cNvPr id="13" name="Rounded Rectangle 12"/>
          <p:cNvSpPr/>
          <p:nvPr/>
        </p:nvSpPr>
        <p:spPr>
          <a:xfrm>
            <a:off x="548640" y="50749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500" b="1">
                <a:solidFill>
                  <a:srgbClr val="FFFFFF"/>
                </a:solidFill>
              </a:rPr>
              <a:t>Draw 1 said interface pLDDT collapses. Draws 1–2 said ipTM specifically survives. Draw 3 reversed it — both claims withdrawn.</a:t>
            </a:r>
          </a:p>
        </p:txBody>
      </p:sp>
      <p:sp>
        <p:nvSpPr>
          <p:cNvPr id="14" name="TextBox 13"/>
          <p:cNvSpPr txBox="1"/>
          <p:nvPr/>
        </p:nvSpPr>
        <p:spPr>
          <a:xfrm>
            <a:off x="548640" y="6172200"/>
            <a:ext cx="11155680" cy="539496"/>
          </a:xfrm>
          <a:prstGeom prst="rect">
            <a:avLst/>
          </a:prstGeom>
          <a:noFill/>
        </p:spPr>
        <p:txBody>
          <a:bodyPr wrap="square">
            <a:spAutoFit/>
          </a:bodyPr>
          <a:lstStyle/>
          <a:p>
            <a:pPr>
              <a:spcAft>
                <a:spcPts val="600"/>
              </a:spcAft>
            </a:pPr>
            <a:r>
              <a:rPr sz="1200" b="0">
                <a:solidFill>
                  <a:srgbClr val="0B2B52"/>
                </a:solidFill>
              </a:rPr>
              <a:t>Both retain roughly half; neither can be shown to degrade more than the other.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15568"/>
            <a:ext cx="11155680" cy="850392"/>
          </a:xfrm>
          <a:prstGeom prst="rect">
            <a:avLst/>
          </a:prstGeom>
          <a:noFill/>
        </p:spPr>
        <p:txBody>
          <a:bodyPr wrap="square">
            <a:spAutoFit/>
          </a:bodyPr>
          <a:lstStyle/>
          <a:p>
            <a:pPr>
              <a:spcAft>
                <a:spcPts val="600"/>
              </a:spcAft>
            </a:pPr>
            <a:r>
              <a:rPr sz="1400" b="0">
                <a:solidFill>
                  <a:srgbClr val="0B2B52"/>
                </a:solidFill>
              </a:rPr>
              <a:t>Everything above: 10 sampling steps of an intended 200, 1 recycling of 3, MSA 32.</a:t>
            </a:r>
          </a:p>
          <a:p>
            <a:pPr>
              <a:spcAft>
                <a:spcPts val="600"/>
              </a:spcAft>
            </a:pPr>
            <a:r>
              <a:rPr sz="1400" b="0">
                <a:solidFill>
                  <a:srgbClr val="0B2B52"/>
                </a:solidFill>
              </a:rPr>
              <a:t>Same model, same device, settings raised. Cognate − scramble, Cohen's d:</a:t>
            </a:r>
          </a:p>
          <a:p>
            <a:pPr>
              <a:spcAft>
                <a:spcPts val="600"/>
              </a:spcAft>
            </a:pPr>
            <a:r>
              <a:rPr sz="1400" b="0">
                <a:solidFill>
                  <a:srgbClr val="0B2B52"/>
                </a:solidFill>
              </a:rPr>
              <a:t>     ipTM 0.45 → 1.25     interface pLDDT 0.28 → 1.52     receptor side 0.12 → 1.45</a:t>
            </a:r>
          </a:p>
        </p:txBody>
      </p:sp>
      <p:sp>
        <p:nvSpPr>
          <p:cNvPr id="8" name="TextBox 7"/>
          <p:cNvSpPr txBox="1"/>
          <p:nvPr/>
        </p:nvSpPr>
        <p:spPr>
          <a:xfrm>
            <a:off x="548640" y="2103120"/>
            <a:ext cx="11155680" cy="539496"/>
          </a:xfrm>
          <a:prstGeom prst="rect">
            <a:avLst/>
          </a:prstGeom>
          <a:noFill/>
        </p:spPr>
        <p:txBody>
          <a:bodyPr wrap="square">
            <a:spAutoFit/>
          </a:bodyPr>
          <a:lstStyle/>
          <a:p>
            <a:pPr>
              <a:spcAft>
                <a:spcPts val="600"/>
              </a:spcAft>
            </a:pPr>
            <a:r>
              <a:rPr sz="1400" b="0">
                <a:solidFill>
                  <a:srgbClr val="0B2B52"/>
                </a:solidFill>
              </a:rPr>
              <a:t>Ranking a cognate against its own decoys — the question a screen actually asks:</a:t>
            </a:r>
          </a:p>
        </p:txBody>
      </p:sp>
      <p:graphicFrame>
        <p:nvGraphicFramePr>
          <p:cNvPr id="9" name="Table 8"/>
          <p:cNvGraphicFramePr>
            <a:graphicFrameLocks noGrp="1"/>
          </p:cNvGraphicFramePr>
          <p:nvPr/>
        </p:nvGraphicFramePr>
        <p:xfrm>
          <a:off x="548640" y="2542032"/>
          <a:ext cx="11155680" cy="1042416"/>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47472">
                <a:tc>
                  <a:txBody>
                    <a:bodyPr/>
                    <a:lstStyle/>
                    <a:p>
                      <a:r>
                        <a:rPr sz="1250" b="1">
                          <a:solidFill>
                            <a:srgbClr val="0B2B52"/>
                          </a:solidFill>
                        </a:rPr>
                        <a:t> </a:t>
                      </a:r>
                    </a:p>
                  </a:txBody>
                  <a:tcPr/>
                </a:tc>
                <a:tc>
                  <a:txBody>
                    <a:bodyPr/>
                    <a:lstStyle/>
                    <a:p>
                      <a:r>
                        <a:rPr sz="1250" b="1">
                          <a:solidFill>
                            <a:srgbClr val="0B2B52"/>
                          </a:solidFill>
                        </a:rPr>
                        <a:t>reduced rank</a:t>
                      </a:r>
                    </a:p>
                  </a:txBody>
                  <a:tcPr/>
                </a:tc>
                <a:tc>
                  <a:txBody>
                    <a:bodyPr/>
                    <a:lstStyle/>
                    <a:p>
                      <a:r>
                        <a:rPr sz="1250" b="1">
                          <a:solidFill>
                            <a:srgbClr val="0B2B52"/>
                          </a:solidFill>
                        </a:rPr>
                        <a:t>full rank</a:t>
                      </a:r>
                    </a:p>
                  </a:txBody>
                  <a:tcPr/>
                </a:tc>
                <a:tc>
                  <a:txBody>
                    <a:bodyPr/>
                    <a:lstStyle/>
                    <a:p>
                      <a:r>
                        <a:rPr sz="1250" b="1">
                          <a:solidFill>
                            <a:srgbClr val="0B2B52"/>
                          </a:solidFill>
                        </a:rPr>
                        <a:t>first (of 22)</a:t>
                      </a:r>
                    </a:p>
                  </a:txBody>
                  <a:tcPr/>
                </a:tc>
                <a:tc>
                  <a:txBody>
                    <a:bodyPr/>
                    <a:lstStyle/>
                    <a:p>
                      <a:r>
                        <a:rPr sz="1250" b="1">
                          <a:solidFill>
                            <a:srgbClr val="0B2B52"/>
                          </a:solidFill>
                        </a:rPr>
                        <a:t>AUC within</a:t>
                      </a:r>
                    </a:p>
                  </a:txBody>
                  <a:tcPr/>
                </a:tc>
              </a:tr>
              <a:tr h="347472">
                <a:tc>
                  <a:txBody>
                    <a:bodyPr/>
                    <a:lstStyle/>
                    <a:p>
                      <a:r>
                        <a:rPr sz="1250" b="1">
                          <a:solidFill>
                            <a:srgbClr val="0B2B52"/>
                          </a:solidFill>
                        </a:rPr>
                        <a:t>ipTM</a:t>
                      </a:r>
                    </a:p>
                  </a:txBody>
                  <a:tcPr/>
                </a:tc>
                <a:tc>
                  <a:txBody>
                    <a:bodyPr/>
                    <a:lstStyle/>
                    <a:p>
                      <a:r>
                        <a:rPr sz="1250" b="0">
                          <a:solidFill>
                            <a:srgbClr val="0B2B52"/>
                          </a:solidFill>
                        </a:rPr>
                        <a:t>1.86</a:t>
                      </a:r>
                    </a:p>
                  </a:txBody>
                  <a:tcPr/>
                </a:tc>
                <a:tc>
                  <a:txBody>
                    <a:bodyPr/>
                    <a:lstStyle/>
                    <a:p>
                      <a:r>
                        <a:rPr sz="1250" b="0">
                          <a:solidFill>
                            <a:srgbClr val="0B2B52"/>
                          </a:solidFill>
                        </a:rPr>
                        <a:t>1.41</a:t>
                      </a:r>
                    </a:p>
                  </a:txBody>
                  <a:tcPr/>
                </a:tc>
                <a:tc>
                  <a:txBody>
                    <a:bodyPr/>
                    <a:lstStyle/>
                    <a:p>
                      <a:r>
                        <a:rPr sz="1250" b="0">
                          <a:solidFill>
                            <a:srgbClr val="0B2B52"/>
                          </a:solidFill>
                        </a:rPr>
                        <a:t>11 → 15</a:t>
                      </a:r>
                    </a:p>
                  </a:txBody>
                  <a:tcPr/>
                </a:tc>
                <a:tc>
                  <a:txBody>
                    <a:bodyPr/>
                    <a:lstStyle/>
                    <a:p>
                      <a:r>
                        <a:rPr sz="1250" b="0">
                          <a:solidFill>
                            <a:srgbClr val="0B2B52"/>
                          </a:solidFill>
                        </a:rPr>
                        <a:t>0.684 → 0.908</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1.91</a:t>
                      </a:r>
                    </a:p>
                  </a:txBody>
                  <a:tcPr/>
                </a:tc>
                <a:tc>
                  <a:txBody>
                    <a:bodyPr/>
                    <a:lstStyle/>
                    <a:p>
                      <a:r>
                        <a:rPr sz="1250" b="0">
                          <a:solidFill>
                            <a:srgbClr val="0B2B52"/>
                          </a:solidFill>
                        </a:rPr>
                        <a:t>1.27</a:t>
                      </a:r>
                    </a:p>
                  </a:txBody>
                  <a:tcPr/>
                </a:tc>
                <a:tc>
                  <a:txBody>
                    <a:bodyPr/>
                    <a:lstStyle/>
                    <a:p>
                      <a:r>
                        <a:rPr sz="1250" b="0">
                          <a:solidFill>
                            <a:srgbClr val="0B2B52"/>
                          </a:solidFill>
                        </a:rPr>
                        <a:t>9 → 17</a:t>
                      </a:r>
                    </a:p>
                  </a:txBody>
                  <a:tcPr/>
                </a:tc>
                <a:tc>
                  <a:txBody>
                    <a:bodyPr/>
                    <a:lstStyle/>
                    <a:p>
                      <a:r>
                        <a:rPr sz="1250" b="0">
                          <a:solidFill>
                            <a:srgbClr val="0B2B52"/>
                          </a:solidFill>
                        </a:rPr>
                        <a:t>0.640 → 0.943</a:t>
                      </a:r>
                    </a:p>
                  </a:txBody>
                  <a:tcPr/>
                </a:tc>
              </a:tr>
            </a:tbl>
          </a:graphicData>
        </a:graphic>
      </p:graphicFrame>
      <p:sp>
        <p:nvSpPr>
          <p:cNvPr id="10" name="Rounded Rectangle 9"/>
          <p:cNvSpPr/>
          <p:nvPr/>
        </p:nvSpPr>
        <p:spPr>
          <a:xfrm>
            <a:off x="54864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1" name="Rounded Rectangle 10"/>
          <p:cNvSpPr/>
          <p:nvPr/>
        </p:nvSpPr>
        <p:spPr>
          <a:xfrm>
            <a:off x="434340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2" name="Rounded Rectangle 11"/>
          <p:cNvSpPr/>
          <p:nvPr/>
        </p:nvSpPr>
        <p:spPr>
          <a:xfrm>
            <a:off x="8138160" y="370332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106 s</a:t>
            </a:r>
          </a:p>
          <a:p>
            <a:pPr algn="ctr"/>
            <a:r>
              <a:rPr sz="1050">
                <a:solidFill>
                  <a:srgbClr val="FFFFFF"/>
                </a:solidFill>
              </a:rPr>
              <a:t>cost of a full-settings fold on this laptop</a:t>
            </a:r>
          </a:p>
        </p:txBody>
      </p:sp>
      <p:sp>
        <p:nvSpPr>
          <p:cNvPr id="13" name="Rounded Rectangle 12"/>
          <p:cNvSpPr/>
          <p:nvPr/>
        </p:nvSpPr>
        <p:spPr>
          <a:xfrm>
            <a:off x="548640" y="53492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results are properties of the regime, not of the method.</a:t>
            </a:r>
          </a:p>
        </p:txBody>
      </p:sp>
      <p:sp>
        <p:nvSpPr>
          <p:cNvPr id="14" name="TextBox 13"/>
          <p:cNvSpPr txBox="1"/>
          <p:nvPr/>
        </p:nvSpPr>
        <p:spPr>
          <a:xfrm>
            <a:off x="548640" y="6163056"/>
            <a:ext cx="11155680" cy="539496"/>
          </a:xfrm>
          <a:prstGeom prst="rect">
            <a:avLst/>
          </a:prstGeom>
          <a:noFill/>
        </p:spPr>
        <p:txBody>
          <a:bodyPr wrap="square">
            <a:spAutoFit/>
          </a:bodyPr>
          <a:lstStyle/>
          <a:p>
            <a:pPr>
              <a:spcAft>
                <a:spcPts val="600"/>
              </a:spcAft>
            </a:pPr>
            <a:r>
              <a:rPr sz="1100" b="0">
                <a:solidFill>
                  <a:srgbClr val="8A5200"/>
                </a:solidFill>
              </a:rPr>
              <a:t>Caveat: one model, 22 receptors, a single draw.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31</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32</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Next: GPU-scale replicate folding, then few-step sampler distillation.</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