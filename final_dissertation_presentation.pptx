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2" r:id="rId23"/>
    <p:sldId id="269" r:id="rId20"/>
    <p:sldId id="273" r:id="rId24"/>
    <p:sldId id="270" r:id="rId21"/>
    <p:sldId id="274" r:id="rId25"/>
    <p:sldId id="271" r:id="rId2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526280"/>
            <a:ext cx="3840480" cy="54864"/>
          </a:xfrm>
          <a:prstGeom prst="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</a:rPr>
              <a:t>EFFICIENCY-OPTIMIZED GENERATIVE PARADIGMS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</a:rPr>
              <a:t>FOR LARGE-SCALE BIOMOLECULAR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FE0F0"/>
                </a:solidFill>
              </a:rPr>
              <a:t>BITS ZG628T Dissertation — Final Report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Akik Jana  (2024AB05287)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CFE0F0"/>
                </a:solidFill>
              </a:rPr>
              <a:t>Supervisor: Dr. Arnab Bandyopadhyay · Dr. Reddy's Laboratories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CFE0F0"/>
                </a:solidFill>
              </a:rPr>
              <a:t>M.Tech. (AI &amp; ML) · BITS Pilani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246888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03A2E"/>
                </a:solidFill>
              </a:rPr>
              <a:t>The Problem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Boltz-2 (AlphaFold-3 class) is SOTA for structure + binding affinity…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…but costs high GPU latency, memory, and money per prediction.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Full-model inference on a laptop is minutes-scale — unusable for interactive work.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Bench scientists are compute-poor and privacy-sensitive.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18872" cy="246888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86400" cy="2468880"/>
          </a:xfrm>
          <a:prstGeom prst="round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</a:rPr>
              <a:t>The Objective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Practical structure/affinity prediction on local hardware (Apple Silicon).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Track A — distilled, quantized surrogate for fast on-device screening.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Track B — acceleration techniques integrated into Boltz-2 itself.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Privacy by design: data never leaves the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118872" cy="2468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4069080"/>
            <a:ext cx="11155680" cy="82296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Honest scope: the headline speedups in this report are for the distilled surrogate. Track A was then tested end-to-end: the ipTM reference does not rank binders, so the screening objective is not reachable through it (slides 14–18).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Boltz-Fast — Module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11880" cy="3200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6FB8"/>
                </a:solidFill>
              </a:rPr>
              <a:t>1 · Memory &amp; Parallelism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MLA receptor KV-cache (~87.5% smaller)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Low-rank Outer Product Mean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Fold-CP sequence parallelism (ring attn / 2D TMU)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8872" cy="320040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11880" cy="3200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8F9A"/>
                </a:solidFill>
              </a:rPr>
              <a:t>2 · Accelerated Denoising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CFG distillation (single-pass student)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Speculative flow matching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Neural coordinate refiner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118872" cy="320040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611880" cy="3200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7700"/>
                </a:solidFill>
              </a:rPr>
              <a:t>3 · Alignment &amp; Design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SimPO / g-DPO preference tuning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GRPO closed-loop co-design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Real Boltz reward 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118872" cy="320040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709160"/>
            <a:ext cx="11201400" cy="960120"/>
          </a:xfrm>
          <a:prstGeom prst="round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</a:rPr>
              <a:t>Deployment:  distilled surrogate exported to Apple CoreAI / Neural Engine — on-device, offline, private.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Methodology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984248" cy="155448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Cache target
(MLA KV)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2103120"/>
            <a:ext cx="1984248" cy="155448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Low-rank pair
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2103120"/>
            <a:ext cx="1984248" cy="15544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Accelerated
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456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5784" y="2103120"/>
            <a:ext cx="1984248" cy="15544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Coordinate
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1744" y="2606040"/>
            <a:ext cx="356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55555"/>
                </a:solidFill>
              </a:rP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72" y="2103120"/>
            <a:ext cx="1984248" cy="155448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GRPO
co-design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Static receptor is cached once; many binder variants are screened cheaply.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Memory-efficient pair updates keep peak memory independent of MSA depth.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Draft/target speculative sampling + single-pass guidance cut denoising cost.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Closed loop: sequence policy → fold/score → GRPO update on the real Boltz reward.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3E6"/>
                </a:solidFill>
              </a:rPr>
              <a:t>TRACK 1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Memory &amp;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MLA KV-cache: compress static receptor key/values to a latent space (~87.5% cache reduction).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Low-rank OPM:  U = Σᵣ X·Y·W,  r ≪ D_pair;  memory-efficient backward; peak memory independent of MSA depth.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Fold-CP: ring attention + 2D ring TMU, numerically exact vs dense (verified to ~1e-7 / 0.0).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11155680" cy="77724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Low-rank OPM is NOT weight-compatible with stock Boltz-2 → requires retraining.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155680" cy="77724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Fold-CP is currently a single-device simulation — the speedup only materializes on real multi-GPU.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DC3E6"/>
                </a:solidFill>
              </a:rPr>
              <a:t>TRACK 2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</a:rPr>
              <a:t>Accelerated Denoising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CFG distillation: single-pass student replaces double-pass guidance; wired into the live diffusion sampler (student_model hook).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555555"/>
                </a:solidFill>
              </a:rPr>
              <a:t>–  Supervised distillation trainer + checkpoint loading; validated on a synthetic teacher.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Speculative flow matching: cheap draft proposes K steps; heavy target verifies in parallel; accept if ‖v_target−v_draft‖ &lt; ε.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Neural coordinate refiner: atom-level residual correction, zero-initialised to a safe identity; integrated with an SE(3)-invariant trainer.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34840"/>
            <a:ext cx="11155680" cy="86868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Status: integrated and trainable; trained on synthetic/component data. Distillation against the full Boltz-2 teacher is 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Edge Deployment — CoreAI / Neural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Surrogate exported via Apple CoreAI: FP8 weight-only quant → CoreAI IR → .aimodel.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Verified: quantization, export, IR conversion, and runtime inference all succeed.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555555"/>
                </a:solidFill>
              </a:rPr>
              <a:t>–  AOT .aimodelc compile needs the Metal coreai-build binary; the .aimodel runs directly via the runtime.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Receptor KV-caching → screen many variants at ~O(L_binder·L_target)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4069080" cy="1828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PRIVACY BY DESIGN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</a:rPr>
              <a:t>On-device · offline · sequences never leave the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474720"/>
            <a:ext cx="1920240" cy="155448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4–37 ms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surrogate latency
(Apple Silicon)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3474720"/>
            <a:ext cx="1920240" cy="15544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cloud / API
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11155680" cy="73152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Latencies above are the distilled surrogate on the ANE — not the full Boltz-2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Benchmarks (Honest Framing)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697480" cy="173736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100–1500×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activation-memory
saving (low-rank OPM)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97480" cy="173736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~7×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fewer target evals
(speculative, ε=0.03)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2697480" cy="1737360"/>
          </a:xfrm>
          <a:prstGeom prst="round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4–37 ms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surrogate latency
on Apple Silicon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560320" cy="17373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</a:rPr>
              <a:t>99 / 100%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</a:rPr>
              <a:t>component tests
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Low-rank memory savings are large and real, and scale with sequence length — but only for a model trained around the layer (see slide 12).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Speculative sampler reduces heavy target evaluations at low tolerance in component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11155680" cy="109728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5200"/>
                </a:solidFill>
              </a:rPr>
              <a:t>⚠  Caveats:  (1) low-rank Relative MSE is 84–93% at these ranks — the layer must be TRAINED to recover full-rank behaviour, and cannot be projected onto pretrained weights.  (2) Latencies are the surrogate, not full Boltz-2.  (3) Settings are far below Boltz defaults: 10 sampling steps vs 200, MSA depth 32 vs 8192.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Verification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99-test suite under pytest in CI, with a ruff lint gate.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100% local pass rate; deterministic regression test per component.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Equivalence tests where applicable (Fold-CP, OPM S-contraction match dense to ~1e-7 / 0.0).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–  Scope: component- and synthetic-level; full-model biological validation is covered by the PDB benchmark (slides 14–18).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611880" cy="33832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Two defects found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•  CI ran `unittest discover`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against a pytest suite 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it collected ZERO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and always reported green.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•  Audit found unfailable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assertions and RMSD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thresholds satisfied by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B2B52"/>
                </a:solidFill>
              </a:rPr>
              <a:t>   random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118872" cy="3383280"/>
          </a:xfrm>
          <a:prstGeom prst="roundRect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Honest Status — Wired vs 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57600" cy="3931920"/>
          </a:xfrm>
          <a:prstGeom prst="round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</a:rPr>
              <a:t>✔  Live &amp; lossless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MPS compatibility (every run)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Fold-CP (numerically exact)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OPM memory-efficient backward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8872" cy="393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3931920"/>
          </a:xfrm>
          <a:prstGeom prst="round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7700"/>
                </a:solidFill>
              </a:rPr>
              <a:t>◐  Integrated, not yet trained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CFG distillation student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Neural coordinate refiner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Affinity surrogate head (since distilled — negative, slide 14)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(trainers + checkpoints built)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118872" cy="3931920"/>
          </a:xfrm>
          <a:prstGeom prst="round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611880" cy="3931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64592" tIns="146304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55555"/>
                </a:solidFill>
              </a:rPr>
              <a:t>○  Separate model, by design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Distilled surrogate + CoreAI path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Is NOT full Boltz-2 accelerated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It is a smaller, faster model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5555"/>
                </a:solidFill>
              </a:rPr>
              <a:t>•  Surrogate screens → full model confirms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118872" cy="393192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5486400"/>
            <a:ext cx="11201400" cy="777240"/>
          </a:xfrm>
          <a:prstGeom prst="roundRect">
            <a:avLst/>
          </a:prstGeom>
          <a:solidFill>
            <a:srgbClr val="FDF3E0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5200"/>
                </a:solidFill>
              </a:rPr>
              <a:t>⚠  Key correction:  “fast surrogate” ≠ “fast Boltz-2.”  The speedups are a different, smaller model — not the full model made fast.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Key Insight — Where the Cost Really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54480"/>
            <a:ext cx="9601200" cy="1371600"/>
          </a:xfrm>
          <a:prstGeom prst="round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Boltz-2 latency is compute-bound (200-step diffusion + triangle attention) — not weight-bound.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Quantization shrinks weights → helps “fit”, barely helps speed on Apple hardware.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Only collapsing the iteration count (few-step sampling) closes the minutes→seconds gap while keeping the real model.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B2B52"/>
                </a:solidFill>
              </a:rPr>
              <a:t>•  Sampler distillation remains the route to minutes → seconds. Measurement has since put replicate-averaged folding on GPU ahead of it in priority (slide 18).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Low-Rank OPM on Pretrained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155680" cy="960120"/>
          </a:xfrm>
          <a:prstGeom prst="round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The ~97% activation saving is not reachable on released checkpoints. The reason is capacity, not optimisation or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Three experiments, each stricter — held-out error at rank 32: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CP projection of weights (random inputs) ....................  0.77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Fit on one target's activations (one protein) ...............  0.43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Corpus distillation, 33 folds (at capacity) .................  0.378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Train and held-out coincide (0.375 / 0.378) — the signature of a model at capacity, so more folding data cannot lower the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5780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Scaling law 1.32·rank^−0.356 puts 10% error at rank ≈1414, against c_hidden² = 1024 — the low-rank form costs MORE activation memory than stock before it is accurate enough to substitute.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Does ipTM Rank Binders?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2697480" cy="1463040"/>
          </a:xfrm>
          <a:prstGeom prst="round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22 / 132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receptors / complexes
PTM-clean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98448"/>
            <a:ext cx="2697480" cy="1463040"/>
          </a:xfrm>
          <a:prstGeom prst="roundRect">
            <a:avLst/>
          </a:prstGeom>
          <a:solidFill>
            <a:srgbClr val="0E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0.5015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cognate
mean ipTM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98448"/>
            <a:ext cx="2697480" cy="1463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0.4888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SCRAMBLED
mean ipTM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298448"/>
            <a:ext cx="2514600" cy="1463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FFFFFF"/>
                </a:solidFill>
              </a:rPr>
              <a:t>0.4317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decoy
mean ipTM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A scramble keeps composition and length exactly and destroys only order — and order is what makes a binder a binder.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Scrambles outscore genuine binders of other receptors:  AUC 0.632, p = 0.0096  (110 complexes)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Cognate − own scramble:  +0.0128, 95% CI [−0.019, +0.044] — a bound, not a zero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Not a length artefact: the advantage survives length adjustment (intercept +0.075, p = 0.0001)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9496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ipTM responds largely to peptide COMPOSITION. Any sequence-order effect is at most 63% of the composition effect. A ridge regression on composition independently beat the distilled surrogate (+0.103 vs −0.034).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A Single Fold Does Not Reproduce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155680" cy="960120"/>
          </a:xfrm>
          <a:prstGeom prst="round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Boltz's --seed defaults to None. Every benchmark fold was a single unseeded draw from a distribution whose width had never been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24 complexes × 4 identical re-runs (96 folds), same settings: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Pooled within-complex ipTM SD  0.0628   (median range 0.127)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Cognate − decoy  +0.0698 = 1.11 × SD    comparable to noise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Per-receptor rank flips for 4 of 4 receptors — 6YOO spans #1 to #4 on identical input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Aggregate survives: mean rank 2.03, 95% range [1.77, 2.27], always below chance …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2B52"/>
                </a:solidFill>
              </a:rPr>
              <a:t>•  … but p &lt; 0.05 in only 49% of simulated re-runs (median p = 0.054)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Stabilising per-receptor ranks needs ~9–16 replicate folds per complex (1,200–2,100 folds) — GPU-scale. Ranking binders on a single AlphaFold/Boltz run is common practice, and does not reproduce.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Future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0759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DONE — profiled; and measured what the optimisations actually deliver on pretrained weights (slides 11–18).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04288"/>
            <a:ext cx="566928" cy="566928"/>
          </a:xfrm>
          <a:prstGeom prst="ellipse">
            <a:avLst/>
          </a:prstGeom>
          <a:solidFill>
            <a:srgbClr val="0E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860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Few-step diffusion-sampler distillation (consistency/progressive) — keep the full trunk; target minutes → seconds locally.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6440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DONE, NEGATIVE — the surrogate was distilled and evaluated: ipTM does not rank binders, so no surrogate distilled from it can either.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61104"/>
            <a:ext cx="566928" cy="566928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42816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Use open Boltz-2 weights only — Boltz-2.1 is closed / API-only.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239512"/>
            <a:ext cx="566928" cy="566928"/>
          </a:xfrm>
          <a:prstGeom prst="ellipse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21224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B2B52"/>
                </a:solidFill>
              </a:rPr>
              <a:t>Production GPU scaling — now a PREREQUISITE, not a throughput nicety: replicate-averaged folds (9–16 per complex) are needed before any per-receptor claim holds.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155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Implemented and integrated memory, sampling and parallelism optimisations into the Boltz pipeline; device-agnostic on Apple Silicon.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Moved from component microbenchmarks to end-to-end measurement against pretrained checkpoints and experimentally determined structures.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Two questions closed with negative answers, both with mechanisms: the low-rank OPM is unreachable on released weights, and ipTM tracks peptide composition rather than binding.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A third finding generalises beyond this project: a single unseeded fold does not reproduce its own ranking.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Next: GPU-scale replicate folding, then few-step sampler distillation.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155680" cy="1051560"/>
          </a:xfrm>
          <a:prstGeom prst="roundRect">
            <a:avLst/>
          </a:prstGeom>
          <a:solidFill>
            <a:srgbClr val="0B2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Results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51760" cy="1417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99 / 100%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tests passing
under pytest in 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651760" cy="1417320"/>
          </a:xfrm>
          <a:prstGeom prst="round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87.5%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MLA KV-cache
reduction (measured)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2651760" cy="1417320"/>
          </a:xfrm>
          <a:prstGeom prst="round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1502×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activation saving
(trained low-rank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234440"/>
            <a:ext cx="2651760" cy="1417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8.6×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interface pLDDT vs ipTM
effect-to-noise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651760" cy="1417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0.378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OPM held-out error
at rank 32 (at capacity)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834640"/>
            <a:ext cx="2651760" cy="1417320"/>
          </a:xfrm>
          <a:prstGeom prst="roundRect">
            <a:avLst/>
          </a:prstGeom>
          <a:solidFill>
            <a:srgbClr val="0E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22 / 132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receptors / complexes
PTM-clean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34640"/>
            <a:ext cx="2651760" cy="1417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0.0628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ipTM run-to-run SD
(24 × 4 replicates)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834640"/>
            <a:ext cx="2651760" cy="1417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1.73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cognate rank on DeCAF
(chance 2.50, p = 0.004)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Top row — engineering delivered.  Bottom row — measurement outcomes, which are what redirected the project: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the low-rank OPM is unreachable on pretrained weights, and ipTM does not rank binders reproducibly on the stock models — but interface pLDDT does (slides 19–20), and a few-step-distilled model does far better (slides 22–23).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1155680" cy="77724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Settings throughout are far below Boltz defaults — 10 sampling steps vs 200, 1 recycling vs 3, MSA depth 32 vs 8192. Slide 22 probes this directly: it attenuates the signal but does not wholly explain the negatives.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Low-Rank OPM — Rank vs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13</a:t>
            </a:r>
          </a:p>
        </p:txBody>
      </p:sp>
      <p:pic>
        <p:nvPicPr>
          <p:cNvPr id="7" name="Picture 6" descr="fig_opm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07008"/>
            <a:ext cx="8778240" cy="4744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532120"/>
            <a:ext cx="11155680" cy="77724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Fitted on held-out points from the 33-fold corpus. Reaching 10% error needs rank ≈1,414 (layer_0) and ≈9,750 (layer_1) — both beyond the width stock actually materialises.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ipTM by Class — the Scramble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15</a:t>
            </a:r>
          </a:p>
        </p:txBody>
      </p:sp>
      <p:pic>
        <p:nvPicPr>
          <p:cNvPr id="7" name="Picture 6" descr="fig_iptm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07008"/>
            <a:ext cx="8778240" cy="4744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532120"/>
            <a:ext cx="11155680" cy="77724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Scrambles sit level with cognates and above decoys. Composition is shared with the scramble; order is not — so the separation from decoys is compositional.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Rank Stability Across Identical Re-Runs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17</a:t>
            </a:r>
          </a:p>
        </p:txBody>
      </p:sp>
      <p:pic>
        <p:nvPicPr>
          <p:cNvPr id="7" name="Picture 6" descr="fig_ran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07008"/>
            <a:ext cx="8778240" cy="4744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532120"/>
            <a:ext cx="11155680" cy="77724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Four receptors, four identical re-runs each. Every one changes rank; 6YOO moves from best to worst. Per-receptor rankings are not a property of the receptor.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Would the Headline Survive a Re-Run?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18</a:t>
            </a:r>
          </a:p>
        </p:txBody>
      </p:sp>
      <p:pic>
        <p:nvPicPr>
          <p:cNvPr id="7" name="Picture 6" descr="fig_pvalue_re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07008"/>
            <a:ext cx="8778240" cy="47449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532120"/>
            <a:ext cx="11155680" cy="77724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Parametric bootstrap over the measured noise, 4,000 replications. The effect direction is robust; the significance verdict is a coin flip.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What ipTM Discards Is Recoverable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155680" cy="868680"/>
          </a:xfrm>
          <a:prstGeom prst="round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The negative was about ipTM, not about the structures. 132 folds were still on disk — re-scoring them cost no compute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2B52"/>
                </a:solidFill>
              </a:rPr>
              <a:t>Six interface measures, same complexes, same tests. Only one beats a cognate's OWN scramble — the test that fixes composition and destroys only order: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0B2B52"/>
                </a:solidFill>
              </a:rPr>
              <a:t>•  ipTM  p = 0.42        •  pDockQ  p = 0.80        •  contacts / density / buried SASA  p = 0.05–0.45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0B2B52"/>
                </a:solidFill>
              </a:rPr>
              <a:t>•  INTERFACE pLDDT  p &lt; 0.0001    rank 1.91 of 4 (chance 2.50)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0B2B5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0B2B52"/>
                </a:solidFill>
              </a:rPr>
              <a:t>It also survives the reproducibility test that demoted ipTM: effect +3.30 against run-to-run SD 1.92 = 1.72× noise, where ipTM managed 0.20× — an 8.6× better ratio. Reproduces at p &lt; 0.05 in 100% of re-runs.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pDockQ multiplies interface pLDDT by a contact term — contacts run the WRONG way here (scrambles make more: 38.5 vs 32.9), cancelling the signal. NOTE: slide 22 shows this result is MODEL-DEPENDENT — it does not hold on Boltz-1 — and that receptor specificity IS established on a few-step-trained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ipTM vs Interface pLDDT — the Scramble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20</a:t>
            </a:r>
          </a:p>
        </p:txBody>
      </p:sp>
      <p:pic>
        <p:nvPicPr>
          <p:cNvPr id="7" name="Picture 6" descr="fig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07008"/>
            <a:ext cx="8778240" cy="46263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532120"/>
            <a:ext cx="11155680" cy="77724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Same structures, two readouts. ipTM cannot separate a cognate from its own scramble; interface pLDDT can. The information is in the prediction — ipTM discards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Where That Signal Actually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155680" cy="777240"/>
          </a:xfrm>
          <a:prstGeom prst="round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Interface pLDDT responds to sequence order. Does it respond to BINDING, or just to the peptide being better folded?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Splitting the metric by chain — no new folding: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peptide side  +5.25   but whole-chain peptide pLDDT  +4.87   →  mostly FOLDABILITY, not interface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RECEPTOR side  +2.38  (p = 6e-5)  →  the receptor's own residues are placed better when given the right peptide.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   A disordered peptide cannot do that. This term survives the objection.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Is the response tied to the binding site?  88 folds, alanine scan: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interface→Ala 36.77  vs  surface→Ala 38.62   diff −1.84, p = 0.244 — right direction, not significant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2B52"/>
                </a:solidFill>
              </a:rPr>
              <a:t>•  80% power would need 123 receptors; every arm drops 7–12 pLDDT, so both may sit near a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This QUALIFIES slide 19. Half the pooled signal is peptide foldability, which slide 19 did not separate. What stands: the receptor responds to which peptide it is given. Not established: that the response is localised to the binding site.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Measured — Few-Step Distillation Changes the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11155680" cy="777240"/>
          </a:xfrm>
          <a:prstGeom prst="round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Everything so far was folded at 10 steps on models built for 200. What happens on a model TRAINED for 10?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>Same 132 pairs. Boltz-1 added as a de-confounding arm — DeCAF changes the base model AND the sampling regime, and only Boltz-1 shares its base.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>cognate − own scramble        Boltz-2            Boltz-1            DeCAF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>  ipTM                        +0.013 (p=0.42)    +0.039 (p=.0043)   +0.201 (p=2e-5)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>  interface pLDDT             +3.30  (p&lt;1e-5)    +1.54  (p=0.067)   +9.54  (p&lt;1e-5)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>rank vs decoys (chance 2.50)  2.00 / 1.91        1.86 / 1.91        1.77 / 1.73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B2B52"/>
                </a:solidFill>
              </a:rPr>
              <a:t>DeCAF vs Boltz-1 — same base, device, step count — gives 5–6× larger effects. On DeCAF, interface pLDDT and receptor side CLEAR Bonferroni: receptor specificity is established for the first time in this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86400"/>
            <a:ext cx="11155680" cy="86868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⚠  Two claims weaken. Stock models are NOT signal-free — Boltz-1 separates on ipTM (p=0.0043). And slide 19's interface-pLDDT result is MODEL-DEPENDENT: strong on Boltz-2 and DeCAF, not significant on Boltz-1 (p=0.067). 'Settings explain the negatives' is too simple.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B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</a:rPr>
              <a:t>Three Arms — What Few-Step Training Buys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Boltz-Fast · Final Dissertation Report · Akik Jana (2024AB05287)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</a:rPr>
              <a:t>23</a:t>
            </a:r>
          </a:p>
        </p:txBody>
      </p:sp>
      <p:pic>
        <p:nvPicPr>
          <p:cNvPr id="7" name="Picture 6" descr="fig_few_step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07008"/>
            <a:ext cx="8778240" cy="46263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532120"/>
            <a:ext cx="11155680" cy="777240"/>
          </a:xfrm>
          <a:prstGeom prst="round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8A5200"/>
                </a:solidFill>
              </a:rPr>
              <a:t>Effects normalised by the run-to-run noise of Section 7.5 so metrics on different scales compare. DeCAF vs Boltz-1 isolates few-step training; the Boltz-2 arm ran on CPU, the others on MPS.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