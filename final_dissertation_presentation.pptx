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72" r:id="rId23"/>
    <p:sldId id="269" r:id="rId20"/>
    <p:sldId id="273" r:id="rId24"/>
    <p:sldId id="270" r:id="rId21"/>
    <p:sldId id="274" r:id="rId25"/>
    <p:sldId id="271" r:id="rId22"/>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31.xml"/><Relationship Id="rId19" Type="http://schemas.openxmlformats.org/officeDocument/2006/relationships/slide" Target="slides/slide32.xml"/><Relationship Id="rId20" Type="http://schemas.openxmlformats.org/officeDocument/2006/relationships/slide" Target="slides/slide13.xml"/><Relationship Id="rId21" Type="http://schemas.openxmlformats.org/officeDocument/2006/relationships/slide" Target="slides/slide15.xml"/><Relationship Id="rId22" Type="http://schemas.openxmlformats.org/officeDocument/2006/relationships/slide" Target="slides/slide17.xml"/><Relationship Id="rId23" Type="http://schemas.openxmlformats.org/officeDocument/2006/relationships/slide" Target="slides/slide12.xml"/><Relationship Id="rId24" Type="http://schemas.openxmlformats.org/officeDocument/2006/relationships/slide" Target="slides/slide14.xml"/><Relationship Id="rId25" Type="http://schemas.openxmlformats.org/officeDocument/2006/relationships/slide" Target="slides/slide16.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20040" cy="685800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4526280"/>
            <a:ext cx="3840480" cy="54864"/>
          </a:xfrm>
          <a:prstGeom prst="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28800"/>
            <a:ext cx="10332720" cy="2377440"/>
          </a:xfrm>
          <a:prstGeom prst="rect">
            <a:avLst/>
          </a:prstGeom>
          <a:noFill/>
        </p:spPr>
        <p:txBody>
          <a:bodyPr wrap="square">
            <a:spAutoFit/>
          </a:bodyPr>
          <a:lstStyle/>
          <a:p>
            <a:pPr>
              <a:spcBef>
                <a:spcPts val="0"/>
              </a:spcBef>
              <a:spcAft>
                <a:spcPts val="200"/>
              </a:spcAft>
            </a:pPr>
            <a:r>
              <a:rPr sz="3400" b="1" i="0">
                <a:solidFill>
                  <a:srgbClr val="FFFFFF"/>
                </a:solidFill>
              </a:rPr>
              <a:t>EFFICIENCY-OPTIMIZED GENERATIVE PARADIGMS</a:t>
            </a:r>
          </a:p>
          <a:p>
            <a:pPr>
              <a:spcBef>
                <a:spcPts val="0"/>
              </a:spcBef>
              <a:spcAft>
                <a:spcPts val="400"/>
              </a:spcAft>
            </a:pPr>
            <a:r>
              <a:rPr sz="3400" b="1" i="0">
                <a:solidFill>
                  <a:srgbClr val="FFFFFF"/>
                </a:solidFill>
              </a:rPr>
              <a:t>FOR LARGE-SCALE BIOMOLECULAR DESIGN</a:t>
            </a:r>
          </a:p>
        </p:txBody>
      </p:sp>
      <p:sp>
        <p:nvSpPr>
          <p:cNvPr id="6" name="TextBox 5"/>
          <p:cNvSpPr txBox="1"/>
          <p:nvPr/>
        </p:nvSpPr>
        <p:spPr>
          <a:xfrm>
            <a:off x="822960" y="4754880"/>
            <a:ext cx="10332720" cy="1645920"/>
          </a:xfrm>
          <a:prstGeom prst="rect">
            <a:avLst/>
          </a:prstGeom>
          <a:noFill/>
        </p:spPr>
        <p:txBody>
          <a:bodyPr wrap="square">
            <a:spAutoFit/>
          </a:bodyPr>
          <a:lstStyle/>
          <a:p>
            <a:pPr>
              <a:spcBef>
                <a:spcPts val="0"/>
              </a:spcBef>
              <a:spcAft>
                <a:spcPts val="600"/>
              </a:spcAft>
            </a:pPr>
            <a:r>
              <a:rPr sz="1600" b="0">
                <a:solidFill>
                  <a:srgbClr val="CFE0F0"/>
                </a:solidFill>
              </a:rPr>
              <a:t>BITS ZG628T Dissertation — Final Report</a:t>
            </a:r>
          </a:p>
          <a:p>
            <a:pPr>
              <a:spcAft>
                <a:spcPts val="600"/>
              </a:spcAft>
            </a:pPr>
            <a:r>
              <a:rPr sz="1500" b="1">
                <a:solidFill>
                  <a:srgbClr val="FFFFFF"/>
                </a:solidFill>
              </a:rPr>
              <a:t>Akik Jana  (2024AB05287)</a:t>
            </a:r>
          </a:p>
          <a:p>
            <a:pPr>
              <a:spcAft>
                <a:spcPts val="600"/>
              </a:spcAft>
            </a:pPr>
            <a:r>
              <a:rPr sz="1250" b="0">
                <a:solidFill>
                  <a:srgbClr val="CFE0F0"/>
                </a:solidFill>
              </a:rPr>
              <a:t>Supervisor: Dr. Arnab Bandyopadhyay · Dr. Reddy's Laboratories</a:t>
            </a:r>
          </a:p>
          <a:p>
            <a:pPr>
              <a:spcAft>
                <a:spcPts val="600"/>
              </a:spcAft>
            </a:pPr>
            <a:r>
              <a:rPr sz="1250" b="0">
                <a:solidFill>
                  <a:srgbClr val="CFE0F0"/>
                </a:solidFill>
              </a:rPr>
              <a:t>M.Tech. (AI &amp; ML) · BITS Pilani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Problem &amp; Objective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2</a:t>
            </a:r>
          </a:p>
        </p:txBody>
      </p:sp>
      <p:sp>
        <p:nvSpPr>
          <p:cNvPr id="7" name="Rounded Rectangle 6"/>
          <p:cNvSpPr/>
          <p:nvPr/>
        </p:nvSpPr>
        <p:spPr>
          <a:xfrm>
            <a:off x="502920" y="1325880"/>
            <a:ext cx="5486400" cy="2468880"/>
          </a:xfrm>
          <a:prstGeom prst="round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B03A2E"/>
                </a:solidFill>
              </a:rPr>
              <a:t>The Problem</a:t>
            </a:r>
          </a:p>
          <a:p>
            <a:pPr>
              <a:spcBef>
                <a:spcPts val="0"/>
              </a:spcBef>
              <a:spcAft>
                <a:spcPts val="400"/>
              </a:spcAft>
            </a:pPr>
            <a:r>
              <a:rPr sz="1250" b="0" i="0">
                <a:solidFill>
                  <a:srgbClr val="555555"/>
                </a:solidFill>
              </a:rPr>
              <a:t>•  Boltz-2 (AlphaFold-3 class) is SOTA for structure + binding affinity…</a:t>
            </a:r>
          </a:p>
          <a:p>
            <a:pPr>
              <a:spcBef>
                <a:spcPts val="0"/>
              </a:spcBef>
              <a:spcAft>
                <a:spcPts val="400"/>
              </a:spcAft>
            </a:pPr>
            <a:r>
              <a:rPr sz="1250" b="0" i="0">
                <a:solidFill>
                  <a:srgbClr val="555555"/>
                </a:solidFill>
              </a:rPr>
              <a:t>•  …but costs high GPU latency, memory, and money per prediction.</a:t>
            </a:r>
          </a:p>
          <a:p>
            <a:pPr>
              <a:spcBef>
                <a:spcPts val="0"/>
              </a:spcBef>
              <a:spcAft>
                <a:spcPts val="400"/>
              </a:spcAft>
            </a:pPr>
            <a:r>
              <a:rPr sz="1250" b="0" i="0">
                <a:solidFill>
                  <a:srgbClr val="555555"/>
                </a:solidFill>
              </a:rPr>
              <a:t>•  Full-model inference on a laptop is minutes-scale — unusable for interactive work.</a:t>
            </a:r>
          </a:p>
          <a:p>
            <a:pPr>
              <a:spcBef>
                <a:spcPts val="0"/>
              </a:spcBef>
              <a:spcAft>
                <a:spcPts val="400"/>
              </a:spcAft>
            </a:pPr>
            <a:r>
              <a:rPr sz="1250" b="0" i="0">
                <a:solidFill>
                  <a:srgbClr val="555555"/>
                </a:solidFill>
              </a:rPr>
              <a:t>•  Bench scientists are compute-poor and privacy-sensitive.</a:t>
            </a:r>
          </a:p>
        </p:txBody>
      </p:sp>
      <p:sp>
        <p:nvSpPr>
          <p:cNvPr id="8" name="Rounded Rectangle 7"/>
          <p:cNvSpPr/>
          <p:nvPr/>
        </p:nvSpPr>
        <p:spPr>
          <a:xfrm>
            <a:off x="502920" y="1325880"/>
            <a:ext cx="118872" cy="2468880"/>
          </a:xfrm>
          <a:prstGeom prst="round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1325880"/>
            <a:ext cx="5486400" cy="246888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The Objective</a:t>
            </a:r>
          </a:p>
          <a:p>
            <a:pPr>
              <a:spcBef>
                <a:spcPts val="0"/>
              </a:spcBef>
              <a:spcAft>
                <a:spcPts val="400"/>
              </a:spcAft>
            </a:pPr>
            <a:r>
              <a:rPr sz="1250" b="0" i="0">
                <a:solidFill>
                  <a:srgbClr val="555555"/>
                </a:solidFill>
              </a:rPr>
              <a:t>•  Practical structure/affinity prediction on local hardware (Apple Silicon).</a:t>
            </a:r>
          </a:p>
          <a:p>
            <a:pPr>
              <a:spcBef>
                <a:spcPts val="0"/>
              </a:spcBef>
              <a:spcAft>
                <a:spcPts val="400"/>
              </a:spcAft>
            </a:pPr>
            <a:r>
              <a:rPr sz="1250" b="0" i="0">
                <a:solidFill>
                  <a:srgbClr val="555555"/>
                </a:solidFill>
              </a:rPr>
              <a:t>•  Track A — distilled, quantized surrogate for fast on-device screening.</a:t>
            </a:r>
          </a:p>
          <a:p>
            <a:pPr>
              <a:spcBef>
                <a:spcPts val="0"/>
              </a:spcBef>
              <a:spcAft>
                <a:spcPts val="400"/>
              </a:spcAft>
            </a:pPr>
            <a:r>
              <a:rPr sz="1250" b="0" i="0">
                <a:solidFill>
                  <a:srgbClr val="555555"/>
                </a:solidFill>
              </a:rPr>
              <a:t>•  Track B — acceleration techniques integrated into Boltz-2 itself.</a:t>
            </a:r>
          </a:p>
          <a:p>
            <a:pPr>
              <a:spcBef>
                <a:spcPts val="0"/>
              </a:spcBef>
              <a:spcAft>
                <a:spcPts val="400"/>
              </a:spcAft>
            </a:pPr>
            <a:r>
              <a:rPr sz="1250" b="0" i="0">
                <a:solidFill>
                  <a:srgbClr val="555555"/>
                </a:solidFill>
              </a:rPr>
              <a:t>•  Privacy by design: data never leaves the device.</a:t>
            </a:r>
          </a:p>
        </p:txBody>
      </p:sp>
      <p:sp>
        <p:nvSpPr>
          <p:cNvPr id="10" name="Rounded Rectangle 9"/>
          <p:cNvSpPr/>
          <p:nvPr/>
        </p:nvSpPr>
        <p:spPr>
          <a:xfrm>
            <a:off x="6172200" y="1325880"/>
            <a:ext cx="118872" cy="246888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02920" y="4069080"/>
            <a:ext cx="11155680" cy="82296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Honest scope: the headline speedups in this report are for the distilled surrogate. Track A was then tested end-to-end: the ipTM reference does not rank binders, so the screening objective is not reachable through it (slides 14–18).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Boltz-Fast — Module Overview</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a:t>
            </a:r>
          </a:p>
        </p:txBody>
      </p:sp>
      <p:sp>
        <p:nvSpPr>
          <p:cNvPr id="7" name="Rounded Rectangle 6"/>
          <p:cNvSpPr/>
          <p:nvPr/>
        </p:nvSpPr>
        <p:spPr>
          <a:xfrm>
            <a:off x="50292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1E6FB8"/>
                </a:solidFill>
              </a:rPr>
              <a:t>1 · Memory &amp; Parallelism</a:t>
            </a:r>
          </a:p>
          <a:p>
            <a:pPr>
              <a:spcBef>
                <a:spcPts val="0"/>
              </a:spcBef>
              <a:spcAft>
                <a:spcPts val="400"/>
              </a:spcAft>
            </a:pPr>
            <a:r>
              <a:rPr sz="1250" b="0" i="0">
                <a:solidFill>
                  <a:srgbClr val="555555"/>
                </a:solidFill>
              </a:rPr>
              <a:t>•  MLA receptor KV-cache (~87.5% smaller)</a:t>
            </a:r>
          </a:p>
          <a:p>
            <a:pPr>
              <a:spcBef>
                <a:spcPts val="0"/>
              </a:spcBef>
              <a:spcAft>
                <a:spcPts val="400"/>
              </a:spcAft>
            </a:pPr>
            <a:r>
              <a:rPr sz="1250" b="0" i="0">
                <a:solidFill>
                  <a:srgbClr val="555555"/>
                </a:solidFill>
              </a:rPr>
              <a:t>•  Low-rank Outer Product Mean</a:t>
            </a:r>
          </a:p>
          <a:p>
            <a:pPr>
              <a:spcBef>
                <a:spcPts val="0"/>
              </a:spcBef>
              <a:spcAft>
                <a:spcPts val="400"/>
              </a:spcAft>
            </a:pPr>
            <a:r>
              <a:rPr sz="1250" b="0" i="0">
                <a:solidFill>
                  <a:srgbClr val="555555"/>
                </a:solidFill>
              </a:rPr>
              <a:t>•  Fold-CP sequence parallelism (ring attn / 2D TMU)</a:t>
            </a:r>
          </a:p>
        </p:txBody>
      </p:sp>
      <p:sp>
        <p:nvSpPr>
          <p:cNvPr id="8" name="Rounded Rectangle 7"/>
          <p:cNvSpPr/>
          <p:nvPr/>
        </p:nvSpPr>
        <p:spPr>
          <a:xfrm>
            <a:off x="502920" y="1280160"/>
            <a:ext cx="118872" cy="320040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0E8F9A"/>
                </a:solidFill>
              </a:rPr>
              <a:t>2 · Accelerated Denoising</a:t>
            </a:r>
          </a:p>
          <a:p>
            <a:pPr>
              <a:spcBef>
                <a:spcPts val="0"/>
              </a:spcBef>
              <a:spcAft>
                <a:spcPts val="400"/>
              </a:spcAft>
            </a:pPr>
            <a:r>
              <a:rPr sz="1250" b="0" i="0">
                <a:solidFill>
                  <a:srgbClr val="555555"/>
                </a:solidFill>
              </a:rPr>
              <a:t>•  CFG distillation (single-pass student)</a:t>
            </a:r>
          </a:p>
          <a:p>
            <a:pPr>
              <a:spcBef>
                <a:spcPts val="0"/>
              </a:spcBef>
              <a:spcAft>
                <a:spcPts val="400"/>
              </a:spcAft>
            </a:pPr>
            <a:r>
              <a:rPr sz="1250" b="0" i="0">
                <a:solidFill>
                  <a:srgbClr val="555555"/>
                </a:solidFill>
              </a:rPr>
              <a:t>•  Speculative flow matching</a:t>
            </a:r>
          </a:p>
          <a:p>
            <a:pPr>
              <a:spcBef>
                <a:spcPts val="0"/>
              </a:spcBef>
              <a:spcAft>
                <a:spcPts val="400"/>
              </a:spcAft>
            </a:pPr>
            <a:r>
              <a:rPr sz="1250" b="0" i="0">
                <a:solidFill>
                  <a:srgbClr val="555555"/>
                </a:solidFill>
              </a:rPr>
              <a:t>•  Neural coordinate refiner</a:t>
            </a:r>
          </a:p>
        </p:txBody>
      </p:sp>
      <p:sp>
        <p:nvSpPr>
          <p:cNvPr id="10" name="Rounded Rectangle 9"/>
          <p:cNvSpPr/>
          <p:nvPr/>
        </p:nvSpPr>
        <p:spPr>
          <a:xfrm>
            <a:off x="4297680" y="1280160"/>
            <a:ext cx="118872" cy="320040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280160"/>
            <a:ext cx="3611880" cy="320040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3 · Alignment &amp; Design</a:t>
            </a:r>
          </a:p>
          <a:p>
            <a:pPr>
              <a:spcBef>
                <a:spcPts val="0"/>
              </a:spcBef>
              <a:spcAft>
                <a:spcPts val="400"/>
              </a:spcAft>
            </a:pPr>
            <a:r>
              <a:rPr sz="1250" b="0" i="0">
                <a:solidFill>
                  <a:srgbClr val="555555"/>
                </a:solidFill>
              </a:rPr>
              <a:t>•  SimPO / g-DPO preference tuning</a:t>
            </a:r>
          </a:p>
          <a:p>
            <a:pPr>
              <a:spcBef>
                <a:spcPts val="0"/>
              </a:spcBef>
              <a:spcAft>
                <a:spcPts val="400"/>
              </a:spcAft>
            </a:pPr>
            <a:r>
              <a:rPr sz="1250" b="0" i="0">
                <a:solidFill>
                  <a:srgbClr val="555555"/>
                </a:solidFill>
              </a:rPr>
              <a:t>•  GRPO closed-loop co-design</a:t>
            </a:r>
          </a:p>
          <a:p>
            <a:pPr>
              <a:spcBef>
                <a:spcPts val="0"/>
              </a:spcBef>
              <a:spcAft>
                <a:spcPts val="400"/>
              </a:spcAft>
            </a:pPr>
            <a:r>
              <a:rPr sz="1250" b="0" i="0">
                <a:solidFill>
                  <a:srgbClr val="555555"/>
                </a:solidFill>
              </a:rPr>
              <a:t>•  Real Boltz reward formula</a:t>
            </a:r>
          </a:p>
        </p:txBody>
      </p:sp>
      <p:sp>
        <p:nvSpPr>
          <p:cNvPr id="12" name="Rounded Rectangle 11"/>
          <p:cNvSpPr/>
          <p:nvPr/>
        </p:nvSpPr>
        <p:spPr>
          <a:xfrm>
            <a:off x="8092440" y="1280160"/>
            <a:ext cx="118872" cy="320040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4709160"/>
            <a:ext cx="11201400" cy="96012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wrap="square"/>
          <a:lstStyle/>
          <a:p>
            <a:pPr algn="ctr">
              <a:spcBef>
                <a:spcPts val="0"/>
              </a:spcBef>
              <a:spcAft>
                <a:spcPts val="400"/>
              </a:spcAft>
            </a:pPr>
            <a:r>
              <a:rPr sz="1400" b="1" i="0">
                <a:solidFill>
                  <a:srgbClr val="FFFFFF"/>
                </a:solidFill>
              </a:rPr>
              <a:t>Deployment:  distilled surrogate exported to Apple CoreAI / Neural Engine — on-device, offline, private.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Methodology &amp; Pipeline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4</a:t>
            </a:r>
          </a:p>
        </p:txBody>
      </p:sp>
      <p:sp>
        <p:nvSpPr>
          <p:cNvPr id="7" name="Rounded Rectangle 6"/>
          <p:cNvSpPr/>
          <p:nvPr/>
        </p:nvSpPr>
        <p:spPr>
          <a:xfrm>
            <a:off x="502920"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Cache target
(MLA KV)</a:t>
            </a:r>
          </a:p>
        </p:txBody>
      </p:sp>
      <p:sp>
        <p:nvSpPr>
          <p:cNvPr id="8" name="TextBox 7"/>
          <p:cNvSpPr txBox="1"/>
          <p:nvPr/>
        </p:nvSpPr>
        <p:spPr>
          <a:xfrm>
            <a:off x="2468879"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9" name="Rounded Rectangle 8"/>
          <p:cNvSpPr/>
          <p:nvPr/>
        </p:nvSpPr>
        <p:spPr>
          <a:xfrm>
            <a:off x="2807208" y="2103120"/>
            <a:ext cx="1984248"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Low-rank pair
representation</a:t>
            </a:r>
          </a:p>
        </p:txBody>
      </p:sp>
      <p:sp>
        <p:nvSpPr>
          <p:cNvPr id="10" name="TextBox 9"/>
          <p:cNvSpPr txBox="1"/>
          <p:nvPr/>
        </p:nvSpPr>
        <p:spPr>
          <a:xfrm>
            <a:off x="4773168"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1" name="Rounded Rectangle 10"/>
          <p:cNvSpPr/>
          <p:nvPr/>
        </p:nvSpPr>
        <p:spPr>
          <a:xfrm>
            <a:off x="5111496"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Accelerated
sampling</a:t>
            </a:r>
          </a:p>
        </p:txBody>
      </p:sp>
      <p:sp>
        <p:nvSpPr>
          <p:cNvPr id="12" name="TextBox 11"/>
          <p:cNvSpPr txBox="1"/>
          <p:nvPr/>
        </p:nvSpPr>
        <p:spPr>
          <a:xfrm>
            <a:off x="7077456"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3" name="Rounded Rectangle 12"/>
          <p:cNvSpPr/>
          <p:nvPr/>
        </p:nvSpPr>
        <p:spPr>
          <a:xfrm>
            <a:off x="7415784" y="2103120"/>
            <a:ext cx="1984248"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Coordinate
refinement</a:t>
            </a:r>
          </a:p>
        </p:txBody>
      </p:sp>
      <p:sp>
        <p:nvSpPr>
          <p:cNvPr id="14" name="TextBox 13"/>
          <p:cNvSpPr txBox="1"/>
          <p:nvPr/>
        </p:nvSpPr>
        <p:spPr>
          <a:xfrm>
            <a:off x="9381744" y="2606040"/>
            <a:ext cx="356615" cy="548640"/>
          </a:xfrm>
          <a:prstGeom prst="rect">
            <a:avLst/>
          </a:prstGeom>
          <a:noFill/>
        </p:spPr>
        <p:txBody>
          <a:bodyPr wrap="square">
            <a:spAutoFit/>
          </a:bodyPr>
          <a:lstStyle/>
          <a:p>
            <a:pPr algn="ctr">
              <a:spcBef>
                <a:spcPts val="0"/>
              </a:spcBef>
              <a:spcAft>
                <a:spcPts val="400"/>
              </a:spcAft>
            </a:pPr>
            <a:r>
              <a:rPr sz="2200" b="1" i="0">
                <a:solidFill>
                  <a:srgbClr val="555555"/>
                </a:solidFill>
              </a:rPr>
              <a:t>➔</a:t>
            </a:r>
          </a:p>
        </p:txBody>
      </p:sp>
      <p:sp>
        <p:nvSpPr>
          <p:cNvPr id="15" name="Rounded Rectangle 14"/>
          <p:cNvSpPr/>
          <p:nvPr/>
        </p:nvSpPr>
        <p:spPr>
          <a:xfrm>
            <a:off x="9720072" y="2103120"/>
            <a:ext cx="1984248" cy="155448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GRPO
co-design loop</a:t>
            </a:r>
          </a:p>
        </p:txBody>
      </p:sp>
      <p:sp>
        <p:nvSpPr>
          <p:cNvPr id="16" name="TextBox 15"/>
          <p:cNvSpPr txBox="1"/>
          <p:nvPr/>
        </p:nvSpPr>
        <p:spPr>
          <a:xfrm>
            <a:off x="548640" y="4114800"/>
            <a:ext cx="11155680" cy="2377440"/>
          </a:xfrm>
          <a:prstGeom prst="rect">
            <a:avLst/>
          </a:prstGeom>
          <a:noFill/>
        </p:spPr>
        <p:txBody>
          <a:bodyPr wrap="square">
            <a:spAutoFit/>
          </a:bodyPr>
          <a:lstStyle/>
          <a:p>
            <a:pPr>
              <a:spcBef>
                <a:spcPts val="0"/>
              </a:spcBef>
              <a:spcAft>
                <a:spcPts val="700"/>
              </a:spcAft>
            </a:pPr>
            <a:r>
              <a:rPr sz="1600" b="0" i="0">
                <a:solidFill>
                  <a:srgbClr val="0B2B52"/>
                </a:solidFill>
              </a:rPr>
              <a:t>•  Static receptor is cached once; many binder variants are screened cheaply.</a:t>
            </a:r>
          </a:p>
          <a:p>
            <a:pPr>
              <a:spcBef>
                <a:spcPts val="0"/>
              </a:spcBef>
              <a:spcAft>
                <a:spcPts val="700"/>
              </a:spcAft>
            </a:pPr>
            <a:r>
              <a:rPr sz="1600" b="0" i="0">
                <a:solidFill>
                  <a:srgbClr val="0B2B52"/>
                </a:solidFill>
              </a:rPr>
              <a:t>•  Memory-efficient pair updates keep peak memory independent of MSA depth.</a:t>
            </a:r>
          </a:p>
          <a:p>
            <a:pPr>
              <a:spcBef>
                <a:spcPts val="0"/>
              </a:spcBef>
              <a:spcAft>
                <a:spcPts val="700"/>
              </a:spcAft>
            </a:pPr>
            <a:r>
              <a:rPr sz="1600" b="0" i="0">
                <a:solidFill>
                  <a:srgbClr val="0B2B52"/>
                </a:solidFill>
              </a:rPr>
              <a:t>•  Draft/target speculative sampling + single-pass guidance cut denoising cost.</a:t>
            </a:r>
          </a:p>
          <a:p>
            <a:pPr>
              <a:spcBef>
                <a:spcPts val="0"/>
              </a:spcBef>
              <a:spcAft>
                <a:spcPts val="700"/>
              </a:spcAft>
            </a:pPr>
            <a:r>
              <a:rPr sz="1600" b="0" i="0">
                <a:solidFill>
                  <a:srgbClr val="0B2B52"/>
                </a:solidFill>
              </a:rPr>
              <a:t>•  Closed loop: sequence policy → fold/score → GRPO update on the real Boltz reward.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1</a:t>
            </a:r>
          </a:p>
          <a:p>
            <a:pPr>
              <a:spcBef>
                <a:spcPts val="0"/>
              </a:spcBef>
              <a:spcAft>
                <a:spcPts val="400"/>
              </a:spcAft>
            </a:pPr>
            <a:r>
              <a:rPr sz="2400" b="1" i="0">
                <a:solidFill>
                  <a:srgbClr val="FFFFFF"/>
                </a:solidFill>
              </a:rPr>
              <a:t>Memory &amp; Parallelism</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5</a:t>
            </a:r>
          </a:p>
        </p:txBody>
      </p:sp>
      <p:sp>
        <p:nvSpPr>
          <p:cNvPr id="7" name="TextBox 6"/>
          <p:cNvSpPr txBox="1"/>
          <p:nvPr/>
        </p:nvSpPr>
        <p:spPr>
          <a:xfrm>
            <a:off x="548640" y="1280160"/>
            <a:ext cx="11155680" cy="2468880"/>
          </a:xfrm>
          <a:prstGeom prst="rect">
            <a:avLst/>
          </a:prstGeom>
          <a:noFill/>
        </p:spPr>
        <p:txBody>
          <a:bodyPr wrap="square">
            <a:spAutoFit/>
          </a:bodyPr>
          <a:lstStyle/>
          <a:p>
            <a:pPr>
              <a:spcBef>
                <a:spcPts val="0"/>
              </a:spcBef>
              <a:spcAft>
                <a:spcPts val="700"/>
              </a:spcAft>
            </a:pPr>
            <a:r>
              <a:rPr sz="1600" b="0" i="0">
                <a:solidFill>
                  <a:srgbClr val="0B2B52"/>
                </a:solidFill>
              </a:rPr>
              <a:t>•  MLA KV-cache: compress static receptor key/values to a latent space (~87.5% cache reduction).</a:t>
            </a:r>
          </a:p>
          <a:p>
            <a:pPr>
              <a:spcBef>
                <a:spcPts val="0"/>
              </a:spcBef>
              <a:spcAft>
                <a:spcPts val="700"/>
              </a:spcAft>
            </a:pPr>
            <a:r>
              <a:rPr sz="1600" b="0" i="0">
                <a:solidFill>
                  <a:srgbClr val="0B2B52"/>
                </a:solidFill>
              </a:rPr>
              <a:t>•  Low-rank OPM:  U = Σᵣ X·Y·W,  r ≪ D_pair;  memory-efficient backward; peak memory independent of MSA depth.</a:t>
            </a:r>
          </a:p>
          <a:p>
            <a:pPr>
              <a:spcBef>
                <a:spcPts val="0"/>
              </a:spcBef>
              <a:spcAft>
                <a:spcPts val="700"/>
              </a:spcAft>
            </a:pPr>
            <a:r>
              <a:rPr sz="1600" b="0" i="0">
                <a:solidFill>
                  <a:srgbClr val="0B2B52"/>
                </a:solidFill>
              </a:rPr>
              <a:t>•  Fold-CP: ring attention + 2D ring TMU, numerically exact vs dense (verified to ~1e-7 / 0.0).</a:t>
            </a:r>
          </a:p>
        </p:txBody>
      </p:sp>
      <p:sp>
        <p:nvSpPr>
          <p:cNvPr id="8" name="Rounded Rectangle 7"/>
          <p:cNvSpPr/>
          <p:nvPr/>
        </p:nvSpPr>
        <p:spPr>
          <a:xfrm>
            <a:off x="548640" y="3977639"/>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Low-rank OPM is NOT weight-compatible with stock Boltz-2 → requires retraining.</a:t>
            </a:r>
          </a:p>
        </p:txBody>
      </p:sp>
      <p:sp>
        <p:nvSpPr>
          <p:cNvPr id="9" name="Rounded Rectangle 8"/>
          <p:cNvSpPr/>
          <p:nvPr/>
        </p:nvSpPr>
        <p:spPr>
          <a:xfrm>
            <a:off x="548640" y="4892040"/>
            <a:ext cx="1115568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Fold-CP is currently a single-device simulation — the speedup only materializes on real multi-GPU.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200"/>
              </a:spcAft>
            </a:pPr>
            <a:r>
              <a:rPr sz="1100" b="1" i="0">
                <a:solidFill>
                  <a:srgbClr val="9DC3E6"/>
                </a:solidFill>
              </a:rPr>
              <a:t>TRACK 2</a:t>
            </a:r>
          </a:p>
          <a:p>
            <a:pPr>
              <a:spcBef>
                <a:spcPts val="0"/>
              </a:spcBef>
              <a:spcAft>
                <a:spcPts val="400"/>
              </a:spcAft>
            </a:pPr>
            <a:r>
              <a:rPr sz="2400" b="1" i="0">
                <a:solidFill>
                  <a:srgbClr val="FFFFFF"/>
                </a:solidFill>
              </a:rPr>
              <a:t>Accelerated Denoising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6</a:t>
            </a:r>
          </a:p>
        </p:txBody>
      </p:sp>
      <p:sp>
        <p:nvSpPr>
          <p:cNvPr id="7" name="TextBox 6"/>
          <p:cNvSpPr txBox="1"/>
          <p:nvPr/>
        </p:nvSpPr>
        <p:spPr>
          <a:xfrm>
            <a:off x="548640" y="1280160"/>
            <a:ext cx="11155680" cy="2743200"/>
          </a:xfrm>
          <a:prstGeom prst="rect">
            <a:avLst/>
          </a:prstGeom>
          <a:noFill/>
        </p:spPr>
        <p:txBody>
          <a:bodyPr wrap="square">
            <a:spAutoFit/>
          </a:bodyPr>
          <a:lstStyle/>
          <a:p>
            <a:pPr>
              <a:spcBef>
                <a:spcPts val="0"/>
              </a:spcBef>
              <a:spcAft>
                <a:spcPts val="700"/>
              </a:spcAft>
            </a:pPr>
            <a:r>
              <a:rPr sz="1600" b="0" i="0">
                <a:solidFill>
                  <a:srgbClr val="0B2B52"/>
                </a:solidFill>
              </a:rPr>
              <a:t>•  CFG distillation: single-pass student replaces double-pass guidance; wired into the live diffusion sampler (student_model hook).</a:t>
            </a:r>
          </a:p>
          <a:p>
            <a:pPr lvl="1">
              <a:spcBef>
                <a:spcPts val="0"/>
              </a:spcBef>
              <a:spcAft>
                <a:spcPts val="700"/>
              </a:spcAft>
            </a:pPr>
            <a:r>
              <a:rPr sz="1350" b="0" i="0">
                <a:solidFill>
                  <a:srgbClr val="555555"/>
                </a:solidFill>
              </a:rPr>
              <a:t>–  Supervised distillation trainer + checkpoint loading; validated on a synthetic teacher.</a:t>
            </a:r>
          </a:p>
          <a:p>
            <a:pPr>
              <a:spcBef>
                <a:spcPts val="0"/>
              </a:spcBef>
              <a:spcAft>
                <a:spcPts val="700"/>
              </a:spcAft>
            </a:pPr>
            <a:r>
              <a:rPr sz="1600" b="0" i="0">
                <a:solidFill>
                  <a:srgbClr val="0B2B52"/>
                </a:solidFill>
              </a:rPr>
              <a:t>•  Speculative flow matching: cheap draft proposes K steps; heavy target verifies in parallel; accept if ‖v_target−v_draft‖ &lt; ε.</a:t>
            </a:r>
          </a:p>
          <a:p>
            <a:pPr>
              <a:spcBef>
                <a:spcPts val="0"/>
              </a:spcBef>
              <a:spcAft>
                <a:spcPts val="700"/>
              </a:spcAft>
            </a:pPr>
            <a:r>
              <a:rPr sz="1600" b="0" i="0">
                <a:solidFill>
                  <a:srgbClr val="0B2B52"/>
                </a:solidFill>
              </a:rPr>
              <a:t>•  Neural coordinate refiner: atom-level residual correction, zero-initialised to a safe identity; integrated with an SE(3)-invariant trainer.</a:t>
            </a:r>
          </a:p>
        </p:txBody>
      </p:sp>
      <p:sp>
        <p:nvSpPr>
          <p:cNvPr id="8" name="Rounded Rectangle 7"/>
          <p:cNvSpPr/>
          <p:nvPr/>
        </p:nvSpPr>
        <p:spPr>
          <a:xfrm>
            <a:off x="548640" y="4434840"/>
            <a:ext cx="11155680" cy="86868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Status: integrated and trainable; trained on synthetic/component data. Distillation against the full Boltz-2 teacher is future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Edge Deployment — CoreAI / Neural Engine</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7</a:t>
            </a:r>
          </a:p>
        </p:txBody>
      </p:sp>
      <p:sp>
        <p:nvSpPr>
          <p:cNvPr id="7" name="TextBox 6"/>
          <p:cNvSpPr txBox="1"/>
          <p:nvPr/>
        </p:nvSpPr>
        <p:spPr>
          <a:xfrm>
            <a:off x="548640" y="1280160"/>
            <a:ext cx="6766560" cy="4023360"/>
          </a:xfrm>
          <a:prstGeom prst="rect">
            <a:avLst/>
          </a:prstGeom>
          <a:noFill/>
        </p:spPr>
        <p:txBody>
          <a:bodyPr wrap="square">
            <a:spAutoFit/>
          </a:bodyPr>
          <a:lstStyle/>
          <a:p>
            <a:pPr>
              <a:spcBef>
                <a:spcPts val="0"/>
              </a:spcBef>
              <a:spcAft>
                <a:spcPts val="700"/>
              </a:spcAft>
            </a:pPr>
            <a:r>
              <a:rPr sz="1600" b="0" i="0">
                <a:solidFill>
                  <a:srgbClr val="0B2B52"/>
                </a:solidFill>
              </a:rPr>
              <a:t>•  Surrogate exported via Apple CoreAI: FP8 weight-only quant → CoreAI IR → .aimodel.</a:t>
            </a:r>
          </a:p>
          <a:p>
            <a:pPr>
              <a:spcBef>
                <a:spcPts val="0"/>
              </a:spcBef>
              <a:spcAft>
                <a:spcPts val="700"/>
              </a:spcAft>
            </a:pPr>
            <a:r>
              <a:rPr sz="1600" b="0" i="0">
                <a:solidFill>
                  <a:srgbClr val="0B2B52"/>
                </a:solidFill>
              </a:rPr>
              <a:t>•  Verified: quantization, export, IR conversion, and runtime inference all succeed.</a:t>
            </a:r>
          </a:p>
          <a:p>
            <a:pPr lvl="1">
              <a:spcBef>
                <a:spcPts val="0"/>
              </a:spcBef>
              <a:spcAft>
                <a:spcPts val="700"/>
              </a:spcAft>
            </a:pPr>
            <a:r>
              <a:rPr sz="1350" b="0" i="0">
                <a:solidFill>
                  <a:srgbClr val="555555"/>
                </a:solidFill>
              </a:rPr>
              <a:t>–  AOT .aimodelc compile needs the Metal coreai-build binary; the .aimodel runs directly via the runtime.</a:t>
            </a:r>
          </a:p>
          <a:p>
            <a:pPr>
              <a:spcBef>
                <a:spcPts val="0"/>
              </a:spcBef>
              <a:spcAft>
                <a:spcPts val="700"/>
              </a:spcAft>
            </a:pPr>
            <a:r>
              <a:rPr sz="1600" b="0" i="0">
                <a:solidFill>
                  <a:srgbClr val="0B2B52"/>
                </a:solidFill>
              </a:rPr>
              <a:t>•  Receptor KV-caching → screen many variants at ~O(L_binder·L_target) each.</a:t>
            </a:r>
          </a:p>
        </p:txBody>
      </p:sp>
      <p:sp>
        <p:nvSpPr>
          <p:cNvPr id="8" name="Rounded Rectangle 7"/>
          <p:cNvSpPr/>
          <p:nvPr/>
        </p:nvSpPr>
        <p:spPr>
          <a:xfrm>
            <a:off x="7589520" y="1417320"/>
            <a:ext cx="4069080" cy="182880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300" b="1" i="0">
                <a:solidFill>
                  <a:srgbClr val="FFFFFF"/>
                </a:solidFill>
              </a:rPr>
              <a:t>PRIVACY BY DESIGN</a:t>
            </a:r>
          </a:p>
          <a:p>
            <a:pPr algn="ctr">
              <a:spcBef>
                <a:spcPts val="0"/>
              </a:spcBef>
              <a:spcAft>
                <a:spcPts val="400"/>
              </a:spcAft>
            </a:pPr>
            <a:r>
              <a:rPr sz="1200" b="0" i="0">
                <a:solidFill>
                  <a:srgbClr val="FFFFFF"/>
                </a:solidFill>
              </a:rPr>
              <a:t>On-device · offline · sequences never leave the machine</a:t>
            </a:r>
          </a:p>
        </p:txBody>
      </p:sp>
      <p:sp>
        <p:nvSpPr>
          <p:cNvPr id="9" name="Rounded Rectangle 8"/>
          <p:cNvSpPr/>
          <p:nvPr/>
        </p:nvSpPr>
        <p:spPr>
          <a:xfrm>
            <a:off x="7589520" y="3474720"/>
            <a:ext cx="1920240" cy="155448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(Apple Silicon)</a:t>
            </a:r>
          </a:p>
        </p:txBody>
      </p:sp>
      <p:sp>
        <p:nvSpPr>
          <p:cNvPr id="10" name="Rounded Rectangle 9"/>
          <p:cNvSpPr/>
          <p:nvPr/>
        </p:nvSpPr>
        <p:spPr>
          <a:xfrm>
            <a:off x="9738360" y="3474720"/>
            <a:ext cx="1920240" cy="15544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0</a:t>
            </a:r>
          </a:p>
          <a:p>
            <a:pPr algn="ctr">
              <a:spcBef>
                <a:spcPts val="0"/>
              </a:spcBef>
              <a:spcAft>
                <a:spcPts val="400"/>
              </a:spcAft>
            </a:pPr>
            <a:r>
              <a:rPr sz="1050" b="0" i="0">
                <a:solidFill>
                  <a:srgbClr val="FFFFFF"/>
                </a:solidFill>
              </a:rPr>
              <a:t>cloud / API
calls</a:t>
            </a:r>
          </a:p>
        </p:txBody>
      </p:sp>
      <p:sp>
        <p:nvSpPr>
          <p:cNvPr id="11" name="Rounded Rectangle 10"/>
          <p:cNvSpPr/>
          <p:nvPr/>
        </p:nvSpPr>
        <p:spPr>
          <a:xfrm>
            <a:off x="548640" y="5486400"/>
            <a:ext cx="11155680" cy="73152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Latencies above are the distilled surrogate on the ANE — not the full Boltz-2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Benchmarks (Honest Framing)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8</a:t>
            </a:r>
          </a:p>
        </p:txBody>
      </p:sp>
      <p:sp>
        <p:nvSpPr>
          <p:cNvPr id="7" name="Rounded Rectangle 6"/>
          <p:cNvSpPr/>
          <p:nvPr/>
        </p:nvSpPr>
        <p:spPr>
          <a:xfrm>
            <a:off x="50292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100–1500×</a:t>
            </a:r>
          </a:p>
          <a:p>
            <a:pPr algn="ctr">
              <a:spcBef>
                <a:spcPts val="0"/>
              </a:spcBef>
              <a:spcAft>
                <a:spcPts val="400"/>
              </a:spcAft>
            </a:pPr>
            <a:r>
              <a:rPr sz="1050" b="0" i="0">
                <a:solidFill>
                  <a:srgbClr val="FFFFFF"/>
                </a:solidFill>
              </a:rPr>
              <a:t>activation-memory
saving (low-rank OPM)</a:t>
            </a:r>
          </a:p>
        </p:txBody>
      </p:sp>
      <p:sp>
        <p:nvSpPr>
          <p:cNvPr id="8" name="Rounded Rectangle 7"/>
          <p:cNvSpPr/>
          <p:nvPr/>
        </p:nvSpPr>
        <p:spPr>
          <a:xfrm>
            <a:off x="3383280" y="1371600"/>
            <a:ext cx="2697480" cy="173736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~7×</a:t>
            </a:r>
          </a:p>
          <a:p>
            <a:pPr algn="ctr">
              <a:spcBef>
                <a:spcPts val="0"/>
              </a:spcBef>
              <a:spcAft>
                <a:spcPts val="400"/>
              </a:spcAft>
            </a:pPr>
            <a:r>
              <a:rPr sz="1050" b="0" i="0">
                <a:solidFill>
                  <a:srgbClr val="FFFFFF"/>
                </a:solidFill>
              </a:rPr>
              <a:t>fewer target evals
(speculative, ε=0.03)</a:t>
            </a:r>
          </a:p>
        </p:txBody>
      </p:sp>
      <p:sp>
        <p:nvSpPr>
          <p:cNvPr id="9" name="Rounded Rectangle 8"/>
          <p:cNvSpPr/>
          <p:nvPr/>
        </p:nvSpPr>
        <p:spPr>
          <a:xfrm>
            <a:off x="6263640" y="1371600"/>
            <a:ext cx="2697480" cy="1737360"/>
          </a:xfrm>
          <a:prstGeom prst="round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4–37 ms</a:t>
            </a:r>
          </a:p>
          <a:p>
            <a:pPr algn="ctr">
              <a:spcBef>
                <a:spcPts val="0"/>
              </a:spcBef>
              <a:spcAft>
                <a:spcPts val="400"/>
              </a:spcAft>
            </a:pPr>
            <a:r>
              <a:rPr sz="1050" b="0" i="0">
                <a:solidFill>
                  <a:srgbClr val="FFFFFF"/>
                </a:solidFill>
              </a:rPr>
              <a:t>surrogate latency
on Apple Silicon</a:t>
            </a:r>
          </a:p>
        </p:txBody>
      </p:sp>
      <p:sp>
        <p:nvSpPr>
          <p:cNvPr id="10" name="Rounded Rectangle 9"/>
          <p:cNvSpPr/>
          <p:nvPr/>
        </p:nvSpPr>
        <p:spPr>
          <a:xfrm>
            <a:off x="9144000" y="1371600"/>
            <a:ext cx="2560320" cy="173736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200"/>
              </a:spcAft>
            </a:pPr>
            <a:r>
              <a:rPr sz="2600" b="1" i="0">
                <a:solidFill>
                  <a:srgbClr val="FFFFFF"/>
                </a:solidFill>
              </a:rPr>
              <a:t>99 / 100%</a:t>
            </a:r>
          </a:p>
          <a:p>
            <a:pPr algn="ctr">
              <a:spcBef>
                <a:spcPts val="0"/>
              </a:spcBef>
              <a:spcAft>
                <a:spcPts val="400"/>
              </a:spcAft>
            </a:pPr>
            <a:r>
              <a:rPr sz="1050" b="0" i="0">
                <a:solidFill>
                  <a:srgbClr val="FFFFFF"/>
                </a:solidFill>
              </a:rPr>
              <a:t>component tests
passing</a:t>
            </a:r>
          </a:p>
        </p:txBody>
      </p:sp>
      <p:sp>
        <p:nvSpPr>
          <p:cNvPr id="11" name="TextBox 10"/>
          <p:cNvSpPr txBox="1"/>
          <p:nvPr/>
        </p:nvSpPr>
        <p:spPr>
          <a:xfrm>
            <a:off x="548640" y="3383280"/>
            <a:ext cx="11155680" cy="1828800"/>
          </a:xfrm>
          <a:prstGeom prst="rect">
            <a:avLst/>
          </a:prstGeom>
          <a:noFill/>
        </p:spPr>
        <p:txBody>
          <a:bodyPr wrap="square">
            <a:spAutoFit/>
          </a:bodyPr>
          <a:lstStyle/>
          <a:p>
            <a:pPr>
              <a:spcBef>
                <a:spcPts val="0"/>
              </a:spcBef>
              <a:spcAft>
                <a:spcPts val="600"/>
              </a:spcAft>
            </a:pPr>
            <a:r>
              <a:rPr sz="1500" b="0">
                <a:solidFill>
                  <a:srgbClr val="0B2B52"/>
                </a:solidFill>
              </a:rPr>
              <a:t>•  Low-rank memory savings are large and real, and scale with sequence length — but only for a model trained around the layer (see slide 12).</a:t>
            </a:r>
          </a:p>
          <a:p>
            <a:pPr>
              <a:spcAft>
                <a:spcPts val="600"/>
              </a:spcAft>
            </a:pPr>
            <a:r>
              <a:rPr sz="1500" b="0">
                <a:solidFill>
                  <a:srgbClr val="0B2B52"/>
                </a:solidFill>
              </a:rPr>
              <a:t>•  Speculative sampler reduces heavy target evaluations at low tolerance in component tests.</a:t>
            </a:r>
          </a:p>
        </p:txBody>
      </p:sp>
      <p:sp>
        <p:nvSpPr>
          <p:cNvPr id="12" name="Rounded Rectangle 11"/>
          <p:cNvSpPr/>
          <p:nvPr/>
        </p:nvSpPr>
        <p:spPr>
          <a:xfrm>
            <a:off x="548640" y="5074920"/>
            <a:ext cx="11155680" cy="109728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600"/>
              </a:spcAft>
            </a:pPr>
            <a:r>
              <a:rPr sz="1200" b="0">
                <a:solidFill>
                  <a:srgbClr val="8A5200"/>
                </a:solidFill>
              </a:rPr>
              <a:t>⚠  Caveats:  (1) low-rank Relative MSE is 84–93% at these ranks — the layer must be TRAINED to recover full-rank behaviour, and cannot be projected onto pretrained weights.  (2) Latencies are the surrogate, not full Boltz-2.  (3) Settings are far below Boltz defaults: 10 sampling steps vs 200, MSA depth 32 vs 8192.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Verification &amp; Testing</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9</a:t>
            </a:r>
          </a:p>
        </p:txBody>
      </p:sp>
      <p:sp>
        <p:nvSpPr>
          <p:cNvPr id="7" name="TextBox 6"/>
          <p:cNvSpPr txBox="1"/>
          <p:nvPr/>
        </p:nvSpPr>
        <p:spPr>
          <a:xfrm>
            <a:off x="548640" y="1280160"/>
            <a:ext cx="7315200" cy="4206240"/>
          </a:xfrm>
          <a:prstGeom prst="rect">
            <a:avLst/>
          </a:prstGeom>
          <a:noFill/>
        </p:spPr>
        <p:txBody>
          <a:bodyPr wrap="square">
            <a:spAutoFit/>
          </a:bodyPr>
          <a:lstStyle/>
          <a:p>
            <a:pPr>
              <a:spcBef>
                <a:spcPts val="0"/>
              </a:spcBef>
              <a:spcAft>
                <a:spcPts val="600"/>
              </a:spcAft>
            </a:pPr>
            <a:r>
              <a:rPr sz="1500" b="0">
                <a:solidFill>
                  <a:srgbClr val="0B2B52"/>
                </a:solidFill>
              </a:rPr>
              <a:t>•  99-test suite under pytest in CI, with a ruff lint gate.</a:t>
            </a:r>
          </a:p>
          <a:p>
            <a:pPr>
              <a:spcAft>
                <a:spcPts val="600"/>
              </a:spcAft>
            </a:pPr>
            <a:r>
              <a:rPr sz="1500" b="0">
                <a:solidFill>
                  <a:srgbClr val="0B2B52"/>
                </a:solidFill>
              </a:rPr>
              <a:t>•  100% local pass rate; deterministic regression test per component.</a:t>
            </a:r>
          </a:p>
          <a:p>
            <a:pPr>
              <a:spcAft>
                <a:spcPts val="600"/>
              </a:spcAft>
            </a:pPr>
            <a:r>
              <a:rPr sz="1500" b="0">
                <a:solidFill>
                  <a:srgbClr val="0B2B52"/>
                </a:solidFill>
              </a:rPr>
              <a:t>•  Equivalence tests where applicable (Fold-CP, OPM S-contraction match dense to ~1e-7 / 0.0).</a:t>
            </a:r>
          </a:p>
          <a:p>
            <a:pPr>
              <a:spcAft>
                <a:spcPts val="600"/>
              </a:spcAft>
            </a:pPr>
            <a:r>
              <a:rPr sz="1500" b="0">
                <a:solidFill>
                  <a:srgbClr val="0B2B52"/>
                </a:solidFill>
              </a:rPr>
              <a:t>–  Scope: component- and synthetic-level; full-model biological validation is covered by the PDB benchmark (slides 14–18).</a:t>
            </a:r>
          </a:p>
        </p:txBody>
      </p:sp>
      <p:sp>
        <p:nvSpPr>
          <p:cNvPr id="8" name="Rounded Rectangle 7"/>
          <p:cNvSpPr/>
          <p:nvPr/>
        </p:nvSpPr>
        <p:spPr>
          <a:xfrm>
            <a:off x="8092440" y="1417320"/>
            <a:ext cx="3611880" cy="338328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200" b="0">
                <a:solidFill>
                  <a:srgbClr val="0B2B52"/>
                </a:solidFill>
              </a:rPr>
              <a:t>Two defects found</a:t>
            </a:r>
          </a:p>
          <a:p>
            <a:pPr>
              <a:spcAft>
                <a:spcPts val="600"/>
              </a:spcAft>
            </a:pPr>
            <a:r>
              <a:rPr sz="1200" b="0">
                <a:solidFill>
                  <a:srgbClr val="0B2B52"/>
                </a:solidFill>
              </a:rPr>
              <a:t>•  CI ran `unittest discover`</a:t>
            </a:r>
          </a:p>
          <a:p>
            <a:pPr>
              <a:spcAft>
                <a:spcPts val="600"/>
              </a:spcAft>
            </a:pPr>
            <a:r>
              <a:rPr sz="1200" b="0">
                <a:solidFill>
                  <a:srgbClr val="0B2B52"/>
                </a:solidFill>
              </a:rPr>
              <a:t>   against a pytest suite —</a:t>
            </a:r>
          </a:p>
          <a:p>
            <a:pPr>
              <a:spcAft>
                <a:spcPts val="600"/>
              </a:spcAft>
            </a:pPr>
            <a:r>
              <a:rPr sz="1200" b="0">
                <a:solidFill>
                  <a:srgbClr val="0B2B52"/>
                </a:solidFill>
              </a:rPr>
              <a:t>   it collected ZERO tests</a:t>
            </a:r>
          </a:p>
          <a:p>
            <a:pPr>
              <a:spcAft>
                <a:spcPts val="600"/>
              </a:spcAft>
            </a:pPr>
            <a:r>
              <a:rPr sz="1200" b="0">
                <a:solidFill>
                  <a:srgbClr val="0B2B52"/>
                </a:solidFill>
              </a:rPr>
              <a:t>   and always reported green.</a:t>
            </a:r>
          </a:p>
          <a:p>
            <a:pPr>
              <a:spcAft>
                <a:spcPts val="600"/>
              </a:spcAft>
            </a:pPr>
            <a:r>
              <a:rPr sz="1200" b="0">
                <a:solidFill>
                  <a:srgbClr val="0B2B52"/>
                </a:solidFill>
              </a:rPr>
              <a:t>•  Audit found unfailable</a:t>
            </a:r>
          </a:p>
          <a:p>
            <a:pPr>
              <a:spcAft>
                <a:spcPts val="600"/>
              </a:spcAft>
            </a:pPr>
            <a:r>
              <a:rPr sz="1200" b="0">
                <a:solidFill>
                  <a:srgbClr val="0B2B52"/>
                </a:solidFill>
              </a:rPr>
              <a:t>   assertions and RMSD</a:t>
            </a:r>
          </a:p>
          <a:p>
            <a:pPr>
              <a:spcAft>
                <a:spcPts val="600"/>
              </a:spcAft>
            </a:pPr>
            <a:r>
              <a:rPr sz="1200" b="0">
                <a:solidFill>
                  <a:srgbClr val="0B2B52"/>
                </a:solidFill>
              </a:rPr>
              <a:t>   thresholds satisfied by</a:t>
            </a:r>
          </a:p>
          <a:p>
            <a:pPr>
              <a:spcAft>
                <a:spcPts val="600"/>
              </a:spcAft>
            </a:pPr>
            <a:r>
              <a:rPr sz="1200" b="0">
                <a:solidFill>
                  <a:srgbClr val="0B2B52"/>
                </a:solidFill>
              </a:rPr>
              <a:t>   random noise.</a:t>
            </a:r>
          </a:p>
        </p:txBody>
      </p:sp>
      <p:sp>
        <p:nvSpPr>
          <p:cNvPr id="9" name="Rounded Rectangle 8"/>
          <p:cNvSpPr/>
          <p:nvPr/>
        </p:nvSpPr>
        <p:spPr>
          <a:xfrm>
            <a:off x="8092440" y="1417320"/>
            <a:ext cx="118872" cy="3383280"/>
          </a:xfrm>
          <a:prstGeom prst="roundRect">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Honest Status — Wired vs Trained</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10</a:t>
            </a:r>
          </a:p>
        </p:txBody>
      </p:sp>
      <p:sp>
        <p:nvSpPr>
          <p:cNvPr id="7" name="Rounded Rectangle 6"/>
          <p:cNvSpPr/>
          <p:nvPr/>
        </p:nvSpPr>
        <p:spPr>
          <a:xfrm>
            <a:off x="502920" y="1371600"/>
            <a:ext cx="3657600" cy="3931920"/>
          </a:xfrm>
          <a:prstGeom prst="round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2E7D32"/>
                </a:solidFill>
              </a:rPr>
              <a:t>✔  Live &amp; lossless</a:t>
            </a:r>
          </a:p>
          <a:p>
            <a:pPr>
              <a:spcBef>
                <a:spcPts val="0"/>
              </a:spcBef>
              <a:spcAft>
                <a:spcPts val="400"/>
              </a:spcAft>
            </a:pPr>
            <a:r>
              <a:rPr sz="1250" b="0" i="0">
                <a:solidFill>
                  <a:srgbClr val="555555"/>
                </a:solidFill>
              </a:rPr>
              <a:t>•  MPS compatibility (every run)</a:t>
            </a:r>
          </a:p>
          <a:p>
            <a:pPr>
              <a:spcBef>
                <a:spcPts val="0"/>
              </a:spcBef>
              <a:spcAft>
                <a:spcPts val="400"/>
              </a:spcAft>
            </a:pPr>
            <a:r>
              <a:rPr sz="1250" b="0" i="0">
                <a:solidFill>
                  <a:srgbClr val="555555"/>
                </a:solidFill>
              </a:rPr>
              <a:t>•  Fold-CP (numerically exact)</a:t>
            </a:r>
          </a:p>
          <a:p>
            <a:pPr>
              <a:spcBef>
                <a:spcPts val="0"/>
              </a:spcBef>
              <a:spcAft>
                <a:spcPts val="400"/>
              </a:spcAft>
            </a:pPr>
            <a:r>
              <a:rPr sz="1250" b="0" i="0">
                <a:solidFill>
                  <a:srgbClr val="555555"/>
                </a:solidFill>
              </a:rPr>
              <a:t>•  OPM memory-efficient backward</a:t>
            </a:r>
          </a:p>
        </p:txBody>
      </p:sp>
      <p:sp>
        <p:nvSpPr>
          <p:cNvPr id="8" name="Rounded Rectangle 7"/>
          <p:cNvSpPr/>
          <p:nvPr/>
        </p:nvSpPr>
        <p:spPr>
          <a:xfrm>
            <a:off x="502920" y="1371600"/>
            <a:ext cx="118872" cy="3931920"/>
          </a:xfrm>
          <a:prstGeom prst="round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371600"/>
            <a:ext cx="3657600" cy="3931920"/>
          </a:xfrm>
          <a:prstGeom prst="roundRect">
            <a:avLst/>
          </a:prstGeom>
          <a:solidFill>
            <a:srgbClr val="FDF3E0"/>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C77700"/>
                </a:solidFill>
              </a:rPr>
              <a:t>◐  Integrated, not yet trained</a:t>
            </a:r>
          </a:p>
          <a:p>
            <a:pPr>
              <a:spcBef>
                <a:spcPts val="0"/>
              </a:spcBef>
              <a:spcAft>
                <a:spcPts val="400"/>
              </a:spcAft>
            </a:pPr>
            <a:r>
              <a:rPr sz="1250" b="0" i="0">
                <a:solidFill>
                  <a:srgbClr val="555555"/>
                </a:solidFill>
              </a:rPr>
              <a:t>•  CFG distillation student</a:t>
            </a:r>
          </a:p>
          <a:p>
            <a:pPr>
              <a:spcBef>
                <a:spcPts val="0"/>
              </a:spcBef>
              <a:spcAft>
                <a:spcPts val="400"/>
              </a:spcAft>
            </a:pPr>
            <a:r>
              <a:rPr sz="1250" b="0" i="0">
                <a:solidFill>
                  <a:srgbClr val="555555"/>
                </a:solidFill>
              </a:rPr>
              <a:t>•  Neural coordinate refiner</a:t>
            </a:r>
          </a:p>
          <a:p>
            <a:pPr>
              <a:spcBef>
                <a:spcPts val="0"/>
              </a:spcBef>
              <a:spcAft>
                <a:spcPts val="400"/>
              </a:spcAft>
            </a:pPr>
            <a:r>
              <a:rPr sz="1250" b="0" i="0">
                <a:solidFill>
                  <a:srgbClr val="555555"/>
                </a:solidFill>
              </a:rPr>
              <a:t>•  Affinity surrogate head (since distilled — negative, slide 14)</a:t>
            </a:r>
          </a:p>
          <a:p>
            <a:pPr>
              <a:spcBef>
                <a:spcPts val="0"/>
              </a:spcBef>
              <a:spcAft>
                <a:spcPts val="400"/>
              </a:spcAft>
            </a:pPr>
            <a:r>
              <a:rPr sz="1250" b="0" i="0">
                <a:solidFill>
                  <a:srgbClr val="555555"/>
                </a:solidFill>
              </a:rPr>
              <a:t>•  (trainers + checkpoints built)</a:t>
            </a:r>
          </a:p>
        </p:txBody>
      </p:sp>
      <p:sp>
        <p:nvSpPr>
          <p:cNvPr id="10" name="Rounded Rectangle 9"/>
          <p:cNvSpPr/>
          <p:nvPr/>
        </p:nvSpPr>
        <p:spPr>
          <a:xfrm>
            <a:off x="4297680" y="1371600"/>
            <a:ext cx="118872" cy="3931920"/>
          </a:xfrm>
          <a:prstGeom prst="round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92440" y="1371600"/>
            <a:ext cx="3611880" cy="3931920"/>
          </a:xfrm>
          <a:prstGeom prst="round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lIns="256032" rIns="164592" tIns="146304" wrap="square"/>
          <a:lstStyle/>
          <a:p>
            <a:pPr algn="ctr">
              <a:spcBef>
                <a:spcPts val="0"/>
              </a:spcBef>
              <a:spcAft>
                <a:spcPts val="600"/>
              </a:spcAft>
            </a:pPr>
            <a:r>
              <a:rPr sz="1600" b="1" i="0">
                <a:solidFill>
                  <a:srgbClr val="555555"/>
                </a:solidFill>
              </a:rPr>
              <a:t>○  Separate model, by design</a:t>
            </a:r>
          </a:p>
          <a:p>
            <a:pPr>
              <a:spcBef>
                <a:spcPts val="0"/>
              </a:spcBef>
              <a:spcAft>
                <a:spcPts val="400"/>
              </a:spcAft>
            </a:pPr>
            <a:r>
              <a:rPr sz="1250" b="0" i="0">
                <a:solidFill>
                  <a:srgbClr val="555555"/>
                </a:solidFill>
              </a:rPr>
              <a:t>•  Distilled surrogate + CoreAI path</a:t>
            </a:r>
          </a:p>
          <a:p>
            <a:pPr>
              <a:spcBef>
                <a:spcPts val="0"/>
              </a:spcBef>
              <a:spcAft>
                <a:spcPts val="400"/>
              </a:spcAft>
            </a:pPr>
            <a:r>
              <a:rPr sz="1250" b="0" i="0">
                <a:solidFill>
                  <a:srgbClr val="555555"/>
                </a:solidFill>
              </a:rPr>
              <a:t>•  Is NOT full Boltz-2 accelerated</a:t>
            </a:r>
          </a:p>
          <a:p>
            <a:pPr>
              <a:spcBef>
                <a:spcPts val="0"/>
              </a:spcBef>
              <a:spcAft>
                <a:spcPts val="400"/>
              </a:spcAft>
            </a:pPr>
            <a:r>
              <a:rPr sz="1250" b="0" i="0">
                <a:solidFill>
                  <a:srgbClr val="555555"/>
                </a:solidFill>
              </a:rPr>
              <a:t>•  It is a smaller, faster model</a:t>
            </a:r>
          </a:p>
          <a:p>
            <a:pPr>
              <a:spcBef>
                <a:spcPts val="0"/>
              </a:spcBef>
              <a:spcAft>
                <a:spcPts val="400"/>
              </a:spcAft>
            </a:pPr>
            <a:r>
              <a:rPr sz="1250" b="0" i="0">
                <a:solidFill>
                  <a:srgbClr val="555555"/>
                </a:solidFill>
              </a:rPr>
              <a:t>•  Surrogate screens → full model confirms</a:t>
            </a:r>
          </a:p>
        </p:txBody>
      </p:sp>
      <p:sp>
        <p:nvSpPr>
          <p:cNvPr id="12" name="Rounded Rectangle 11"/>
          <p:cNvSpPr/>
          <p:nvPr/>
        </p:nvSpPr>
        <p:spPr>
          <a:xfrm>
            <a:off x="8092440" y="1371600"/>
            <a:ext cx="118872" cy="3931920"/>
          </a:xfrm>
          <a:prstGeom prst="round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2920" y="5486400"/>
            <a:ext cx="11201400" cy="777240"/>
          </a:xfrm>
          <a:prstGeom prst="roundRect">
            <a:avLst/>
          </a:prstGeom>
          <a:solidFill>
            <a:srgbClr val="FDF3E0"/>
          </a:solidFill>
          <a:ln w="12700">
            <a:solidFill>
              <a:srgbClr val="C77700"/>
            </a:solid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spcBef>
                <a:spcPts val="0"/>
              </a:spcBef>
              <a:spcAft>
                <a:spcPts val="400"/>
              </a:spcAft>
            </a:pPr>
            <a:r>
              <a:rPr sz="1250" b="0" i="0">
                <a:solidFill>
                  <a:srgbClr val="8A5200"/>
                </a:solidFill>
              </a:rPr>
              <a:t>⚠  Key correction:  “fast surrogate” ≠ “fast Boltz-2.”  The speedups are a different, smaller model — not the full model made fast.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Key Insight — Where the Cost Really Is</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11</a:t>
            </a:r>
          </a:p>
        </p:txBody>
      </p:sp>
      <p:sp>
        <p:nvSpPr>
          <p:cNvPr id="7" name="Rounded Rectangle 6"/>
          <p:cNvSpPr/>
          <p:nvPr/>
        </p:nvSpPr>
        <p:spPr>
          <a:xfrm>
            <a:off x="1280160" y="1554480"/>
            <a:ext cx="9601200" cy="137160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Boltz-2 latency is compute-bound (200-step diffusion + triangle attention) — not weight-bound.</a:t>
            </a:r>
          </a:p>
        </p:txBody>
      </p:sp>
      <p:sp>
        <p:nvSpPr>
          <p:cNvPr id="8" name="TextBox 7"/>
          <p:cNvSpPr txBox="1"/>
          <p:nvPr/>
        </p:nvSpPr>
        <p:spPr>
          <a:xfrm>
            <a:off x="1280160" y="3200400"/>
            <a:ext cx="9601200" cy="2743200"/>
          </a:xfrm>
          <a:prstGeom prst="rect">
            <a:avLst/>
          </a:prstGeom>
          <a:noFill/>
        </p:spPr>
        <p:txBody>
          <a:bodyPr wrap="square">
            <a:spAutoFit/>
          </a:bodyPr>
          <a:lstStyle/>
          <a:p>
            <a:pPr>
              <a:spcBef>
                <a:spcPts val="0"/>
              </a:spcBef>
              <a:spcAft>
                <a:spcPts val="700"/>
              </a:spcAft>
            </a:pPr>
            <a:r>
              <a:rPr sz="1600" b="0" i="0">
                <a:solidFill>
                  <a:srgbClr val="0B2B52"/>
                </a:solidFill>
              </a:rPr>
              <a:t>•  Quantization shrinks weights → helps “fit”, barely helps speed on Apple hardware.</a:t>
            </a:r>
          </a:p>
          <a:p>
            <a:pPr>
              <a:spcBef>
                <a:spcPts val="0"/>
              </a:spcBef>
              <a:spcAft>
                <a:spcPts val="700"/>
              </a:spcAft>
            </a:pPr>
            <a:r>
              <a:rPr sz="1600" b="0" i="0">
                <a:solidFill>
                  <a:srgbClr val="0B2B52"/>
                </a:solidFill>
              </a:rPr>
              <a:t>•  Only collapsing the iteration count (few-step sampling) closes the minutes→seconds gap while keeping the real model.</a:t>
            </a:r>
          </a:p>
          <a:p>
            <a:pPr>
              <a:spcBef>
                <a:spcPts val="0"/>
              </a:spcBef>
              <a:spcAft>
                <a:spcPts val="700"/>
              </a:spcAft>
            </a:pPr>
            <a:r>
              <a:rPr sz="1600" b="0" i="0">
                <a:solidFill>
                  <a:srgbClr val="0B2B52"/>
                </a:solidFill>
              </a:rPr>
              <a:t>•  Sampler distillation remains the route to minutes → seconds. Measurement has since put replicate-averaged folding on GPU ahead of it in priority (slide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Results at a Glance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12</a:t>
            </a:r>
          </a:p>
        </p:txBody>
      </p:sp>
      <p:sp>
        <p:nvSpPr>
          <p:cNvPr id="7" name="Rounded Rectangle 6"/>
          <p:cNvSpPr/>
          <p:nvPr/>
        </p:nvSpPr>
        <p:spPr>
          <a:xfrm>
            <a:off x="54864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99 / 100%</a:t>
            </a:r>
          </a:p>
          <a:p>
            <a:pPr algn="ctr"/>
            <a:r>
              <a:rPr sz="1000">
                <a:solidFill>
                  <a:srgbClr val="FFFFFF"/>
                </a:solidFill>
              </a:rPr>
              <a:t>tests passing
under pytest in CI</a:t>
            </a:r>
          </a:p>
        </p:txBody>
      </p:sp>
      <p:sp>
        <p:nvSpPr>
          <p:cNvPr id="8" name="Rounded Rectangle 7"/>
          <p:cNvSpPr/>
          <p:nvPr/>
        </p:nvSpPr>
        <p:spPr>
          <a:xfrm>
            <a:off x="338328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87.5%</a:t>
            </a:r>
          </a:p>
          <a:p>
            <a:pPr algn="ctr"/>
            <a:r>
              <a:rPr sz="1000">
                <a:solidFill>
                  <a:srgbClr val="FFFFFF"/>
                </a:solidFill>
              </a:rPr>
              <a:t>MLA KV-cache
reduction (measured)</a:t>
            </a:r>
          </a:p>
        </p:txBody>
      </p:sp>
      <p:sp>
        <p:nvSpPr>
          <p:cNvPr id="9" name="Rounded Rectangle 8"/>
          <p:cNvSpPr/>
          <p:nvPr/>
        </p:nvSpPr>
        <p:spPr>
          <a:xfrm>
            <a:off x="6217920" y="1234440"/>
            <a:ext cx="2651760" cy="141732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1502×</a:t>
            </a:r>
          </a:p>
          <a:p>
            <a:pPr algn="ctr"/>
            <a:r>
              <a:rPr sz="1000">
                <a:solidFill>
                  <a:srgbClr val="FFFFFF"/>
                </a:solidFill>
              </a:rPr>
              <a:t>activation saving
(trained low-rank only)</a:t>
            </a:r>
          </a:p>
        </p:txBody>
      </p:sp>
      <p:sp>
        <p:nvSpPr>
          <p:cNvPr id="10" name="Rounded Rectangle 9"/>
          <p:cNvSpPr/>
          <p:nvPr/>
        </p:nvSpPr>
        <p:spPr>
          <a:xfrm>
            <a:off x="9052560" y="12344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8.6×</a:t>
            </a:r>
          </a:p>
          <a:p>
            <a:pPr algn="ctr"/>
            <a:r>
              <a:rPr sz="1000">
                <a:solidFill>
                  <a:srgbClr val="FFFFFF"/>
                </a:solidFill>
              </a:rPr>
              <a:t>interface pLDDT vs ipTM
effect-to-noise</a:t>
            </a:r>
          </a:p>
        </p:txBody>
      </p:sp>
      <p:sp>
        <p:nvSpPr>
          <p:cNvPr id="11" name="Rounded Rectangle 10"/>
          <p:cNvSpPr/>
          <p:nvPr/>
        </p:nvSpPr>
        <p:spPr>
          <a:xfrm>
            <a:off x="54864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reciprocal</a:t>
            </a:r>
          </a:p>
          <a:p>
            <a:pPr algn="ctr"/>
            <a:r>
              <a:rPr sz="1050">
                <a:solidFill>
                  <a:srgbClr val="FFFFFF"/>
                </a:solidFill>
              </a:rPr>
              <a:t>best match (12 of 12)</a:t>
            </a:r>
          </a:p>
        </p:txBody>
      </p:sp>
      <p:sp>
        <p:nvSpPr>
          <p:cNvPr id="12" name="Rounded Rectangle 11"/>
          <p:cNvSpPr/>
          <p:nvPr/>
        </p:nvSpPr>
        <p:spPr>
          <a:xfrm>
            <a:off x="3383280" y="2834640"/>
            <a:ext cx="2651760" cy="141732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44 / 2</a:t>
            </a:r>
          </a:p>
          <a:p>
            <a:pPr algn="ctr"/>
            <a:r>
              <a:rPr sz="1050">
                <a:solidFill>
                  <a:srgbClr val="FFFFFF"/>
                </a:solidFill>
              </a:rPr>
              <a:t>receptors / panels</a:t>
            </a:r>
          </a:p>
          <a:p>
            <a:pPr algn="ctr"/>
            <a:r>
              <a:rPr sz="1050">
                <a:solidFill>
                  <a:srgbClr val="FFFFFF"/>
                </a:solidFill>
              </a:rPr>
              <a:t>in-training + held-out</a:t>
            </a:r>
          </a:p>
        </p:txBody>
      </p:sp>
      <p:sp>
        <p:nvSpPr>
          <p:cNvPr id="13" name="Rounded Rectangle 12"/>
          <p:cNvSpPr/>
          <p:nvPr/>
        </p:nvSpPr>
        <p:spPr>
          <a:xfrm>
            <a:off x="6217920" y="2834640"/>
            <a:ext cx="2651760" cy="14173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0.0628</a:t>
            </a:r>
          </a:p>
          <a:p>
            <a:pPr algn="ctr"/>
            <a:r>
              <a:rPr sz="1000">
                <a:solidFill>
                  <a:srgbClr val="FFFFFF"/>
                </a:solidFill>
              </a:rPr>
              <a:t>ipTM run-to-run SD
(24 × 4 replicates)</a:t>
            </a:r>
          </a:p>
        </p:txBody>
      </p:sp>
      <p:sp>
        <p:nvSpPr>
          <p:cNvPr id="14" name="Rounded Rectangle 13"/>
          <p:cNvSpPr/>
          <p:nvPr/>
        </p:nvSpPr>
        <p:spPr>
          <a:xfrm>
            <a:off x="9052560" y="2834640"/>
            <a:ext cx="2651760" cy="14173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rPr>
              <a:t>1.73</a:t>
            </a:r>
          </a:p>
          <a:p>
            <a:pPr algn="ctr"/>
            <a:r>
              <a:rPr sz="1000">
                <a:solidFill>
                  <a:srgbClr val="FFFFFF"/>
                </a:solidFill>
              </a:rPr>
              <a:t>cognate rank on DeCAF
(chance 2.50, p = 0.004)</a:t>
            </a:r>
          </a:p>
        </p:txBody>
      </p:sp>
      <p:sp>
        <p:nvSpPr>
          <p:cNvPr id="15" name="TextBox 14"/>
          <p:cNvSpPr txBox="1"/>
          <p:nvPr/>
        </p:nvSpPr>
        <p:spPr>
          <a:xfrm>
            <a:off x="548640" y="4480560"/>
            <a:ext cx="11155680" cy="1005840"/>
          </a:xfrm>
          <a:prstGeom prst="rect">
            <a:avLst/>
          </a:prstGeom>
          <a:noFill/>
        </p:spPr>
        <p:txBody>
          <a:bodyPr wrap="square">
            <a:spAutoFit/>
          </a:bodyPr>
          <a:lstStyle/>
          <a:p>
            <a:pPr>
              <a:spcAft>
                <a:spcPts val="600"/>
              </a:spcAft>
            </a:pPr>
            <a:r>
              <a:rPr sz="1150" b="0">
                <a:solidFill>
                  <a:srgbClr val="0B2B52"/>
                </a:solidFill>
              </a:rPr>
              <a:t>Top row — engineering delivered.  Bottom row — measurement outcomes, which are what redirected the project: the low-rank OPM is unreachable on pretrained weights, and no confidence readout survives held-out complexes at more than about half strength (slide 25). What does hold up: a model distilled for the step budget returns physical geometry where a stock model does not (slide 27), and requiring the match in both directions lifts precision from 56% to 88% (slide 29).</a:t>
            </a:r>
          </a:p>
        </p:txBody>
      </p:sp>
      <p:sp>
        <p:nvSpPr>
          <p:cNvPr id="16" name="Rounded Rectangle 15"/>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Settings throughout are far below Boltz defaults — 10 sampling steps vs 200, 1 recycling vs 3, MSA depth 32 vs 8192. Slide 22 probes this directly: it attenuates the signal but does not wholly explain the negatives.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Low-Rank OPM on Pretrained Weights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13</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~97% activation saving is not reachable on released checkpoints. The reason is capacity, not optimisation or data.</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500" b="0">
                <a:solidFill>
                  <a:srgbClr val="0B2B52"/>
                </a:solidFill>
              </a:rPr>
              <a:t>Three experiments, each stricter — held-out error at rank 32:</a:t>
            </a:r>
          </a:p>
          <a:p>
            <a:pPr>
              <a:spcAft>
                <a:spcPts val="600"/>
              </a:spcAft>
            </a:pPr>
            <a:r>
              <a:rPr sz="1500" b="0">
                <a:solidFill>
                  <a:srgbClr val="0B2B52"/>
                </a:solidFill>
              </a:rPr>
              <a:t>•  CP projection of weights (random inputs) ....................  0.77</a:t>
            </a:r>
          </a:p>
          <a:p>
            <a:pPr>
              <a:spcAft>
                <a:spcPts val="600"/>
              </a:spcAft>
            </a:pPr>
            <a:r>
              <a:rPr sz="1500" b="0">
                <a:solidFill>
                  <a:srgbClr val="0B2B52"/>
                </a:solidFill>
              </a:rPr>
              <a:t>•  Fit on one target's activations (one protein) ...............  0.43</a:t>
            </a:r>
          </a:p>
          <a:p>
            <a:pPr>
              <a:spcAft>
                <a:spcPts val="600"/>
              </a:spcAft>
            </a:pPr>
            <a:r>
              <a:rPr sz="1500" b="0">
                <a:solidFill>
                  <a:srgbClr val="0B2B52"/>
                </a:solidFill>
              </a:rPr>
              <a:t>•  Corpus distillation, 33 folds (at capacity) .................  0.378</a:t>
            </a:r>
          </a:p>
          <a:p>
            <a:pPr>
              <a:spcAft>
                <a:spcPts val="600"/>
              </a:spcAft>
            </a:pPr>
            <a:r>
              <a:rPr sz="1500" b="0">
                <a:solidFill>
                  <a:srgbClr val="0B2B52"/>
                </a:solidFill>
              </a:rPr>
              <a:t/>
            </a:r>
          </a:p>
          <a:p>
            <a:pPr>
              <a:spcAft>
                <a:spcPts val="600"/>
              </a:spcAft>
            </a:pPr>
            <a:r>
              <a:rPr sz="1500" b="0">
                <a:solidFill>
                  <a:srgbClr val="0B2B52"/>
                </a:solidFill>
              </a:rPr>
              <a:t>Train and held-out coincide (0.375 / 0.378) — the signature of a model at capacity, so more folding data cannot lower the floor.</a:t>
            </a:r>
          </a:p>
        </p:txBody>
      </p:sp>
      <p:sp>
        <p:nvSpPr>
          <p:cNvPr id="9" name="Rounded Rectangle 8"/>
          <p:cNvSpPr/>
          <p:nvPr/>
        </p:nvSpPr>
        <p:spPr>
          <a:xfrm>
            <a:off x="548640" y="525780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Scaling law 1.32·rank^−0.356 puts 10% error at rank ≈1414, against c_hidden² = 1024 — the low-rank form costs MORE activation memory than stock before it is accurate enough to substitute.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Low-Rank OPM — Rank vs Fidelity</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14</a:t>
            </a:r>
          </a:p>
        </p:txBody>
      </p:sp>
      <p:pic>
        <p:nvPicPr>
          <p:cNvPr id="7" name="Picture 6" descr="fig_opm_rank.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Fitted on held-out points from the 33-fold corpus. Reaching 10% error needs rank ≈1,414 (layer_0) and ≈9,750 (layer_1) — both beyond the width stock actually materialises.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Does ipTM Rank Binders?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15</a:t>
            </a:r>
          </a:p>
        </p:txBody>
      </p:sp>
      <p:sp>
        <p:nvSpPr>
          <p:cNvPr id="7" name="Rounded Rectangle 6"/>
          <p:cNvSpPr/>
          <p:nvPr/>
        </p:nvSpPr>
        <p:spPr>
          <a:xfrm>
            <a:off x="548640" y="1298448"/>
            <a:ext cx="269748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22 / 132</a:t>
            </a:r>
          </a:p>
          <a:p>
            <a:pPr algn="ctr"/>
            <a:r>
              <a:rPr sz="1050">
                <a:solidFill>
                  <a:srgbClr val="FFFFFF"/>
                </a:solidFill>
              </a:rPr>
              <a:t>receptors / complexes
PTM-clean panel</a:t>
            </a:r>
          </a:p>
        </p:txBody>
      </p:sp>
      <p:sp>
        <p:nvSpPr>
          <p:cNvPr id="8" name="Rounded Rectangle 7"/>
          <p:cNvSpPr/>
          <p:nvPr/>
        </p:nvSpPr>
        <p:spPr>
          <a:xfrm>
            <a:off x="3429000" y="1298448"/>
            <a:ext cx="269748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0.5015</a:t>
            </a:r>
          </a:p>
          <a:p>
            <a:pPr algn="ctr"/>
            <a:r>
              <a:rPr sz="1050">
                <a:solidFill>
                  <a:srgbClr val="FFFFFF"/>
                </a:solidFill>
              </a:rPr>
              <a:t>cognate
mean ipTM</a:t>
            </a:r>
          </a:p>
        </p:txBody>
      </p:sp>
      <p:sp>
        <p:nvSpPr>
          <p:cNvPr id="9" name="Rounded Rectangle 8"/>
          <p:cNvSpPr/>
          <p:nvPr/>
        </p:nvSpPr>
        <p:spPr>
          <a:xfrm>
            <a:off x="6309360" y="1298448"/>
            <a:ext cx="26974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0.4888</a:t>
            </a:r>
          </a:p>
          <a:p>
            <a:pPr algn="ctr"/>
            <a:r>
              <a:rPr sz="1050">
                <a:solidFill>
                  <a:srgbClr val="FFFFFF"/>
                </a:solidFill>
              </a:rPr>
              <a:t>SCRAMBLED
mean ipTM</a:t>
            </a:r>
          </a:p>
        </p:txBody>
      </p:sp>
      <p:sp>
        <p:nvSpPr>
          <p:cNvPr id="10" name="Rounded Rectangle 9"/>
          <p:cNvSpPr/>
          <p:nvPr/>
        </p:nvSpPr>
        <p:spPr>
          <a:xfrm>
            <a:off x="9189720" y="1298448"/>
            <a:ext cx="251460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0.4317</a:t>
            </a:r>
          </a:p>
          <a:p>
            <a:pPr algn="ctr"/>
            <a:r>
              <a:rPr sz="1050">
                <a:solidFill>
                  <a:srgbClr val="FFFFFF"/>
                </a:solidFill>
              </a:rPr>
              <a:t>decoy
mean ipTM</a:t>
            </a:r>
          </a:p>
        </p:txBody>
      </p:sp>
      <p:sp>
        <p:nvSpPr>
          <p:cNvPr id="11" name="TextBox 10"/>
          <p:cNvSpPr txBox="1"/>
          <p:nvPr/>
        </p:nvSpPr>
        <p:spPr>
          <a:xfrm>
            <a:off x="548640" y="2971800"/>
            <a:ext cx="11155680" cy="2651760"/>
          </a:xfrm>
          <a:prstGeom prst="rect">
            <a:avLst/>
          </a:prstGeom>
          <a:noFill/>
        </p:spPr>
        <p:txBody>
          <a:bodyPr wrap="square">
            <a:spAutoFit/>
          </a:bodyPr>
          <a:lstStyle/>
          <a:p>
            <a:pPr>
              <a:spcAft>
                <a:spcPts val="600"/>
              </a:spcAft>
            </a:pPr>
            <a:r>
              <a:rPr sz="1500" b="0">
                <a:solidFill>
                  <a:srgbClr val="0B2B52"/>
                </a:solidFill>
              </a:rPr>
              <a:t>A scramble keeps composition and length exactly and destroys only order — and order is what makes a binder a binder.</a:t>
            </a:r>
          </a:p>
          <a:p>
            <a:pPr>
              <a:spcAft>
                <a:spcPts val="600"/>
              </a:spcAft>
            </a:pPr>
            <a:r>
              <a:rPr sz="1500" b="0">
                <a:solidFill>
                  <a:srgbClr val="0B2B52"/>
                </a:solidFill>
              </a:rPr>
              <a:t>•  Scrambles outscore genuine binders of other receptors:  AUC 0.632, p = 0.0096  (110 complexes)</a:t>
            </a:r>
          </a:p>
          <a:p>
            <a:pPr>
              <a:spcAft>
                <a:spcPts val="600"/>
              </a:spcAft>
            </a:pPr>
            <a:r>
              <a:rPr sz="1500" b="0">
                <a:solidFill>
                  <a:srgbClr val="0B2B52"/>
                </a:solidFill>
              </a:rPr>
              <a:t>•  Cognate − own scramble:  +0.0128, 95% CI [−0.019, +0.044] — a bound, not a zero</a:t>
            </a:r>
          </a:p>
          <a:p>
            <a:pPr>
              <a:spcAft>
                <a:spcPts val="600"/>
              </a:spcAft>
            </a:pPr>
            <a:r>
              <a:rPr sz="1500" b="0">
                <a:solidFill>
                  <a:srgbClr val="0B2B52"/>
                </a:solidFill>
              </a:rPr>
              <a:t>•  Not a length artefact: the advantage survives length adjustment (intercept +0.075, p = 0.0001)</a:t>
            </a:r>
          </a:p>
        </p:txBody>
      </p:sp>
      <p:sp>
        <p:nvSpPr>
          <p:cNvPr id="12" name="Rounded Rectangle 11"/>
          <p:cNvSpPr/>
          <p:nvPr/>
        </p:nvSpPr>
        <p:spPr>
          <a:xfrm>
            <a:off x="548640" y="539496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ipTM responds largely to peptide COMPOSITION. Any sequence-order effect is at most 63% of the composition effect. A ridge regression on composition independently beat the distilled surrogate (+0.103 vs −0.034).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by Class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16</a:t>
            </a:r>
          </a:p>
        </p:txBody>
      </p:sp>
      <p:pic>
        <p:nvPicPr>
          <p:cNvPr id="7" name="Picture 6" descr="fig_iptm_classes.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Scrambles sit level with cognates and above decoys. Composition is shared with the scramble; order is not — so the separation from decoys is compositional.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 Single Fold Does Not Reproduce Itself</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17</a:t>
            </a:r>
          </a:p>
        </p:txBody>
      </p:sp>
      <p:sp>
        <p:nvSpPr>
          <p:cNvPr id="7" name="Rounded Rectangle 6"/>
          <p:cNvSpPr/>
          <p:nvPr/>
        </p:nvSpPr>
        <p:spPr>
          <a:xfrm>
            <a:off x="548640" y="1298448"/>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Boltz's --seed defaults to None. Every benchmark fold was a single unseeded draw from a distribution whose width had never been measured.</a:t>
            </a:r>
          </a:p>
        </p:txBody>
      </p:sp>
      <p:sp>
        <p:nvSpPr>
          <p:cNvPr id="8" name="TextBox 7"/>
          <p:cNvSpPr txBox="1"/>
          <p:nvPr/>
        </p:nvSpPr>
        <p:spPr>
          <a:xfrm>
            <a:off x="548640" y="2468880"/>
            <a:ext cx="11155680" cy="2651760"/>
          </a:xfrm>
          <a:prstGeom prst="rect">
            <a:avLst/>
          </a:prstGeom>
          <a:noFill/>
        </p:spPr>
        <p:txBody>
          <a:bodyPr wrap="square">
            <a:spAutoFit/>
          </a:bodyPr>
          <a:lstStyle/>
          <a:p>
            <a:pPr>
              <a:spcAft>
                <a:spcPts val="600"/>
              </a:spcAft>
            </a:pPr>
            <a:r>
              <a:rPr sz="1500" b="0">
                <a:solidFill>
                  <a:srgbClr val="0B2B52"/>
                </a:solidFill>
              </a:rPr>
              <a:t>24 complexes × 4 identical re-runs (96 folds), same settings:</a:t>
            </a:r>
          </a:p>
          <a:p>
            <a:pPr>
              <a:spcAft>
                <a:spcPts val="600"/>
              </a:spcAft>
            </a:pPr>
            <a:r>
              <a:rPr sz="1500" b="0">
                <a:solidFill>
                  <a:srgbClr val="0B2B52"/>
                </a:solidFill>
              </a:rPr>
              <a:t>•  Pooled within-complex ipTM SD  0.0628   (median range 0.127)</a:t>
            </a:r>
          </a:p>
          <a:p>
            <a:pPr>
              <a:spcAft>
                <a:spcPts val="600"/>
              </a:spcAft>
            </a:pPr>
            <a:r>
              <a:rPr sz="1500" b="0">
                <a:solidFill>
                  <a:srgbClr val="0B2B52"/>
                </a:solidFill>
              </a:rPr>
              <a:t>•  Cognate − decoy  +0.0698 = 1.11 × SD    comparable to noise</a:t>
            </a:r>
          </a:p>
          <a:p>
            <a:pPr>
              <a:spcAft>
                <a:spcPts val="600"/>
              </a:spcAft>
            </a:pPr>
            <a:r>
              <a:rPr sz="1500" b="0">
                <a:solidFill>
                  <a:srgbClr val="0B2B52"/>
                </a:solidFill>
              </a:rPr>
              <a:t>•  Per-receptor rank flips for 4 of 4 receptors — 6YOO spans #1 to #4 on identical input</a:t>
            </a:r>
          </a:p>
          <a:p>
            <a:pPr>
              <a:spcAft>
                <a:spcPts val="600"/>
              </a:spcAft>
            </a:pPr>
            <a:r>
              <a:rPr sz="1500" b="0">
                <a:solidFill>
                  <a:srgbClr val="0B2B52"/>
                </a:solidFill>
              </a:rPr>
              <a:t>•  Aggregate survives: mean rank 2.03, 95% range [1.77, 2.27], always below chance …</a:t>
            </a:r>
          </a:p>
          <a:p>
            <a:pPr>
              <a:spcAft>
                <a:spcPts val="600"/>
              </a:spcAft>
            </a:pPr>
            <a:r>
              <a:rPr sz="1500" b="0">
                <a:solidFill>
                  <a:srgbClr val="0B2B52"/>
                </a:solidFill>
              </a:rPr>
              <a:t>•  … but p &lt; 0.05 in only 49% of simulated re-runs (median p = 0.054)</a:t>
            </a:r>
          </a:p>
        </p:txBody>
      </p:sp>
      <p:sp>
        <p:nvSpPr>
          <p:cNvPr id="9" name="Rounded Rectangle 8"/>
          <p:cNvSpPr/>
          <p:nvPr/>
        </p:nvSpPr>
        <p:spPr>
          <a:xfrm>
            <a:off x="548640" y="54406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Stabilising per-receptor ranks needs ~9–16 replicate folds per complex (1,200–2,100 folds) — GPU-scale. Ranking binders on a single AlphaFold/Boltz run is common practice, and does not reproduce.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Rank Stability Across Identical Re-Runs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18</a:t>
            </a:r>
          </a:p>
        </p:txBody>
      </p:sp>
      <p:pic>
        <p:nvPicPr>
          <p:cNvPr id="7" name="Picture 6" descr="fig_rank_stability.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Four receptors, four identical re-runs each. Every one changes rank; 6YOO moves from best to worst. Per-receptor rankings are not a property of the receptor.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Would the Headline Survive a Re-Run?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19</a:t>
            </a:r>
          </a:p>
        </p:txBody>
      </p:sp>
      <p:pic>
        <p:nvPicPr>
          <p:cNvPr id="7" name="Picture 6" descr="fig_pvalue_repro.png"/>
          <p:cNvPicPr>
            <a:picLocks noChangeAspect="1"/>
          </p:cNvPicPr>
          <p:nvPr/>
        </p:nvPicPr>
        <p:blipFill>
          <a:blip r:embed="rId2"/>
          <a:stretch>
            <a:fillRect/>
          </a:stretch>
        </p:blipFill>
        <p:spPr>
          <a:xfrm>
            <a:off x="1691640" y="1207008"/>
            <a:ext cx="8778240" cy="4744995"/>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Parametric bootstrap over the measured noise, 4,000 replications. The effect direction is robust; the significance verdict is a coin flip.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What ipTM Discards Is Recoverable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20</a:t>
            </a:r>
          </a:p>
        </p:txBody>
      </p:sp>
      <p:sp>
        <p:nvSpPr>
          <p:cNvPr id="7" name="Rounded Rectangle 6"/>
          <p:cNvSpPr/>
          <p:nvPr/>
        </p:nvSpPr>
        <p:spPr>
          <a:xfrm>
            <a:off x="548640" y="1234440"/>
            <a:ext cx="11155680" cy="86868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negative was about ipTM, not about the structures. 132 folds were still on disk — re-scoring them cost no compute at all.</a:t>
            </a:r>
          </a:p>
        </p:txBody>
      </p:sp>
      <p:sp>
        <p:nvSpPr>
          <p:cNvPr id="8" name="TextBox 7"/>
          <p:cNvSpPr txBox="1"/>
          <p:nvPr/>
        </p:nvSpPr>
        <p:spPr>
          <a:xfrm>
            <a:off x="548640" y="2240280"/>
            <a:ext cx="11155680" cy="2926080"/>
          </a:xfrm>
          <a:prstGeom prst="rect">
            <a:avLst/>
          </a:prstGeom>
          <a:noFill/>
        </p:spPr>
        <p:txBody>
          <a:bodyPr wrap="square">
            <a:spAutoFit/>
          </a:bodyPr>
          <a:lstStyle/>
          <a:p>
            <a:pPr>
              <a:spcAft>
                <a:spcPts val="600"/>
              </a:spcAft>
            </a:pPr>
            <a:r>
              <a:rPr sz="1450" b="0">
                <a:solidFill>
                  <a:srgbClr val="0B2B52"/>
                </a:solidFill>
              </a:rPr>
              <a:t>Six interface measures, same complexes, same tests. Only one beats a cognate's OWN scramble — the test that fixes composition and destroys only order:</a:t>
            </a:r>
          </a:p>
          <a:p>
            <a:pPr>
              <a:spcAft>
                <a:spcPts val="600"/>
              </a:spcAft>
            </a:pPr>
            <a:r>
              <a:rPr sz="1450" b="0">
                <a:solidFill>
                  <a:srgbClr val="0B2B52"/>
                </a:solidFill>
              </a:rPr>
              <a:t>•  ipTM  p = 0.42        •  pDockQ  p = 0.80        •  contacts / density / buried SASA  p = 0.05–0.45</a:t>
            </a:r>
          </a:p>
          <a:p>
            <a:pPr>
              <a:spcAft>
                <a:spcPts val="600"/>
              </a:spcAft>
            </a:pPr>
            <a:r>
              <a:rPr sz="1450" b="0">
                <a:solidFill>
                  <a:srgbClr val="0B2B52"/>
                </a:solidFill>
              </a:rPr>
              <a:t>•  INTERFACE pLDDT  p &lt; 0.0001    rank 1.91 of 4 (chance 2.50)</a:t>
            </a:r>
          </a:p>
          <a:p>
            <a:pPr>
              <a:spcAft>
                <a:spcPts val="600"/>
              </a:spcAft>
            </a:pPr>
            <a:r>
              <a:rPr sz="1450" b="0">
                <a:solidFill>
                  <a:srgbClr val="0B2B52"/>
                </a:solidFill>
              </a:rPr>
              <a:t/>
            </a:r>
          </a:p>
          <a:p>
            <a:pPr>
              <a:spcAft>
                <a:spcPts val="600"/>
              </a:spcAft>
            </a:pPr>
            <a:r>
              <a:rPr sz="1450" b="0">
                <a:solidFill>
                  <a:srgbClr val="0B2B52"/>
                </a:solidFill>
              </a:rPr>
              <a:t>It also survives the reproducibility test that demoted ipTM: effect +3.30 against run-to-run SD 1.92 = 1.72× noise, where ipTM managed 0.20× — an 8.6× better ratio. Reproduces at p &lt; 0.05 in 100% of re-runs.</a:t>
            </a:r>
          </a:p>
        </p:txBody>
      </p:sp>
      <p:sp>
        <p:nvSpPr>
          <p:cNvPr id="9" name="Rounded Rectangle 8"/>
          <p:cNvSpPr/>
          <p:nvPr/>
        </p:nvSpPr>
        <p:spPr>
          <a:xfrm>
            <a:off x="548640" y="54406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pDockQ multiplies interface pLDDT by a contact term — contacts run the WRONG way here (scrambles make more: 38.5 vs 32.9), cancelling the signal. Slide 28 shows why: at 10 sampling steps the backbone is not connected, and on converged structures the contact ordering reverses. pDockQ2, which swaps the contact term for a PAE term, repairs it (p = 0.797 → 0.00026).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ipTM vs Interface pLDDT — the Scramble Control</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21</a:t>
            </a:r>
          </a:p>
        </p:txBody>
      </p:sp>
      <p:pic>
        <p:nvPicPr>
          <p:cNvPr id="7" name="Picture 6" descr="fig_metric_comparison.png"/>
          <p:cNvPicPr>
            <a:picLocks noChangeAspect="1"/>
          </p:cNvPicPr>
          <p:nvPr/>
        </p:nvPicPr>
        <p:blipFill>
          <a:blip r:embed="rId2"/>
          <a:stretch>
            <a:fillRect/>
          </a:stretch>
        </p:blipFill>
        <p:spPr>
          <a:xfrm>
            <a:off x="1691640" y="1207008"/>
            <a:ext cx="8778240" cy="4626370"/>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Same structures, two readouts. ipTM cannot separate a cognate from its own scramble; interface pLDDT can. The information is in the prediction — ipTM discards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Where That Signal Actually Comes From</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22</a:t>
            </a:r>
          </a:p>
        </p:txBody>
      </p:sp>
      <p:sp>
        <p:nvSpPr>
          <p:cNvPr id="7" name="Rounded Rectangle 6"/>
          <p:cNvSpPr/>
          <p:nvPr/>
        </p:nvSpPr>
        <p:spPr>
          <a:xfrm>
            <a:off x="548640" y="1188720"/>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Interface pLDDT responds to sequence order. Does it respond to BINDING, or just to the peptide being better folded?</a:t>
            </a:r>
          </a:p>
        </p:txBody>
      </p:sp>
      <p:sp>
        <p:nvSpPr>
          <p:cNvPr id="8" name="TextBox 7"/>
          <p:cNvSpPr txBox="1"/>
          <p:nvPr/>
        </p:nvSpPr>
        <p:spPr>
          <a:xfrm>
            <a:off x="548640" y="2103120"/>
            <a:ext cx="11155680" cy="2926080"/>
          </a:xfrm>
          <a:prstGeom prst="rect">
            <a:avLst/>
          </a:prstGeom>
          <a:noFill/>
        </p:spPr>
        <p:txBody>
          <a:bodyPr wrap="square">
            <a:spAutoFit/>
          </a:bodyPr>
          <a:lstStyle/>
          <a:p>
            <a:pPr>
              <a:spcAft>
                <a:spcPts val="600"/>
              </a:spcAft>
            </a:pPr>
            <a:r>
              <a:rPr sz="1400" b="0">
                <a:solidFill>
                  <a:srgbClr val="0B2B52"/>
                </a:solidFill>
              </a:rPr>
              <a:t>Splitting the metric by chain — no new folding:</a:t>
            </a:r>
          </a:p>
          <a:p>
            <a:pPr>
              <a:spcAft>
                <a:spcPts val="600"/>
              </a:spcAft>
            </a:pPr>
            <a:r>
              <a:rPr sz="1400" b="0">
                <a:solidFill>
                  <a:srgbClr val="0B2B52"/>
                </a:solidFill>
              </a:rPr>
              <a:t>•  peptide side  +5.25   but whole-chain peptide pLDDT  +4.87   →  mostly FOLDABILITY, not interface</a:t>
            </a:r>
          </a:p>
          <a:p>
            <a:pPr>
              <a:spcAft>
                <a:spcPts val="600"/>
              </a:spcAft>
            </a:pPr>
            <a:r>
              <a:rPr sz="1400" b="0">
                <a:solidFill>
                  <a:srgbClr val="0B2B52"/>
                </a:solidFill>
              </a:rPr>
              <a:t>•  RECEPTOR side  +2.38  (p = 6e-5)  →  the receptor's own residues are placed better when given the right peptide.</a:t>
            </a:r>
          </a:p>
          <a:p>
            <a:pPr>
              <a:spcAft>
                <a:spcPts val="600"/>
              </a:spcAft>
            </a:pPr>
            <a:r>
              <a:rPr sz="1400" b="0">
                <a:solidFill>
                  <a:srgbClr val="0B2B52"/>
                </a:solidFill>
              </a:rPr>
              <a:t>   A disordered peptide cannot do that. This term survives the objection.</a:t>
            </a:r>
          </a:p>
          <a:p>
            <a:pPr>
              <a:spcAft>
                <a:spcPts val="600"/>
              </a:spcAft>
            </a:pPr>
            <a:r>
              <a:rPr sz="1400" b="0">
                <a:solidFill>
                  <a:srgbClr val="0B2B52"/>
                </a:solidFill>
              </a:rPr>
              <a:t/>
            </a:r>
          </a:p>
          <a:p>
            <a:pPr>
              <a:spcAft>
                <a:spcPts val="600"/>
              </a:spcAft>
            </a:pPr>
            <a:r>
              <a:rPr sz="1400" b="0">
                <a:solidFill>
                  <a:srgbClr val="0B2B52"/>
                </a:solidFill>
              </a:rPr>
              <a:t>Is the response tied to the binding site?  88 folds, alanine scan:</a:t>
            </a:r>
          </a:p>
          <a:p>
            <a:pPr>
              <a:spcAft>
                <a:spcPts val="600"/>
              </a:spcAft>
            </a:pPr>
            <a:r>
              <a:rPr sz="1400" b="0">
                <a:solidFill>
                  <a:srgbClr val="0B2B52"/>
                </a:solidFill>
              </a:rPr>
              <a:t>•  interface→Ala 36.77  vs  surface→Ala 38.62   diff −1.84, p = 0.244 — right direction, not significant</a:t>
            </a:r>
          </a:p>
          <a:p>
            <a:pPr>
              <a:spcAft>
                <a:spcPts val="600"/>
              </a:spcAft>
            </a:pPr>
            <a:r>
              <a:rPr sz="1400" b="0">
                <a:solidFill>
                  <a:srgbClr val="0B2B52"/>
                </a:solidFill>
              </a:rPr>
              <a:t>•  80% power would need 123 receptors; every arm drops 7–12 pLDDT, so both may sit near a floor.</a:t>
            </a:r>
          </a:p>
        </p:txBody>
      </p:sp>
      <p:sp>
        <p:nvSpPr>
          <p:cNvPr id="9" name="Rounded Rectangle 8"/>
          <p:cNvSpPr/>
          <p:nvPr/>
        </p:nvSpPr>
        <p:spPr>
          <a:xfrm>
            <a:off x="548640" y="54406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This QUALIFIES slide 19. Half the pooled signal is peptide foldability, which slide 19 did not separate. What stands: the receptor responds to which peptide it is given. Not established: that the response is localised to the binding site.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Few-Step Distillation Changes the Picture</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23</a:t>
            </a:r>
          </a:p>
        </p:txBody>
      </p:sp>
      <p:sp>
        <p:nvSpPr>
          <p:cNvPr id="7" name="Rounded Rectangle 6"/>
          <p:cNvSpPr/>
          <p:nvPr/>
        </p:nvSpPr>
        <p:spPr>
          <a:xfrm>
            <a:off x="548640" y="1170432"/>
            <a:ext cx="11155680" cy="77724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Everything so far was folded at 10 steps on models built for 200. What happens on a model TRAINED for 10?</a:t>
            </a:r>
          </a:p>
        </p:txBody>
      </p:sp>
      <p:sp>
        <p:nvSpPr>
          <p:cNvPr id="8" name="TextBox 7"/>
          <p:cNvSpPr txBox="1"/>
          <p:nvPr/>
        </p:nvSpPr>
        <p:spPr>
          <a:xfrm>
            <a:off x="548640" y="2057400"/>
            <a:ext cx="11155680" cy="2926080"/>
          </a:xfrm>
          <a:prstGeom prst="rect">
            <a:avLst/>
          </a:prstGeom>
          <a:noFill/>
        </p:spPr>
        <p:txBody>
          <a:bodyPr wrap="square">
            <a:spAutoFit/>
          </a:bodyPr>
          <a:lstStyle/>
          <a:p>
            <a:pPr>
              <a:spcAft>
                <a:spcPts val="600"/>
              </a:spcAft>
            </a:pPr>
            <a:r>
              <a:rPr sz="1350" b="0">
                <a:solidFill>
                  <a:srgbClr val="0B2B52"/>
                </a:solidFill>
              </a:rPr>
              <a:t>Same 132 pairs. Boltz-1 added as a de-confounding arm — DeCAF changes the base model AND the sampling regime, and only Boltz-1 shares its base.</a:t>
            </a:r>
          </a:p>
          <a:p>
            <a:pPr>
              <a:spcAft>
                <a:spcPts val="600"/>
              </a:spcAft>
            </a:pPr>
            <a:r>
              <a:rPr sz="1350" b="0">
                <a:solidFill>
                  <a:srgbClr val="0B2B52"/>
                </a:solidFill>
              </a:rPr>
              <a:t/>
            </a:r>
          </a:p>
          <a:p>
            <a:pPr>
              <a:spcAft>
                <a:spcPts val="600"/>
              </a:spcAft>
            </a:pPr>
            <a:r>
              <a:rPr sz="1350" b="0">
                <a:solidFill>
                  <a:srgbClr val="0B2B52"/>
                </a:solidFill>
              </a:rPr>
              <a:t>cognate − own scramble        Boltz-2            Boltz-1            DeCAF</a:t>
            </a:r>
          </a:p>
          <a:p>
            <a:pPr>
              <a:spcAft>
                <a:spcPts val="600"/>
              </a:spcAft>
            </a:pPr>
            <a:r>
              <a:rPr sz="1350" b="0">
                <a:solidFill>
                  <a:srgbClr val="0B2B52"/>
                </a:solidFill>
              </a:rPr>
              <a:t>  ipTM                        +0.013 (p=0.42)    +0.039 (p=.0043)   +0.201 (p=2e-5)</a:t>
            </a:r>
          </a:p>
          <a:p>
            <a:pPr>
              <a:spcAft>
                <a:spcPts val="600"/>
              </a:spcAft>
            </a:pPr>
            <a:r>
              <a:rPr sz="1350" b="0">
                <a:solidFill>
                  <a:srgbClr val="0B2B52"/>
                </a:solidFill>
              </a:rPr>
              <a:t>  interface pLDDT             +3.30  (p&lt;1e-5)    +1.54  (p=0.067)   +9.54  (p&lt;1e-5)</a:t>
            </a:r>
          </a:p>
          <a:p>
            <a:pPr>
              <a:spcAft>
                <a:spcPts val="600"/>
              </a:spcAft>
            </a:pPr>
            <a:r>
              <a:rPr sz="1350" b="0">
                <a:solidFill>
                  <a:srgbClr val="0B2B52"/>
                </a:solidFill>
              </a:rPr>
              <a:t/>
            </a:r>
          </a:p>
          <a:p>
            <a:pPr>
              <a:spcAft>
                <a:spcPts val="600"/>
              </a:spcAft>
            </a:pPr>
            <a:r>
              <a:rPr sz="1350" b="0">
                <a:solidFill>
                  <a:srgbClr val="0B2B52"/>
                </a:solidFill>
              </a:rPr>
              <a:t>rank vs decoys (chance 2.50)  2.00 / 1.91        1.86 / 1.91        1.77 / 1.73</a:t>
            </a:r>
          </a:p>
          <a:p>
            <a:pPr>
              <a:spcAft>
                <a:spcPts val="600"/>
              </a:spcAft>
            </a:pPr>
            <a:r>
              <a:rPr sz="1350" b="0">
                <a:solidFill>
                  <a:srgbClr val="0B2B52"/>
                </a:solidFill>
              </a:rPr>
              <a:t/>
            </a:r>
          </a:p>
          <a:p>
            <a:pPr>
              <a:spcAft>
                <a:spcPts val="600"/>
              </a:spcAft>
            </a:pPr>
            <a:r>
              <a:rPr sz="1350" b="0">
                <a:solidFill>
                  <a:srgbClr val="0B2B52"/>
                </a:solidFill>
              </a:rPr>
              <a:t>DeCAF vs Boltz-1 — same base, device, step count — gives 5–6× larger effects. On DeCAF, interface pLDDT and receptor side CLEAR Bonferroni: receptor specificity is established for the first time in this work.</a:t>
            </a:r>
          </a:p>
        </p:txBody>
      </p:sp>
      <p:sp>
        <p:nvSpPr>
          <p:cNvPr id="9" name="Rounded Rectangle 8"/>
          <p:cNvSpPr/>
          <p:nvPr/>
        </p:nvSpPr>
        <p:spPr>
          <a:xfrm>
            <a:off x="548640" y="548640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  Two claims weaken. Stock models are NOT signal-free — Boltz-1 separates on ipTM (p=0.0043). An earlier reading that the interface-pLDDT result is MODEL-DEPENDENT is WITHDRAWN: Boltz-1's p=0.067 was two non-binders diluting a 22-receptor panel, and goes to p=0.013 once they are removed. 'Settings explain the negatives' is too simple.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Three Arms — What Few-Step Training Buys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24</a:t>
            </a:r>
          </a:p>
        </p:txBody>
      </p:sp>
      <p:pic>
        <p:nvPicPr>
          <p:cNvPr id="7" name="Picture 6" descr="fig_few_step_arms.png"/>
          <p:cNvPicPr>
            <a:picLocks noChangeAspect="1"/>
          </p:cNvPicPr>
          <p:nvPr/>
        </p:nvPicPr>
        <p:blipFill>
          <a:blip r:embed="rId2"/>
          <a:stretch>
            <a:fillRect/>
          </a:stretch>
        </p:blipFill>
        <p:spPr>
          <a:xfrm>
            <a:off x="1691640" y="1207008"/>
            <a:ext cx="8778240" cy="4626370"/>
          </a:xfrm>
          <a:prstGeom prst="rect">
            <a:avLst/>
          </a:prstGeom>
        </p:spPr>
      </p:pic>
      <p:sp>
        <p:nvSpPr>
          <p:cNvPr id="8" name="Rounded Rectangle 7"/>
          <p:cNvSpPr/>
          <p:nvPr/>
        </p:nvSpPr>
        <p:spPr>
          <a:xfrm>
            <a:off x="548640" y="5532120"/>
            <a:ext cx="11155680" cy="77724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Effects normalised by the run-to-run noise of Section 7.5 so metrics on different scales compare. DeCAF vs Boltz-1 isolates few-step training; the Boltz-2 arm ran on CPU, the others on MPS.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Held-Out Complexes Cost Half the Effect</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25</a:t>
            </a:r>
          </a:p>
        </p:txBody>
      </p:sp>
      <p:sp>
        <p:nvSpPr>
          <p:cNvPr id="7" name="TextBox 6"/>
          <p:cNvSpPr txBox="1"/>
          <p:nvPr/>
        </p:nvSpPr>
        <p:spPr>
          <a:xfrm>
            <a:off x="548640" y="1188720"/>
            <a:ext cx="11155680" cy="1005840"/>
          </a:xfrm>
          <a:prstGeom prst="rect">
            <a:avLst/>
          </a:prstGeom>
          <a:noFill/>
        </p:spPr>
        <p:txBody>
          <a:bodyPr wrap="square">
            <a:spAutoFit/>
          </a:bodyPr>
          <a:lstStyle/>
          <a:p>
            <a:pPr>
              <a:spcAft>
                <a:spcPts val="600"/>
              </a:spcAft>
            </a:pPr>
            <a:r>
              <a:rPr sz="1500" b="0">
                <a:solidFill>
                  <a:srgbClr val="0B2B52"/>
                </a:solidFill>
              </a:rPr>
              <a:t>22 receptors released after Boltz-1's 2021-09-30 training cutoff, screened identically,</a:t>
            </a:r>
          </a:p>
          <a:p>
            <a:pPr>
              <a:spcAft>
                <a:spcPts val="600"/>
              </a:spcAft>
            </a:pPr>
            <a:r>
              <a:rPr sz="1500" b="0">
                <a:solidFill>
                  <a:srgbClr val="0B2B52"/>
                </a:solidFill>
              </a:rPr>
              <a:t>decoys drawn from within the held-out set. Folded three times on DeCAF.</a:t>
            </a:r>
          </a:p>
        </p:txBody>
      </p:sp>
      <p:sp>
        <p:nvSpPr>
          <p:cNvPr id="8" name="Rounded Rectangle 7"/>
          <p:cNvSpPr/>
          <p:nvPr/>
        </p:nvSpPr>
        <p:spPr>
          <a:xfrm>
            <a:off x="548640" y="201168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+12.03 → +4.99</a:t>
            </a:r>
          </a:p>
          <a:p>
            <a:pPr algn="ctr"/>
            <a:r>
              <a:rPr sz="1050">
                <a:solidFill>
                  <a:srgbClr val="FFFFFF"/>
                </a:solidFill>
              </a:rPr>
              <a:t>interface pLDDT, in-training → held out</a:t>
            </a:r>
          </a:p>
        </p:txBody>
      </p:sp>
      <p:sp>
        <p:nvSpPr>
          <p:cNvPr id="9" name="Rounded Rectangle 8"/>
          <p:cNvSpPr/>
          <p:nvPr/>
        </p:nvSpPr>
        <p:spPr>
          <a:xfrm>
            <a:off x="4343400" y="2011680"/>
            <a:ext cx="352044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+0.265 → +0.137</a:t>
            </a:r>
          </a:p>
          <a:p>
            <a:pPr algn="ctr"/>
            <a:r>
              <a:rPr sz="1050">
                <a:solidFill>
                  <a:srgbClr val="FFFFFF"/>
                </a:solidFill>
              </a:rPr>
              <a:t>ipTM, in-training → held out</a:t>
            </a:r>
          </a:p>
        </p:txBody>
      </p:sp>
      <p:sp>
        <p:nvSpPr>
          <p:cNvPr id="10" name="Rounded Rectangle 9"/>
          <p:cNvSpPr/>
          <p:nvPr/>
        </p:nvSpPr>
        <p:spPr>
          <a:xfrm>
            <a:off x="8138160" y="2011680"/>
            <a:ext cx="356616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 2×</a:t>
            </a:r>
          </a:p>
          <a:p>
            <a:pPr algn="ctr"/>
            <a:r>
              <a:rPr sz="1050">
                <a:solidFill>
                  <a:srgbClr val="FFFFFF"/>
                </a:solidFill>
              </a:rPr>
              <a:t>how optimistic an unsplit benchmark is</a:t>
            </a:r>
          </a:p>
        </p:txBody>
      </p:sp>
      <p:sp>
        <p:nvSpPr>
          <p:cNvPr id="11" name="TextBox 10"/>
          <p:cNvSpPr txBox="1"/>
          <p:nvPr/>
        </p:nvSpPr>
        <p:spPr>
          <a:xfrm>
            <a:off x="548640" y="3749039"/>
            <a:ext cx="11155680" cy="1005840"/>
          </a:xfrm>
          <a:prstGeom prst="rect">
            <a:avLst/>
          </a:prstGeom>
          <a:noFill/>
        </p:spPr>
        <p:txBody>
          <a:bodyPr wrap="square">
            <a:spAutoFit/>
          </a:bodyPr>
          <a:lstStyle/>
          <a:p>
            <a:pPr>
              <a:spcAft>
                <a:spcPts val="600"/>
              </a:spcAft>
            </a:pPr>
            <a:r>
              <a:rPr sz="1500" b="0">
                <a:solidFill>
                  <a:srgbClr val="0B2B52"/>
                </a:solidFill>
              </a:rPr>
              <a:t>Both readouts retain roughly half — interface pLDDT 41%, ipTM 52%.</a:t>
            </a:r>
          </a:p>
          <a:p>
            <a:pPr>
              <a:spcAft>
                <a:spcPts val="600"/>
              </a:spcAft>
            </a:pPr>
            <a:r>
              <a:rPr sz="1500" b="0">
                <a:solidFill>
                  <a:srgbClr val="0B2B52"/>
                </a:solidFill>
              </a:rPr>
              <a:t>Neither can be shown to degrade more than the other on this panel.</a:t>
            </a:r>
          </a:p>
        </p:txBody>
      </p:sp>
      <p:sp>
        <p:nvSpPr>
          <p:cNvPr id="12" name="Rounded Rectangle 11"/>
          <p:cNvSpPr/>
          <p:nvPr/>
        </p:nvSpPr>
        <p:spPr>
          <a:xfrm>
            <a:off x="548640" y="461772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A screening figure quoted without saying whether the complexes were in training is about twice as good as it should be.</a:t>
            </a:r>
          </a:p>
        </p:txBody>
      </p:sp>
      <p:sp>
        <p:nvSpPr>
          <p:cNvPr id="13" name="Rounded Rectangle 12"/>
          <p:cNvSpPr/>
          <p:nvPr/>
        </p:nvSpPr>
        <p:spPr>
          <a:xfrm>
            <a:off x="548640" y="56692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Not homology-decontaminated, and cannot be: 0 of 22 held-out receptors clear 30% identity to the pre-cutoff PDB (median 1.000), and neither does a random sample of the whole candidate pool. What the split isolates is complex-level novelty with receptor familiarity held constant.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Three Draws — and Two Retracted Claims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26</a:t>
            </a:r>
          </a:p>
        </p:txBody>
      </p:sp>
      <p:sp>
        <p:nvSpPr>
          <p:cNvPr id="7" name="TextBox 6"/>
          <p:cNvSpPr txBox="1"/>
          <p:nvPr/>
        </p:nvSpPr>
        <p:spPr>
          <a:xfrm>
            <a:off x="548640" y="1188720"/>
            <a:ext cx="11155680" cy="640080"/>
          </a:xfrm>
          <a:prstGeom prst="rect">
            <a:avLst/>
          </a:prstGeom>
          <a:noFill/>
        </p:spPr>
        <p:txBody>
          <a:bodyPr wrap="square">
            <a:spAutoFit/>
          </a:bodyPr>
          <a:lstStyle/>
          <a:p>
            <a:pPr>
              <a:spcAft>
                <a:spcPts val="600"/>
              </a:spcAft>
            </a:pPr>
            <a:r>
              <a:rPr sz="1500" b="0">
                <a:solidFill>
                  <a:srgbClr val="0B2B52"/>
                </a:solidFill>
              </a:rPr>
              <a:t>Folds are unseeded, so re-running the identical panel gives an independent draw.</a:t>
            </a:r>
          </a:p>
        </p:txBody>
      </p:sp>
      <p:graphicFrame>
        <p:nvGraphicFramePr>
          <p:cNvPr id="8" name="Table 7"/>
          <p:cNvGraphicFramePr>
            <a:graphicFrameLocks noGrp="1"/>
          </p:cNvGraphicFramePr>
          <p:nvPr/>
        </p:nvGraphicFramePr>
        <p:xfrm>
          <a:off x="548640" y="1783080"/>
          <a:ext cx="11155680" cy="1371600"/>
        </p:xfrm>
        <a:graphic>
          <a:graphicData uri="http://schemas.openxmlformats.org/drawingml/2006/table">
            <a:tbl>
              <a:tblPr firstRow="1" bandRow="1">
                <a:tableStyleId>{5C22544A-7EE6-4342-B048-85BDC9FD1C3A}</a:tableStyleId>
              </a:tblPr>
              <a:tblGrid>
                <a:gridCol w="4023360"/>
                <a:gridCol w="1554480"/>
                <a:gridCol w="1554480"/>
                <a:gridCol w="1554480"/>
                <a:gridCol w="2468880"/>
              </a:tblGrid>
              <a:tr h="457200">
                <a:tc>
                  <a:txBody>
                    <a:bodyPr/>
                    <a:lstStyle/>
                    <a:p>
                      <a:r>
                        <a:rPr sz="1300" b="1">
                          <a:solidFill>
                            <a:srgbClr val="0B2B52"/>
                          </a:solidFill>
                        </a:rPr>
                        <a:t>Cognate rank among its own decoys (chance 2.50)</a:t>
                      </a:r>
                    </a:p>
                  </a:txBody>
                  <a:tcPr/>
                </a:tc>
                <a:tc>
                  <a:txBody>
                    <a:bodyPr/>
                    <a:lstStyle/>
                    <a:p>
                      <a:r>
                        <a:rPr sz="1300" b="1">
                          <a:solidFill>
                            <a:srgbClr val="0B2B52"/>
                          </a:solidFill>
                        </a:rPr>
                        <a:t>draw 1</a:t>
                      </a:r>
                    </a:p>
                  </a:txBody>
                  <a:tcPr/>
                </a:tc>
                <a:tc>
                  <a:txBody>
                    <a:bodyPr/>
                    <a:lstStyle/>
                    <a:p>
                      <a:r>
                        <a:rPr sz="1300" b="1">
                          <a:solidFill>
                            <a:srgbClr val="0B2B52"/>
                          </a:solidFill>
                        </a:rPr>
                        <a:t>draw 2</a:t>
                      </a:r>
                    </a:p>
                  </a:txBody>
                  <a:tcPr/>
                </a:tc>
                <a:tc>
                  <a:txBody>
                    <a:bodyPr/>
                    <a:lstStyle/>
                    <a:p>
                      <a:r>
                        <a:rPr sz="1300" b="1">
                          <a:solidFill>
                            <a:srgbClr val="0B2B52"/>
                          </a:solidFill>
                        </a:rPr>
                        <a:t>draw 3</a:t>
                      </a:r>
                    </a:p>
                  </a:txBody>
                  <a:tcPr/>
                </a:tc>
                <a:tc>
                  <a:txBody>
                    <a:bodyPr/>
                    <a:lstStyle/>
                    <a:p>
                      <a:r>
                        <a:rPr sz="1300" b="1">
                          <a:solidFill>
                            <a:srgbClr val="0B2B52"/>
                          </a:solidFill>
                        </a:rPr>
                        <a:t>mean</a:t>
                      </a:r>
                    </a:p>
                  </a:txBody>
                  <a:tcPr/>
                </a:tc>
              </a:tr>
              <a:tr h="457200">
                <a:tc>
                  <a:txBody>
                    <a:bodyPr/>
                    <a:lstStyle/>
                    <a:p>
                      <a:r>
                        <a:rPr sz="1300" b="0">
                          <a:solidFill>
                            <a:srgbClr val="0B2B52"/>
                          </a:solidFill>
                        </a:rPr>
                        <a:t>ipTM</a:t>
                      </a:r>
                    </a:p>
                  </a:txBody>
                  <a:tcPr/>
                </a:tc>
                <a:tc>
                  <a:txBody>
                    <a:bodyPr/>
                    <a:lstStyle/>
                    <a:p>
                      <a:r>
                        <a:rPr sz="1300" b="0">
                          <a:solidFill>
                            <a:srgbClr val="0B2B52"/>
                          </a:solidFill>
                        </a:rPr>
                        <a:t>1.64</a:t>
                      </a:r>
                    </a:p>
                  </a:txBody>
                  <a:tcPr/>
                </a:tc>
                <a:tc>
                  <a:txBody>
                    <a:bodyPr/>
                    <a:lstStyle/>
                    <a:p>
                      <a:r>
                        <a:rPr sz="1300" b="0">
                          <a:solidFill>
                            <a:srgbClr val="0B2B52"/>
                          </a:solidFill>
                        </a:rPr>
                        <a:t>1.50</a:t>
                      </a:r>
                    </a:p>
                  </a:txBody>
                  <a:tcPr/>
                </a:tc>
                <a:tc>
                  <a:txBody>
                    <a:bodyPr/>
                    <a:lstStyle/>
                    <a:p>
                      <a:r>
                        <a:rPr sz="1300" b="0">
                          <a:solidFill>
                            <a:srgbClr val="0B2B52"/>
                          </a:solidFill>
                        </a:rPr>
                        <a:t>1.86</a:t>
                      </a:r>
                    </a:p>
                  </a:txBody>
                  <a:tcPr/>
                </a:tc>
                <a:tc>
                  <a:txBody>
                    <a:bodyPr/>
                    <a:lstStyle/>
                    <a:p>
                      <a:r>
                        <a:rPr sz="1300" b="0">
                          <a:solidFill>
                            <a:srgbClr val="0B2B52"/>
                          </a:solidFill>
                        </a:rPr>
                        <a:t>1.73  (p = 0.007)</a:t>
                      </a:r>
                    </a:p>
                  </a:txBody>
                  <a:tcPr/>
                </a:tc>
              </a:tr>
              <a:tr h="457200">
                <a:tc>
                  <a:txBody>
                    <a:bodyPr/>
                    <a:lstStyle/>
                    <a:p>
                      <a:r>
                        <a:rPr sz="1300" b="0">
                          <a:solidFill>
                            <a:srgbClr val="0B2B52"/>
                          </a:solidFill>
                        </a:rPr>
                        <a:t>interface pLDDT</a:t>
                      </a:r>
                    </a:p>
                  </a:txBody>
                  <a:tcPr/>
                </a:tc>
                <a:tc>
                  <a:txBody>
                    <a:bodyPr/>
                    <a:lstStyle/>
                    <a:p>
                      <a:r>
                        <a:rPr sz="1300" b="0">
                          <a:solidFill>
                            <a:srgbClr val="0B2B52"/>
                          </a:solidFill>
                        </a:rPr>
                        <a:t>2.09</a:t>
                      </a:r>
                    </a:p>
                  </a:txBody>
                  <a:tcPr/>
                </a:tc>
                <a:tc>
                  <a:txBody>
                    <a:bodyPr/>
                    <a:lstStyle/>
                    <a:p>
                      <a:r>
                        <a:rPr sz="1300" b="0">
                          <a:solidFill>
                            <a:srgbClr val="0B2B52"/>
                          </a:solidFill>
                        </a:rPr>
                        <a:t>2.05</a:t>
                      </a:r>
                    </a:p>
                  </a:txBody>
                  <a:tcPr/>
                </a:tc>
                <a:tc>
                  <a:txBody>
                    <a:bodyPr/>
                    <a:lstStyle/>
                    <a:p>
                      <a:r>
                        <a:rPr sz="1300" b="0">
                          <a:solidFill>
                            <a:srgbClr val="0B2B52"/>
                          </a:solidFill>
                        </a:rPr>
                        <a:t>1.73</a:t>
                      </a:r>
                    </a:p>
                  </a:txBody>
                  <a:tcPr/>
                </a:tc>
                <a:tc>
                  <a:txBody>
                    <a:bodyPr/>
                    <a:lstStyle/>
                    <a:p>
                      <a:r>
                        <a:rPr sz="1300" b="0">
                          <a:solidFill>
                            <a:srgbClr val="0B2B52"/>
                          </a:solidFill>
                        </a:rPr>
                        <a:t>1.91  (p = 0.020)</a:t>
                      </a:r>
                    </a:p>
                  </a:txBody>
                  <a:tcPr/>
                </a:tc>
              </a:tr>
            </a:tbl>
          </a:graphicData>
        </a:graphic>
      </p:graphicFrame>
      <p:sp>
        <p:nvSpPr>
          <p:cNvPr id="9" name="TextBox 8"/>
          <p:cNvSpPr txBox="1"/>
          <p:nvPr/>
        </p:nvSpPr>
        <p:spPr>
          <a:xfrm>
            <a:off x="548640" y="3429000"/>
            <a:ext cx="11155680" cy="1371600"/>
          </a:xfrm>
          <a:prstGeom prst="rect">
            <a:avLst/>
          </a:prstGeom>
          <a:noFill/>
        </p:spPr>
        <p:txBody>
          <a:bodyPr wrap="square">
            <a:spAutoFit/>
          </a:bodyPr>
          <a:lstStyle/>
          <a:p>
            <a:pPr>
              <a:spcAft>
                <a:spcPts val="600"/>
              </a:spcAft>
            </a:pPr>
            <a:r>
              <a:rPr sz="1500" b="0">
                <a:solidFill>
                  <a:srgbClr val="0B2B52"/>
                </a:solidFill>
              </a:rPr>
              <a:t>Draw 1 alone said interface pLDDT collapses held out.</a:t>
            </a:r>
          </a:p>
          <a:p>
            <a:pPr>
              <a:spcAft>
                <a:spcPts val="600"/>
              </a:spcAft>
            </a:pPr>
            <a:r>
              <a:rPr sz="1500" b="0">
                <a:solidFill>
                  <a:srgbClr val="0B2B52"/>
                </a:solidFill>
              </a:rPr>
              <a:t>Draws 1 and 2 said ipTM specifically survives and interface pLDDT specifically fails.</a:t>
            </a:r>
          </a:p>
          <a:p>
            <a:pPr>
              <a:spcAft>
                <a:spcPts val="600"/>
              </a:spcAft>
            </a:pPr>
            <a:r>
              <a:rPr sz="1500" b="0">
                <a:solidFill>
                  <a:srgbClr val="0B2B52"/>
                </a:solidFill>
              </a:rPr>
              <a:t>Draw 3 reverses the ordering. Averaged, the two differ by less than one draw's spread.</a:t>
            </a:r>
          </a:p>
        </p:txBody>
      </p:sp>
      <p:sp>
        <p:nvSpPr>
          <p:cNvPr id="10" name="Rounded Rectangle 9"/>
          <p:cNvSpPr/>
          <p:nvPr/>
        </p:nvSpPr>
        <p:spPr>
          <a:xfrm>
            <a:off x="548640" y="4846320"/>
            <a:ext cx="11155680" cy="96012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Both claims withdrawn. Section 7.5's own finding, turned on this project's headline — twice.</a:t>
            </a:r>
          </a:p>
        </p:txBody>
      </p:sp>
      <p:sp>
        <p:nvSpPr>
          <p:cNvPr id="11" name="Rounded Rectangle 10"/>
          <p:cNvSpPr/>
          <p:nvPr/>
        </p:nvSpPr>
        <p:spPr>
          <a:xfrm>
            <a:off x="548640" y="589788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The methodological lesson is sharper than the scientific one: a single unseeded fold is not a measurement, and on this evidence neither are two.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At Ten Steps the Coordinates Are Not a Protein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27</a:t>
            </a:r>
          </a:p>
        </p:txBody>
      </p:sp>
      <p:sp>
        <p:nvSpPr>
          <p:cNvPr id="7" name="TextBox 6"/>
          <p:cNvSpPr txBox="1"/>
          <p:nvPr/>
        </p:nvSpPr>
        <p:spPr>
          <a:xfrm>
            <a:off x="548640" y="1188720"/>
            <a:ext cx="11155680" cy="640080"/>
          </a:xfrm>
          <a:prstGeom prst="rect">
            <a:avLst/>
          </a:prstGeom>
          <a:noFill/>
        </p:spPr>
        <p:txBody>
          <a:bodyPr wrap="square">
            <a:spAutoFit/>
          </a:bodyPr>
          <a:lstStyle/>
          <a:p>
            <a:pPr>
              <a:spcAft>
                <a:spcPts val="600"/>
              </a:spcAft>
            </a:pPr>
            <a:r>
              <a:rPr sz="1500" b="0">
                <a:solidFill>
                  <a:srgbClr val="0B2B52"/>
                </a:solidFill>
              </a:rPr>
              <a:t>A peptide bond fixes consecutive alpha-carbons at 3.80 Å. Measuring every consecutive CA–CA distance:</a:t>
            </a:r>
          </a:p>
        </p:txBody>
      </p:sp>
      <p:sp>
        <p:nvSpPr>
          <p:cNvPr id="8" name="Rounded Rectangle 7"/>
          <p:cNvSpPr/>
          <p:nvPr/>
        </p:nvSpPr>
        <p:spPr>
          <a:xfrm>
            <a:off x="548640" y="1874519"/>
            <a:ext cx="5440680" cy="1463040"/>
          </a:xfrm>
          <a:prstGeom prst="round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14.0%</a:t>
            </a:r>
          </a:p>
          <a:p>
            <a:pPr algn="ctr"/>
            <a:r>
              <a:rPr sz="1050">
                <a:solidFill>
                  <a:srgbClr val="FFFFFF"/>
                </a:solidFill>
              </a:rPr>
              <a:t>Boltz-2 at 10 steps — physically plausible backbone bonds</a:t>
            </a:r>
          </a:p>
        </p:txBody>
      </p:sp>
      <p:sp>
        <p:nvSpPr>
          <p:cNvPr id="9" name="Rounded Rectangle 8"/>
          <p:cNvSpPr/>
          <p:nvPr/>
        </p:nvSpPr>
        <p:spPr>
          <a:xfrm>
            <a:off x="6263640" y="1874519"/>
            <a:ext cx="544068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96.2%</a:t>
            </a:r>
          </a:p>
          <a:p>
            <a:pPr algn="ctr"/>
            <a:r>
              <a:rPr sz="1050">
                <a:solidFill>
                  <a:srgbClr val="FFFFFF"/>
                </a:solidFill>
              </a:rPr>
              <a:t>DeCAF, distilled FOR 10 steps — same measurement</a:t>
            </a:r>
          </a:p>
        </p:txBody>
      </p:sp>
      <p:sp>
        <p:nvSpPr>
          <p:cNvPr id="10" name="TextBox 9"/>
          <p:cNvSpPr txBox="1"/>
          <p:nvPr/>
        </p:nvSpPr>
        <p:spPr>
          <a:xfrm>
            <a:off x="548640" y="3611880"/>
            <a:ext cx="11155680" cy="1371600"/>
          </a:xfrm>
          <a:prstGeom prst="rect">
            <a:avLst/>
          </a:prstGeom>
          <a:noFill/>
        </p:spPr>
        <p:txBody>
          <a:bodyPr wrap="square">
            <a:spAutoFit/>
          </a:bodyPr>
          <a:lstStyle/>
          <a:p>
            <a:pPr>
              <a:spcAft>
                <a:spcPts val="600"/>
              </a:spcAft>
            </a:pPr>
            <a:r>
              <a:rPr sz="1500" b="0">
                <a:solidFill>
                  <a:srgbClr val="0B2B52"/>
                </a:solidFill>
              </a:rPr>
              <a:t>Boltz-2: median CA–CA 5.48 Å, 56% of bonds beyond 5 Å, 99% of chains majority-broken.</a:t>
            </a:r>
          </a:p>
          <a:p>
            <a:pPr>
              <a:spcAft>
                <a:spcPts val="600"/>
              </a:spcAft>
            </a:pPr>
            <a:r>
              <a:rPr sz="1500" b="0">
                <a:solidFill>
                  <a:srgbClr val="0B2B52"/>
                </a:solidFill>
              </a:rPr>
              <a:t>DeCAF:   median 3.74 Å, zero broken bonds.  Residue numbering is sequential —</a:t>
            </a:r>
          </a:p>
          <a:p>
            <a:pPr>
              <a:spcAft>
                <a:spcPts val="600"/>
              </a:spcAft>
            </a:pPr>
            <a:r>
              <a:rPr sz="1500" b="0">
                <a:solidFill>
                  <a:srgbClr val="0B2B52"/>
                </a:solidFill>
              </a:rPr>
              <a:t>         this is not a file-ordering artefact. The backbone is genuinely not connected.</a:t>
            </a:r>
          </a:p>
        </p:txBody>
      </p:sp>
      <p:sp>
        <p:nvSpPr>
          <p:cNvPr id="11" name="Rounded Rectangle 10"/>
          <p:cNvSpPr/>
          <p:nvPr/>
        </p:nvSpPr>
        <p:spPr>
          <a:xfrm>
            <a:off x="548640" y="498348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Section 7.8 measured that distillation buys a 5–6× larger effect. This is what it bought: geometry.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One Cause Behind Four Separate Failures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28</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Geometry-dependent readouts need a converged sampler. Four results now share one cause:</a:t>
            </a:r>
          </a:p>
        </p:txBody>
      </p:sp>
      <p:sp>
        <p:nvSpPr>
          <p:cNvPr id="8" name="TextBox 7"/>
          <p:cNvSpPr txBox="1"/>
          <p:nvPr/>
        </p:nvSpPr>
        <p:spPr>
          <a:xfrm>
            <a:off x="548640" y="1783080"/>
            <a:ext cx="11155680" cy="914400"/>
          </a:xfrm>
          <a:prstGeom prst="rect">
            <a:avLst/>
          </a:prstGeom>
          <a:noFill/>
        </p:spPr>
        <p:txBody>
          <a:bodyPr wrap="square">
            <a:spAutoFit/>
          </a:bodyPr>
          <a:lstStyle/>
          <a:p>
            <a:r>
              <a:rPr sz="1500" b="1">
                <a:solidFill>
                  <a:srgbClr val="0B2B52"/>
                </a:solidFill>
              </a:rPr>
              <a:t>pDockQ's contact term ran backwards</a:t>
            </a:r>
          </a:p>
          <a:p>
            <a:r>
              <a:rPr sz="1250">
                <a:solidFill>
                  <a:srgbClr val="1E6FB8"/>
                </a:solidFill>
              </a:rPr>
              <a:t>scrambles made more contacts than cognates — reverses on converged structures (cognate 61.4, scramble 51.8)</a:t>
            </a:r>
          </a:p>
        </p:txBody>
      </p:sp>
      <p:sp>
        <p:nvSpPr>
          <p:cNvPr id="9" name="TextBox 8"/>
          <p:cNvSpPr txBox="1"/>
          <p:nvPr/>
        </p:nvSpPr>
        <p:spPr>
          <a:xfrm>
            <a:off x="548640" y="2807208"/>
            <a:ext cx="11155680" cy="914400"/>
          </a:xfrm>
          <a:prstGeom prst="rect">
            <a:avLst/>
          </a:prstGeom>
          <a:noFill/>
        </p:spPr>
        <p:txBody>
          <a:bodyPr wrap="square">
            <a:spAutoFit/>
          </a:bodyPr>
          <a:lstStyle/>
          <a:p>
            <a:r>
              <a:rPr sz="1500" b="1">
                <a:solidFill>
                  <a:srgbClr val="0B2B52"/>
                </a:solidFill>
              </a:rPr>
              <a:t>pDockQ2 repairs it</a:t>
            </a:r>
          </a:p>
          <a:p>
            <a:r>
              <a:rPr sz="1250">
                <a:solidFill>
                  <a:srgbClr val="1E6FB8"/>
                </a:solidFill>
              </a:rPr>
              <a:t>swapping the contact term for a PAE term: scramble control p = 0.797 → 0.00026</a:t>
            </a:r>
          </a:p>
        </p:txBody>
      </p:sp>
      <p:sp>
        <p:nvSpPr>
          <p:cNvPr id="10" name="TextBox 9"/>
          <p:cNvSpPr txBox="1"/>
          <p:nvPr/>
        </p:nvSpPr>
        <p:spPr>
          <a:xfrm>
            <a:off x="548640" y="3831336"/>
            <a:ext cx="11155680" cy="914400"/>
          </a:xfrm>
          <a:prstGeom prst="rect">
            <a:avLst/>
          </a:prstGeom>
          <a:noFill/>
        </p:spPr>
        <p:txBody>
          <a:bodyPr wrap="square">
            <a:spAutoFit/>
          </a:bodyPr>
          <a:lstStyle/>
          <a:p>
            <a:r>
              <a:rPr sz="1500" b="1">
                <a:solidFill>
                  <a:srgbClr val="0B2B52"/>
                </a:solidFill>
              </a:rPr>
              <a:t>Minimum PAE failed here but is published as best-in-class</a:t>
            </a:r>
          </a:p>
          <a:p>
            <a:r>
              <a:rPr sz="1250">
                <a:solidFill>
                  <a:srgbClr val="1E6FB8"/>
                </a:solidFill>
              </a:rPr>
              <a:t>fails on Boltz-2 (p = 0.611), among the best on DeCAF (rank 1.55) — PAE predicts geometry, and was published at full sampling</a:t>
            </a:r>
          </a:p>
        </p:txBody>
      </p:sp>
      <p:sp>
        <p:nvSpPr>
          <p:cNvPr id="11" name="TextBox 10"/>
          <p:cNvSpPr txBox="1"/>
          <p:nvPr/>
        </p:nvSpPr>
        <p:spPr>
          <a:xfrm>
            <a:off x="548640" y="4855464"/>
            <a:ext cx="11155680" cy="914400"/>
          </a:xfrm>
          <a:prstGeom prst="rect">
            <a:avLst/>
          </a:prstGeom>
          <a:noFill/>
        </p:spPr>
        <p:txBody>
          <a:bodyPr wrap="square">
            <a:spAutoFit/>
          </a:bodyPr>
          <a:lstStyle/>
          <a:p>
            <a:r>
              <a:rPr sz="1500" b="1">
                <a:solidFill>
                  <a:srgbClr val="0B2B52"/>
                </a:solidFill>
              </a:rPr>
              <a:t>Physics rescoring returned femtomolar affinities</a:t>
            </a:r>
          </a:p>
          <a:p>
            <a:r>
              <a:rPr sz="1250">
                <a:solidFill>
                  <a:srgbClr val="1E6FB8"/>
                </a:solidFill>
              </a:rPr>
              <a:t>PRODIGY on Boltz-2 structures: garbage in, not method failure</a:t>
            </a:r>
          </a:p>
        </p:txBody>
      </p:sp>
      <p:sp>
        <p:nvSpPr>
          <p:cNvPr id="12" name="Rounded Rectangle 11"/>
          <p:cNvSpPr/>
          <p:nvPr/>
        </p:nvSpPr>
        <p:spPr>
          <a:xfrm>
            <a:off x="548640" y="598932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Physics rescoring on converged structures still does not help: PRODIGY ΔG reaches AUC 0.563 against 0.856 for interface pLDDT, and combining them costs 0.033. A sequence model trained on 96M interactions (MINT) reaches 0.614 zero-shot — structure wins here, contrary to recent affinity-regression results.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Measured — Require the Match in Both Directions</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29</a:t>
            </a:r>
          </a:p>
        </p:txBody>
      </p:sp>
      <p:sp>
        <p:nvSpPr>
          <p:cNvPr id="7" name="TextBox 6"/>
          <p:cNvSpPr txBox="1"/>
          <p:nvPr/>
        </p:nvSpPr>
        <p:spPr>
          <a:xfrm>
            <a:off x="548640" y="1170432"/>
            <a:ext cx="11155680" cy="1005840"/>
          </a:xfrm>
          <a:prstGeom prst="rect">
            <a:avLst/>
          </a:prstGeom>
          <a:noFill/>
        </p:spPr>
        <p:txBody>
          <a:bodyPr wrap="square">
            <a:spAutoFit/>
          </a:bodyPr>
          <a:lstStyle/>
          <a:p>
            <a:pPr>
              <a:spcAft>
                <a:spcPts val="600"/>
              </a:spcAft>
            </a:pPr>
            <a:r>
              <a:rPr sz="1500" b="0">
                <a:solidFill>
                  <a:srgbClr val="0B2B52"/>
                </a:solidFill>
              </a:rPr>
              <a:t>Section 7 always asked: for this receptor, is the cognate the best peptide?</a:t>
            </a:r>
          </a:p>
          <a:p>
            <a:pPr>
              <a:spcAft>
                <a:spcPts val="600"/>
              </a:spcAft>
            </a:pPr>
            <a:r>
              <a:rPr sz="1500" b="0">
                <a:solidFill>
                  <a:srgbClr val="0B2B52"/>
                </a:solidFill>
              </a:rPr>
              <a:t>The panel also contains the transpose: for this peptide, is its own receptor the best target?</a:t>
            </a:r>
          </a:p>
        </p:txBody>
      </p:sp>
      <p:sp>
        <p:nvSpPr>
          <p:cNvPr id="8" name="Rounded Rectangle 7"/>
          <p:cNvSpPr/>
          <p:nvPr/>
        </p:nvSpPr>
        <p:spPr>
          <a:xfrm>
            <a:off x="548640" y="1965960"/>
            <a:ext cx="3520440" cy="146304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56% → 88%</a:t>
            </a:r>
          </a:p>
          <a:p>
            <a:pPr algn="ctr"/>
            <a:r>
              <a:rPr sz="1050">
                <a:solidFill>
                  <a:srgbClr val="FFFFFF"/>
                </a:solidFill>
              </a:rPr>
              <a:t>precision, one-directional → reciprocal</a:t>
            </a:r>
          </a:p>
        </p:txBody>
      </p:sp>
      <p:sp>
        <p:nvSpPr>
          <p:cNvPr id="9" name="Rounded Rectangle 8"/>
          <p:cNvSpPr/>
          <p:nvPr/>
        </p:nvSpPr>
        <p:spPr>
          <a:xfrm>
            <a:off x="4343400" y="1965960"/>
            <a:ext cx="3520440" cy="1463040"/>
          </a:xfrm>
          <a:prstGeom prst="round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87% / 23%</a:t>
            </a:r>
          </a:p>
          <a:p>
            <a:pPr algn="ctr"/>
            <a:r>
              <a:rPr sz="1050">
                <a:solidFill>
                  <a:srgbClr val="FFFFFF"/>
                </a:solidFill>
              </a:rPr>
              <a:t>of wrong / right calls discarded</a:t>
            </a:r>
          </a:p>
        </p:txBody>
      </p:sp>
      <p:sp>
        <p:nvSpPr>
          <p:cNvPr id="10" name="Rounded Rectangle 9"/>
          <p:cNvSpPr/>
          <p:nvPr/>
        </p:nvSpPr>
        <p:spPr>
          <a:xfrm>
            <a:off x="8138160" y="1965960"/>
            <a:ext cx="3566160" cy="1463040"/>
          </a:xfrm>
          <a:prstGeom prst="roundRect">
            <a:avLst/>
          </a:prstGeom>
          <a:solidFill>
            <a:srgbClr val="0E8F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300" b="1">
                <a:solidFill>
                  <a:srgbClr val="FFFFFF"/>
                </a:solidFill>
              </a:rPr>
              <a:t>12 of 12</a:t>
            </a:r>
          </a:p>
          <a:p>
            <a:pPr algn="ctr"/>
            <a:r>
              <a:rPr sz="1050">
                <a:solidFill>
                  <a:srgbClr val="FFFFFF"/>
                </a:solidFill>
              </a:rPr>
              <a:t>combinations improved</a:t>
            </a:r>
          </a:p>
        </p:txBody>
      </p:sp>
      <p:sp>
        <p:nvSpPr>
          <p:cNvPr id="11" name="TextBox 10"/>
          <p:cNvSpPr txBox="1"/>
          <p:nvPr/>
        </p:nvSpPr>
        <p:spPr>
          <a:xfrm>
            <a:off x="548640" y="3703320"/>
            <a:ext cx="11155680" cy="1005840"/>
          </a:xfrm>
          <a:prstGeom prst="rect">
            <a:avLst/>
          </a:prstGeom>
          <a:noFill/>
        </p:spPr>
        <p:txBody>
          <a:bodyPr wrap="square">
            <a:spAutoFit/>
          </a:bodyPr>
          <a:lstStyle/>
          <a:p>
            <a:pPr>
              <a:spcAft>
                <a:spcPts val="600"/>
              </a:spcAft>
            </a:pPr>
            <a:r>
              <a:rPr sz="1500" b="0">
                <a:solidFill>
                  <a:srgbClr val="0B2B52"/>
                </a:solidFill>
              </a:rPr>
              <a:t>Two panels x two readouts x five draws. Enrichment 2.3x → 3.5x, keeping 49% of calls.</a:t>
            </a:r>
          </a:p>
          <a:p>
            <a:pPr>
              <a:spcAft>
                <a:spcPts val="600"/>
              </a:spcAft>
            </a:pPr>
            <a:r>
              <a:rPr sz="1500" b="0">
                <a:solidFill>
                  <a:srgbClr val="0B2B52"/>
                </a:solidFill>
              </a:rPr>
              <a:t>A filter that only shrank the set would discard both classes in proportion — it does not.</a:t>
            </a:r>
          </a:p>
        </p:txBody>
      </p:sp>
      <p:sp>
        <p:nvSpPr>
          <p:cNvPr id="12" name="Rounded Rectangle 11"/>
          <p:cNvSpPr/>
          <p:nvPr/>
        </p:nvSpPr>
        <p:spPr>
          <a:xfrm>
            <a:off x="548640" y="4572000"/>
            <a:ext cx="1115568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The only intervention in this work that improved in every panel, readout and draw tested.</a:t>
            </a:r>
          </a:p>
        </p:txBody>
      </p:sp>
      <p:sp>
        <p:nvSpPr>
          <p:cNvPr id="13" name="Rounded Rectangle 12"/>
          <p:cNvSpPr/>
          <p:nvPr/>
        </p:nvSpPr>
        <p:spPr>
          <a:xfrm>
            <a:off x="548640" y="562356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Not a better score — the same scores read as a two-way competition, so its power comes from the structure of the screen, not the model, and the Section 7.9 ceiling does not apply. Costs 5-10x folds at deployment. Caveat: 7-13 calls per combination, so a reported 100% is 8 of 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914400"/>
          </a:xfrm>
          <a:prstGeom prst="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88952" cy="54864"/>
          </a:xfrm>
          <a:prstGeom prst="rect">
            <a:avLst/>
          </a:prstGeom>
          <a:solidFill>
            <a:srgbClr val="1E6F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Aft>
                <a:spcPts val="600"/>
              </a:spcAft>
            </a:pPr>
            <a:r>
              <a:rPr sz="2600" b="1">
                <a:solidFill>
                  <a:srgbClr val="FFFFFF"/>
                </a:solidFill>
              </a:rPr>
              <a:t>Two Ways Out That Did Not Work — and What They Explain</a:t>
            </a:r>
          </a:p>
        </p:txBody>
      </p:sp>
      <p:sp>
        <p:nvSpPr>
          <p:cNvPr id="5" name="TextBox 4"/>
          <p:cNvSpPr txBox="1"/>
          <p:nvPr/>
        </p:nvSpPr>
        <p:spPr>
          <a:xfrm>
            <a:off x="502920" y="6473952"/>
            <a:ext cx="8229600" cy="274320"/>
          </a:xfrm>
          <a:prstGeom prst="rect">
            <a:avLst/>
          </a:prstGeom>
          <a:noFill/>
        </p:spPr>
        <p:txBody>
          <a:bodyPr wrap="square">
            <a:spAutoFit/>
          </a:bodyPr>
          <a:lstStyle/>
          <a:p>
            <a:pPr>
              <a:spcAft>
                <a:spcPts val="600"/>
              </a:spcAft>
            </a:pPr>
            <a:r>
              <a:rPr sz="900" b="0">
                <a:solidFill>
                  <a:srgbClr val="555555"/>
                </a:solidFill>
              </a:rPr>
              <a:t>Boltz-Fast · Final Dissertation Report · Akik Jana (2024AB05287)</a:t>
            </a:r>
          </a:p>
        </p:txBody>
      </p:sp>
      <p:sp>
        <p:nvSpPr>
          <p:cNvPr id="6" name="TextBox 5"/>
          <p:cNvSpPr txBox="1"/>
          <p:nvPr/>
        </p:nvSpPr>
        <p:spPr>
          <a:xfrm>
            <a:off x="11183112" y="6473952"/>
            <a:ext cx="640080" cy="274320"/>
          </a:xfrm>
          <a:prstGeom prst="rect">
            <a:avLst/>
          </a:prstGeom>
          <a:noFill/>
        </p:spPr>
        <p:txBody>
          <a:bodyPr wrap="square">
            <a:spAutoFit/>
          </a:bodyPr>
          <a:lstStyle/>
          <a:p>
            <a:pPr>
              <a:spcAft>
                <a:spcPts val="600"/>
              </a:spcAft>
            </a:pPr>
            <a:r>
              <a:rPr sz="1000" b="0">
                <a:solidFill>
                  <a:srgbClr val="0B2B52"/>
                </a:solidFill>
              </a:rPr>
              <a:t>30</a:t>
            </a:r>
          </a:p>
        </p:txBody>
      </p:sp>
      <p:sp>
        <p:nvSpPr>
          <p:cNvPr id="7" name="TextBox 6"/>
          <p:cNvSpPr txBox="1"/>
          <p:nvPr/>
        </p:nvSpPr>
        <p:spPr>
          <a:xfrm>
            <a:off x="548640" y="1143000"/>
            <a:ext cx="11155680" cy="640080"/>
          </a:xfrm>
          <a:prstGeom prst="rect">
            <a:avLst/>
          </a:prstGeom>
          <a:noFill/>
        </p:spPr>
        <p:txBody>
          <a:bodyPr wrap="square">
            <a:spAutoFit/>
          </a:bodyPr>
          <a:lstStyle/>
          <a:p>
            <a:pPr>
              <a:spcAft>
                <a:spcPts val="600"/>
              </a:spcAft>
            </a:pPr>
            <a:r>
              <a:rPr sz="1500" b="0">
                <a:solidFill>
                  <a:srgbClr val="0B2B52"/>
                </a:solidFill>
              </a:rPr>
              <a:t>Both used information the confidence head does not provide.</a:t>
            </a:r>
          </a:p>
        </p:txBody>
      </p:sp>
      <p:sp>
        <p:nvSpPr>
          <p:cNvPr id="8" name="TextBox 7"/>
          <p:cNvSpPr txBox="1"/>
          <p:nvPr/>
        </p:nvSpPr>
        <p:spPr>
          <a:xfrm>
            <a:off x="548640" y="1783080"/>
            <a:ext cx="11155680" cy="1188720"/>
          </a:xfrm>
          <a:prstGeom prst="rect">
            <a:avLst/>
          </a:prstGeom>
          <a:noFill/>
        </p:spPr>
        <p:txBody>
          <a:bodyPr wrap="square">
            <a:spAutoFit/>
          </a:bodyPr>
          <a:lstStyle/>
          <a:p>
            <a:r>
              <a:rPr sz="1600" b="1">
                <a:solidFill>
                  <a:srgbClr val="C62828"/>
                </a:solidFill>
              </a:rPr>
              <a:t>Site correctness vs the crystal — NULL</a:t>
            </a:r>
          </a:p>
          <a:p>
            <a:r>
              <a:rPr sz="1300">
                <a:solidFill>
                  <a:srgbClr val="0B2B52"/>
                </a:solidFill>
              </a:rPr>
              <a:t>cognate 0.452, decoy 0.445, scramble 0.449 site precision.  Rank 2.50 vs chance 2.50, p = 0.906.  The model finds the true groove 3x better than chance — for every peptide equally.</a:t>
            </a:r>
          </a:p>
        </p:txBody>
      </p:sp>
      <p:sp>
        <p:nvSpPr>
          <p:cNvPr id="9" name="TextBox 8"/>
          <p:cNvSpPr txBox="1"/>
          <p:nvPr/>
        </p:nvSpPr>
        <p:spPr>
          <a:xfrm>
            <a:off x="548640" y="3291839"/>
            <a:ext cx="11155680" cy="1188720"/>
          </a:xfrm>
          <a:prstGeom prst="rect">
            <a:avLst/>
          </a:prstGeom>
          <a:noFill/>
        </p:spPr>
        <p:txBody>
          <a:bodyPr wrap="square">
            <a:spAutoFit/>
          </a:bodyPr>
          <a:lstStyle/>
          <a:p>
            <a:r>
              <a:rPr sz="1600" b="1">
                <a:solidFill>
                  <a:srgbClr val="C62828"/>
                </a:solidFill>
              </a:rPr>
              <a:t>Pose agreement across draws — NULL</a:t>
            </a:r>
          </a:p>
          <a:p>
            <a:r>
              <a:rPr sz="1300">
                <a:solidFill>
                  <a:srgbClr val="0B2B52"/>
                </a:solidFill>
              </a:rPr>
              <a:t>peptide RMSD between draws: cognate 8.35 A, decoy 9.67 A, scramble 9.99 A.  p = 0.129, and only p = 0.350 once receptor reproducibility is regressed out.</a:t>
            </a:r>
          </a:p>
        </p:txBody>
      </p:sp>
      <p:sp>
        <p:nvSpPr>
          <p:cNvPr id="10" name="Rounded Rectangle 9"/>
          <p:cNvSpPr/>
          <p:nvPr/>
        </p:nvSpPr>
        <p:spPr>
          <a:xfrm>
            <a:off x="548640" y="4892040"/>
            <a:ext cx="11155680" cy="960120"/>
          </a:xfrm>
          <a:prstGeom prst="roundRect">
            <a:avLst/>
          </a:prstGeom>
          <a:solidFill>
            <a:srgbClr val="0B2B5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700" b="1">
                <a:solidFill>
                  <a:srgbClr val="FFFFFF"/>
                </a:solidFill>
              </a:rPr>
              <a:t>Every peptide lands in the same correct pocket, then sits 8-10 A differently within it on each draw.</a:t>
            </a:r>
          </a:p>
        </p:txBody>
      </p:sp>
      <p:sp>
        <p:nvSpPr>
          <p:cNvPr id="11" name="Rounded Rectangle 10"/>
          <p:cNvSpPr/>
          <p:nvPr/>
        </p:nvSpPr>
        <p:spPr>
          <a:xfrm>
            <a:off x="548640" y="5943600"/>
            <a:ext cx="11155680" cy="868680"/>
          </a:xfrm>
          <a:prstGeom prst="roundRect">
            <a:avLst/>
          </a:prstGeom>
          <a:solidFill>
            <a:srgbClr val="FDF3E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1250" b="0">
                <a:solidFill>
                  <a:srgbClr val="8A5200"/>
                </a:solidFill>
              </a:rPr>
              <a:t>The pocket is determined by the receptor; the pose is not determined at all. That is why every contact-derived readout failed — contacts, buried area, pDockQ, PRODIGY dG, pose agreement all read a placement correct in location and arbitrary in detail. Confidence is the only axis carrying binding information.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Future Plan</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31</a:t>
            </a:r>
          </a:p>
        </p:txBody>
      </p:sp>
      <p:sp>
        <p:nvSpPr>
          <p:cNvPr id="7" name="Oval 6"/>
          <p:cNvSpPr/>
          <p:nvPr/>
        </p:nvSpPr>
        <p:spPr>
          <a:xfrm>
            <a:off x="548640" y="1325880"/>
            <a:ext cx="566928" cy="566928"/>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1</a:t>
            </a:r>
          </a:p>
        </p:txBody>
      </p:sp>
      <p:sp>
        <p:nvSpPr>
          <p:cNvPr id="8" name="TextBox 7"/>
          <p:cNvSpPr txBox="1"/>
          <p:nvPr/>
        </p:nvSpPr>
        <p:spPr>
          <a:xfrm>
            <a:off x="1325880" y="1307592"/>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profiled; and measured what the optimisations actually deliver on pretrained weights (slides 11–18).</a:t>
            </a:r>
          </a:p>
        </p:txBody>
      </p:sp>
      <p:sp>
        <p:nvSpPr>
          <p:cNvPr id="9" name="Oval 8"/>
          <p:cNvSpPr/>
          <p:nvPr/>
        </p:nvSpPr>
        <p:spPr>
          <a:xfrm>
            <a:off x="548640" y="2304288"/>
            <a:ext cx="566928" cy="566928"/>
          </a:xfrm>
          <a:prstGeom prst="ellipse">
            <a:avLst/>
          </a:prstGeom>
          <a:solidFill>
            <a:srgbClr val="0E8F9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2</a:t>
            </a:r>
          </a:p>
        </p:txBody>
      </p:sp>
      <p:sp>
        <p:nvSpPr>
          <p:cNvPr id="10" name="TextBox 9"/>
          <p:cNvSpPr txBox="1"/>
          <p:nvPr/>
        </p:nvSpPr>
        <p:spPr>
          <a:xfrm>
            <a:off x="1325880" y="2286000"/>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 DeCAF-Boltz, distilled for 10 steps, folds the 132-complex panel in ~20 min locally and returns 96% physically plausible backbones against 14% for a stock model run short (slides 27-28).</a:t>
            </a:r>
          </a:p>
        </p:txBody>
      </p:sp>
      <p:sp>
        <p:nvSpPr>
          <p:cNvPr id="11" name="Oval 10"/>
          <p:cNvSpPr/>
          <p:nvPr/>
        </p:nvSpPr>
        <p:spPr>
          <a:xfrm>
            <a:off x="548640" y="3282696"/>
            <a:ext cx="566928" cy="566928"/>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3</a:t>
            </a:r>
          </a:p>
        </p:txBody>
      </p:sp>
      <p:sp>
        <p:nvSpPr>
          <p:cNvPr id="12" name="TextBox 11"/>
          <p:cNvSpPr txBox="1"/>
          <p:nvPr/>
        </p:nvSpPr>
        <p:spPr>
          <a:xfrm>
            <a:off x="1325880" y="3264408"/>
            <a:ext cx="10332720" cy="868680"/>
          </a:xfrm>
          <a:prstGeom prst="rect">
            <a:avLst/>
          </a:prstGeom>
          <a:noFill/>
        </p:spPr>
        <p:txBody>
          <a:bodyPr wrap="square">
            <a:spAutoFit/>
          </a:bodyPr>
          <a:lstStyle/>
          <a:p>
            <a:pPr>
              <a:spcBef>
                <a:spcPts val="0"/>
              </a:spcBef>
              <a:spcAft>
                <a:spcPts val="600"/>
              </a:spcAft>
            </a:pPr>
            <a:r>
              <a:rPr sz="1300" b="0">
                <a:solidFill>
                  <a:srgbClr val="0B2B52"/>
                </a:solidFill>
              </a:rPr>
              <a:t>DONE, NEGATIVE — the surrogate was distilled and evaluated: ipTM does not rank binders, so no surrogate distilled from it can either.</a:t>
            </a:r>
          </a:p>
        </p:txBody>
      </p:sp>
      <p:sp>
        <p:nvSpPr>
          <p:cNvPr id="13" name="Oval 12"/>
          <p:cNvSpPr/>
          <p:nvPr/>
        </p:nvSpPr>
        <p:spPr>
          <a:xfrm>
            <a:off x="548640" y="4261104"/>
            <a:ext cx="566928" cy="566928"/>
          </a:xfrm>
          <a:prstGeom prst="ellipse">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4</a:t>
            </a:r>
          </a:p>
        </p:txBody>
      </p:sp>
      <p:sp>
        <p:nvSpPr>
          <p:cNvPr id="14" name="TextBox 13"/>
          <p:cNvSpPr txBox="1"/>
          <p:nvPr/>
        </p:nvSpPr>
        <p:spPr>
          <a:xfrm>
            <a:off x="1325880" y="4242816"/>
            <a:ext cx="10332720" cy="868680"/>
          </a:xfrm>
          <a:prstGeom prst="rect">
            <a:avLst/>
          </a:prstGeom>
          <a:noFill/>
        </p:spPr>
        <p:txBody>
          <a:bodyPr wrap="square">
            <a:spAutoFit/>
          </a:bodyPr>
          <a:lstStyle/>
          <a:p>
            <a:pPr>
              <a:spcBef>
                <a:spcPts val="0"/>
              </a:spcBef>
              <a:spcAft>
                <a:spcPts val="600"/>
              </a:spcAft>
            </a:pPr>
            <a:r>
              <a:rPr sz="1300" b="0">
                <a:solidFill>
                  <a:srgbClr val="0B2B52"/>
                </a:solidFill>
              </a:rPr>
              <a:t>Use open Boltz-2 weights only — Boltz-2.1 is closed / API-only.</a:t>
            </a:r>
          </a:p>
        </p:txBody>
      </p:sp>
      <p:sp>
        <p:nvSpPr>
          <p:cNvPr id="15" name="Oval 14"/>
          <p:cNvSpPr/>
          <p:nvPr/>
        </p:nvSpPr>
        <p:spPr>
          <a:xfrm>
            <a:off x="548640" y="5239512"/>
            <a:ext cx="566928" cy="566928"/>
          </a:xfrm>
          <a:prstGeom prst="ellipse">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1800" b="1" i="0">
                <a:solidFill>
                  <a:srgbClr val="FFFFFF"/>
                </a:solidFill>
              </a:rPr>
              <a:t>5</a:t>
            </a:r>
          </a:p>
        </p:txBody>
      </p:sp>
      <p:sp>
        <p:nvSpPr>
          <p:cNvPr id="16" name="TextBox 15"/>
          <p:cNvSpPr txBox="1"/>
          <p:nvPr/>
        </p:nvSpPr>
        <p:spPr>
          <a:xfrm>
            <a:off x="1325880" y="5221224"/>
            <a:ext cx="10332720" cy="868680"/>
          </a:xfrm>
          <a:prstGeom prst="rect">
            <a:avLst/>
          </a:prstGeom>
          <a:noFill/>
        </p:spPr>
        <p:txBody>
          <a:bodyPr wrap="square">
            <a:spAutoFit/>
          </a:bodyPr>
          <a:lstStyle/>
          <a:p>
            <a:pPr>
              <a:spcBef>
                <a:spcPts val="0"/>
              </a:spcBef>
              <a:spcAft>
                <a:spcPts val="600"/>
              </a:spcAft>
            </a:pPr>
            <a:r>
              <a:rPr sz="1300" b="0">
                <a:solidFill>
                  <a:srgbClr val="0B2B52"/>
                </a:solidFill>
              </a:rPr>
              <a:t>Production GPU scaling — NO LONGER a prerequisite. MPS (~3x) plus few-step distillation let the held-out panel be folded five times on this laptop, and the third draw overturned what the first two supported. Scaling is now for extending the panel past 22 receptors, which is the binding constraint on the open questions.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54864"/>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777240"/>
          </a:xfrm>
          <a:prstGeom prst="rect">
            <a:avLst/>
          </a:prstGeom>
          <a:noFill/>
        </p:spPr>
        <p:txBody>
          <a:bodyPr wrap="square">
            <a:spAutoFit/>
          </a:bodyPr>
          <a:lstStyle/>
          <a:p>
            <a:pPr>
              <a:spcBef>
                <a:spcPts val="0"/>
              </a:spcBef>
              <a:spcAft>
                <a:spcPts val="400"/>
              </a:spcAft>
            </a:pPr>
            <a:r>
              <a:rPr sz="2600" b="1" i="0">
                <a:solidFill>
                  <a:srgbClr val="FFFFFF"/>
                </a:solidFill>
              </a:rPr>
              <a:t>Summary</a:t>
            </a:r>
          </a:p>
        </p:txBody>
      </p:sp>
      <p:sp>
        <p:nvSpPr>
          <p:cNvPr id="5" name="TextBox 4"/>
          <p:cNvSpPr txBox="1"/>
          <p:nvPr/>
        </p:nvSpPr>
        <p:spPr>
          <a:xfrm>
            <a:off x="502920" y="6473952"/>
            <a:ext cx="8229600" cy="274320"/>
          </a:xfrm>
          <a:prstGeom prst="rect">
            <a:avLst/>
          </a:prstGeom>
          <a:noFill/>
        </p:spPr>
        <p:txBody>
          <a:bodyPr wrap="square">
            <a:spAutoFit/>
          </a:bodyPr>
          <a:lstStyle/>
          <a:p>
            <a:pPr>
              <a:spcBef>
                <a:spcPts val="0"/>
              </a:spcBef>
              <a:spcAft>
                <a:spcPts val="600"/>
              </a:spcAft>
            </a:pPr>
            <a:r>
              <a:rPr sz="900" b="0">
                <a:solidFill>
                  <a:srgbClr val="555555"/>
                </a:solidFill>
              </a:rPr>
              <a:t>Boltz-Fast · Final Dissertation Report · Akik Jana (2024AB05287)</a:t>
            </a:r>
          </a:p>
        </p:txBody>
      </p:sp>
      <p:sp>
        <p:nvSpPr>
          <p:cNvPr id="6" name="TextBox 5"/>
          <p:cNvSpPr txBox="1"/>
          <p:nvPr/>
        </p:nvSpPr>
        <p:spPr>
          <a:xfrm>
            <a:off x="11185855" y="6473952"/>
            <a:ext cx="640080" cy="274320"/>
          </a:xfrm>
          <a:prstGeom prst="rect">
            <a:avLst/>
          </a:prstGeom>
          <a:noFill/>
        </p:spPr>
        <p:txBody>
          <a:bodyPr wrap="square">
            <a:spAutoFit/>
          </a:bodyPr>
          <a:lstStyle/>
          <a:p>
            <a:pPr algn="r">
              <a:spcBef>
                <a:spcPts val="0"/>
              </a:spcBef>
              <a:spcAft>
                <a:spcPts val="600"/>
              </a:spcAft>
            </a:pPr>
            <a:r>
              <a:rPr sz="1000" b="0">
                <a:solidFill>
                  <a:srgbClr val="0B2B52"/>
                </a:solidFill>
              </a:rPr>
              <a:t>32</a:t>
            </a:r>
          </a:p>
        </p:txBody>
      </p:sp>
      <p:sp>
        <p:nvSpPr>
          <p:cNvPr id="7" name="TextBox 6"/>
          <p:cNvSpPr txBox="1"/>
          <p:nvPr/>
        </p:nvSpPr>
        <p:spPr>
          <a:xfrm>
            <a:off x="548640" y="1280160"/>
            <a:ext cx="11155680" cy="3383280"/>
          </a:xfrm>
          <a:prstGeom prst="rect">
            <a:avLst/>
          </a:prstGeom>
          <a:noFill/>
        </p:spPr>
        <p:txBody>
          <a:bodyPr wrap="square">
            <a:spAutoFit/>
          </a:bodyPr>
          <a:lstStyle/>
          <a:p>
            <a:pPr>
              <a:spcBef>
                <a:spcPts val="0"/>
              </a:spcBef>
              <a:spcAft>
                <a:spcPts val="600"/>
              </a:spcAft>
            </a:pPr>
            <a:r>
              <a:rPr sz="1400" b="0">
                <a:solidFill>
                  <a:srgbClr val="0B2B52"/>
                </a:solidFill>
              </a:rPr>
              <a:t>•  Implemented and integrated memory, sampling and parallelism optimisations into the Boltz pipeline; device-agnostic on Apple Silicon.</a:t>
            </a:r>
          </a:p>
          <a:p>
            <a:pPr>
              <a:spcAft>
                <a:spcPts val="600"/>
              </a:spcAft>
            </a:pPr>
            <a:r>
              <a:rPr sz="1400" b="0">
                <a:solidFill>
                  <a:srgbClr val="0B2B52"/>
                </a:solidFill>
              </a:rPr>
              <a:t>•  Moved from component microbenchmarks to end-to-end measurement against pretrained checkpoints and experimentally determined structures.</a:t>
            </a:r>
          </a:p>
          <a:p>
            <a:pPr>
              <a:spcAft>
                <a:spcPts val="600"/>
              </a:spcAft>
            </a:pPr>
            <a:r>
              <a:rPr sz="1400" b="0">
                <a:solidFill>
                  <a:srgbClr val="0B2B52"/>
                </a:solidFill>
              </a:rPr>
              <a:t>•  Two questions closed with negative answers, both with mechanisms: the low-rank OPM is unreachable on released weights, and ipTM tracks peptide composition rather than binding.</a:t>
            </a:r>
          </a:p>
          <a:p>
            <a:pPr>
              <a:spcAft>
                <a:spcPts val="600"/>
              </a:spcAft>
            </a:pPr>
            <a:r>
              <a:rPr sz="1400" b="0">
                <a:solidFill>
                  <a:srgbClr val="0B2B52"/>
                </a:solidFill>
              </a:rPr>
              <a:t>•  A third finding generalises beyond this project: a single unseeded fold does not reproduce its own ranking.</a:t>
            </a:r>
          </a:p>
          <a:p>
            <a:pPr>
              <a:spcAft>
                <a:spcPts val="600"/>
              </a:spcAft>
            </a:pPr>
            <a:r>
              <a:rPr sz="1400" b="0">
                <a:solidFill>
                  <a:srgbClr val="0B2B52"/>
                </a:solidFill>
              </a:rPr>
              <a:t>•  Next: GPU-scale replicate folding, then few-step sampler distillation.</a:t>
            </a:r>
          </a:p>
        </p:txBody>
      </p:sp>
      <p:sp>
        <p:nvSpPr>
          <p:cNvPr id="8" name="Rounded Rectangle 7"/>
          <p:cNvSpPr/>
          <p:nvPr/>
        </p:nvSpPr>
        <p:spPr>
          <a:xfrm>
            <a:off x="548640" y="4892040"/>
            <a:ext cx="11155680" cy="1051560"/>
          </a:xfrm>
          <a:prstGeom prst="roundRect">
            <a:avLst/>
          </a:prstGeom>
          <a:solidFill>
            <a:srgbClr val="0B2B5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Bef>
                <a:spcPts val="0"/>
              </a:spcBef>
              <a:spcAft>
                <a:spcPts val="400"/>
              </a:spcAft>
            </a:pPr>
            <a:r>
              <a:rPr sz="2000" b="1" i="0">
                <a:solidFill>
                  <a:srgbClr val="FFFFFF"/>
                </a:solidFill>
              </a:rPr>
              <a:t>Thank you  ·  Questions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